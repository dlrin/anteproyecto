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7" r:id="rId8"/>
    <p:sldId id="262" r:id="rId9"/>
    <p:sldId id="263" r:id="rId10"/>
    <p:sldId id="265" r:id="rId11"/>
    <p:sldId id="266" r:id="rId12"/>
    <p:sldId id="268" r:id="rId13"/>
    <p:sldId id="269" r:id="rId14"/>
    <p:sldId id="271" r:id="rId15"/>
    <p:sldId id="272" r:id="rId16"/>
    <p:sldId id="270" r:id="rId17"/>
    <p:sldId id="273" r:id="rId18"/>
    <p:sldId id="274" r:id="rId19"/>
    <p:sldId id="275" r:id="rId20"/>
    <p:sldId id="297" r:id="rId21"/>
    <p:sldId id="276" r:id="rId22"/>
    <p:sldId id="277" r:id="rId23"/>
    <p:sldId id="279" r:id="rId24"/>
    <p:sldId id="289" r:id="rId25"/>
    <p:sldId id="298" r:id="rId26"/>
    <p:sldId id="280" r:id="rId27"/>
    <p:sldId id="282" r:id="rId28"/>
    <p:sldId id="283" r:id="rId29"/>
    <p:sldId id="284" r:id="rId30"/>
    <p:sldId id="300" r:id="rId31"/>
    <p:sldId id="286" r:id="rId32"/>
    <p:sldId id="285" r:id="rId33"/>
    <p:sldId id="287" r:id="rId34"/>
    <p:sldId id="288" r:id="rId35"/>
    <p:sldId id="290" r:id="rId36"/>
    <p:sldId id="291" r:id="rId37"/>
    <p:sldId id="292" r:id="rId38"/>
    <p:sldId id="293" r:id="rId39"/>
    <p:sldId id="296" r:id="rId40"/>
    <p:sldId id="294" r:id="rId41"/>
    <p:sldId id="295" r:id="rId4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2F3C"/>
    <a:srgbClr val="800000"/>
    <a:srgbClr val="FFFFFF"/>
    <a:srgbClr val="8D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80" autoAdjust="0"/>
    <p:restoredTop sz="94542" autoAdjust="0"/>
  </p:normalViewPr>
  <p:slideViewPr>
    <p:cSldViewPr snapToGrid="0">
      <p:cViewPr varScale="1">
        <p:scale>
          <a:sx n="107" d="100"/>
          <a:sy n="107" d="100"/>
        </p:scale>
        <p:origin x="312"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EE4494-83EF-45AA-A5FA-4D9BFC6D540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9FCF8396-6439-4056-A927-D884515DB9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E8A80E34-BA82-4B71-9F21-5CD59FEB5B1D}"/>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5" name="Marcador de pie de página 4">
            <a:extLst>
              <a:ext uri="{FF2B5EF4-FFF2-40B4-BE49-F238E27FC236}">
                <a16:creationId xmlns:a16="http://schemas.microsoft.com/office/drawing/2014/main" id="{B7D6AE46-864A-4291-A122-167EB818E08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6C22D63-66E9-4257-A35E-8B95851E00C4}"/>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4138295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7D7DF9-D573-46BA-A5CF-FC07FC79B1A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529ECF5-3EB1-4EC3-97DE-F2B1E949B84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29C823E-85F5-4D99-83D1-B3D5E5F800F8}"/>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5" name="Marcador de pie de página 4">
            <a:extLst>
              <a:ext uri="{FF2B5EF4-FFF2-40B4-BE49-F238E27FC236}">
                <a16:creationId xmlns:a16="http://schemas.microsoft.com/office/drawing/2014/main" id="{399F4C00-450A-44D9-B6EC-893861F0682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784DDB9-F9A9-4264-9832-9221CDBC95E8}"/>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1792447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52CF89-E3DA-4536-9CF0-203D87A6A1E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9AD620-7508-4863-A794-B759D62A46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A9E2F0E-62E2-4A26-A444-8F6F68EDC8EE}"/>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5" name="Marcador de pie de página 4">
            <a:extLst>
              <a:ext uri="{FF2B5EF4-FFF2-40B4-BE49-F238E27FC236}">
                <a16:creationId xmlns:a16="http://schemas.microsoft.com/office/drawing/2014/main" id="{D6552E37-01CC-43AB-B9A7-E3B25994DF4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0A7B1E-FD8F-4EE7-9F41-67E1464A01EC}"/>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1390372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D326C7-5AE4-438B-B39E-EA7A60DDE7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2806DB9-D182-4387-AE4F-A10277D447D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E28AD407-BC4D-46FF-B8B5-5A5887F59AC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9C497602-5E19-4701-83AF-7AF5023F4197}"/>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6" name="Marcador de pie de página 5">
            <a:extLst>
              <a:ext uri="{FF2B5EF4-FFF2-40B4-BE49-F238E27FC236}">
                <a16:creationId xmlns:a16="http://schemas.microsoft.com/office/drawing/2014/main" id="{DCBF0AA4-25C1-4452-BE94-7615E65725B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4D996CA-E4B5-4386-9331-2D2F66B9D642}"/>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2419386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9F5265-1E60-40B2-A3D5-362A9E77C1D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201D827-0AEC-4281-AC43-8C73B564EC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9F2744F-FBC8-4F22-B911-A0AC2CDC7B6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7795157-C7D6-45B1-A2D1-C64EC193C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D80E77-DBAF-44CF-932F-617D590FF08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D3BD64F1-06E3-4C35-B726-F90245D8EFF4}"/>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8" name="Marcador de pie de página 7">
            <a:extLst>
              <a:ext uri="{FF2B5EF4-FFF2-40B4-BE49-F238E27FC236}">
                <a16:creationId xmlns:a16="http://schemas.microsoft.com/office/drawing/2014/main" id="{07A268E4-5A5E-4F9A-BB94-9A9037A2034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63BD01A0-8FA1-4E86-BA22-0B094540C595}"/>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1580008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3E505C-63B1-4493-9D73-53B305FB83D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7A2CECE-55F9-4337-856A-7A89240CE68B}"/>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4" name="Marcador de pie de página 3">
            <a:extLst>
              <a:ext uri="{FF2B5EF4-FFF2-40B4-BE49-F238E27FC236}">
                <a16:creationId xmlns:a16="http://schemas.microsoft.com/office/drawing/2014/main" id="{137581E0-F342-4876-9974-49B169ABD2D7}"/>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14369F71-A86A-42E9-9548-1B469D8FEE29}"/>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243653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A6A74DB-92AA-4742-9D2C-981773BD1A49}"/>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3" name="Marcador de pie de página 2">
            <a:extLst>
              <a:ext uri="{FF2B5EF4-FFF2-40B4-BE49-F238E27FC236}">
                <a16:creationId xmlns:a16="http://schemas.microsoft.com/office/drawing/2014/main" id="{9EC7E8C1-D2F2-447F-A33A-7B401E3FDB29}"/>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0034762-28C0-49FF-AB65-A45AB4C944C9}"/>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1107906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C2E193-8936-446B-B327-C8DCD89C4BA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CA1B73D-0D87-41EA-A8DC-0FA5A63096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3A881C2-7A4F-4D5E-AA73-C1C38B983F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55C96B6-8F1B-4537-9507-5F848E1B86AA}"/>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6" name="Marcador de pie de página 5">
            <a:extLst>
              <a:ext uri="{FF2B5EF4-FFF2-40B4-BE49-F238E27FC236}">
                <a16:creationId xmlns:a16="http://schemas.microsoft.com/office/drawing/2014/main" id="{AEF83158-B883-473D-A115-CD1DB102919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AD95800-E83B-4626-BA66-7149E672FB82}"/>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825387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9AF0A-6AD7-4365-92B9-0CABFBD5FB2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AF6ABC7B-B3A8-411E-9987-DCF153E756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E4ADFB18-BB23-4211-B427-8ACE6D3BC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614A1E4-1119-4FE8-9164-49500D8A520F}"/>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6" name="Marcador de pie de página 5">
            <a:extLst>
              <a:ext uri="{FF2B5EF4-FFF2-40B4-BE49-F238E27FC236}">
                <a16:creationId xmlns:a16="http://schemas.microsoft.com/office/drawing/2014/main" id="{63E0F0BC-09FE-47C2-B123-93CB6D3DB75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0B93CB0-FD38-4FF6-9DF2-A56137478400}"/>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911046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25A6C6-094E-48FD-8A72-A733AFA737F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031DD89-03B6-4EF7-8795-E1B662C3DA4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28E4491-8301-48AA-AB2C-8B62B77CC276}"/>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5" name="Marcador de pie de página 4">
            <a:extLst>
              <a:ext uri="{FF2B5EF4-FFF2-40B4-BE49-F238E27FC236}">
                <a16:creationId xmlns:a16="http://schemas.microsoft.com/office/drawing/2014/main" id="{D941A9CF-D46A-4166-8CED-E30EC6BA966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BABCAB2-947A-457E-9127-FF6DD2D03890}"/>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885151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4E131D6-3ACE-46CD-ADE4-E8163FA760A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675F7E0-4E24-4953-90D0-62226AE0427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DD872B7-9B0A-41F9-8D8A-0DAF9BB2EA7D}"/>
              </a:ext>
            </a:extLst>
          </p:cNvPr>
          <p:cNvSpPr>
            <a:spLocks noGrp="1"/>
          </p:cNvSpPr>
          <p:nvPr>
            <p:ph type="dt" sz="half" idx="10"/>
          </p:nvPr>
        </p:nvSpPr>
        <p:spPr/>
        <p:txBody>
          <a:bodyPr/>
          <a:lstStyle/>
          <a:p>
            <a:fld id="{0CB1CD98-E1E1-447B-94EB-7CB62D4ECEDF}" type="datetimeFigureOut">
              <a:rPr lang="es-CO" smtClean="0"/>
              <a:t>16/08/2026</a:t>
            </a:fld>
            <a:endParaRPr lang="es-CO"/>
          </a:p>
        </p:txBody>
      </p:sp>
      <p:sp>
        <p:nvSpPr>
          <p:cNvPr id="5" name="Marcador de pie de página 4">
            <a:extLst>
              <a:ext uri="{FF2B5EF4-FFF2-40B4-BE49-F238E27FC236}">
                <a16:creationId xmlns:a16="http://schemas.microsoft.com/office/drawing/2014/main" id="{40DF9252-A5E5-46C4-B415-22A28907C81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5045FC0-0E4E-42E9-AD37-825F531701BA}"/>
              </a:ext>
            </a:extLst>
          </p:cNvPr>
          <p:cNvSpPr>
            <a:spLocks noGrp="1"/>
          </p:cNvSpPr>
          <p:nvPr>
            <p:ph type="sldNum" sz="quarter" idx="12"/>
          </p:nvPr>
        </p:nvSpPr>
        <p:spPr/>
        <p:txBody>
          <a:bodyPr/>
          <a:lstStyle/>
          <a:p>
            <a:fld id="{189FC309-C041-434C-9C05-3FACAF077AF9}" type="slidenum">
              <a:rPr lang="es-CO" smtClean="0"/>
              <a:t>‹Nº›</a:t>
            </a:fld>
            <a:endParaRPr lang="es-CO"/>
          </a:p>
        </p:txBody>
      </p:sp>
    </p:spTree>
    <p:extLst>
      <p:ext uri="{BB962C8B-B14F-4D97-AF65-F5344CB8AC3E}">
        <p14:creationId xmlns:p14="http://schemas.microsoft.com/office/powerpoint/2010/main" val="1724287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AC5AF3E-1AE6-46F5-B7E8-FD8532510D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C141CB7-F557-4260-AFAB-AA1F6C0F90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7C736BC-CF1E-49E0-81D3-8E03E7AF05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B1CD98-E1E1-447B-94EB-7CB62D4ECEDF}" type="datetimeFigureOut">
              <a:rPr lang="es-CO" smtClean="0"/>
              <a:t>16/08/2026</a:t>
            </a:fld>
            <a:endParaRPr lang="es-CO"/>
          </a:p>
        </p:txBody>
      </p:sp>
      <p:sp>
        <p:nvSpPr>
          <p:cNvPr id="5" name="Marcador de pie de página 4">
            <a:extLst>
              <a:ext uri="{FF2B5EF4-FFF2-40B4-BE49-F238E27FC236}">
                <a16:creationId xmlns:a16="http://schemas.microsoft.com/office/drawing/2014/main" id="{4B7B28BE-AC75-4DCA-8ADB-5CB8463833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B8704D9F-FAF3-4D28-BC29-2801484D19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FC309-C041-434C-9C05-3FACAF077AF9}" type="slidenum">
              <a:rPr lang="es-CO" smtClean="0"/>
              <a:t>‹Nº›</a:t>
            </a:fld>
            <a:endParaRPr lang="es-CO"/>
          </a:p>
        </p:txBody>
      </p:sp>
    </p:spTree>
    <p:extLst>
      <p:ext uri="{BB962C8B-B14F-4D97-AF65-F5344CB8AC3E}">
        <p14:creationId xmlns:p14="http://schemas.microsoft.com/office/powerpoint/2010/main" val="3929358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fif"/><Relationship Id="rId7"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fif"/><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fif"/><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fif"/><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C8E03B1C-38F7-4C25-A806-1B211250D147}"/>
              </a:ext>
            </a:extLst>
          </p:cNvPr>
          <p:cNvSpPr txBox="1"/>
          <p:nvPr/>
        </p:nvSpPr>
        <p:spPr>
          <a:xfrm>
            <a:off x="501650" y="1448592"/>
            <a:ext cx="11188700" cy="1446550"/>
          </a:xfrm>
          <a:prstGeom prst="rect">
            <a:avLst/>
          </a:prstGeom>
          <a:noFill/>
        </p:spPr>
        <p:txBody>
          <a:bodyPr wrap="square" rtlCol="0">
            <a:spAutoFit/>
          </a:bodyPr>
          <a:lstStyle/>
          <a:p>
            <a:pPr algn="ctr"/>
            <a:r>
              <a:rPr lang="es-ES" sz="4400" dirty="0">
                <a:solidFill>
                  <a:srgbClr val="8D2F3C"/>
                </a:solidFill>
                <a:latin typeface="Maleo Trials" panose="02000006070000000000" pitchFamily="50" charset="0"/>
                <a:ea typeface="Maleo Trials" panose="02000006070000000000" pitchFamily="50" charset="0"/>
                <a:cs typeface="Maleo Trials" panose="02000006070000000000" pitchFamily="50" charset="0"/>
              </a:rPr>
              <a:t>Plan de Negocios para Plataforma Educativa Financiera para</a:t>
            </a:r>
          </a:p>
          <a:p>
            <a:pPr algn="ctr"/>
            <a:r>
              <a:rPr lang="es-ES" sz="4400" dirty="0">
                <a:solidFill>
                  <a:srgbClr val="8D2F3C"/>
                </a:solidFill>
                <a:latin typeface="Maleo Trials" panose="02000006070000000000" pitchFamily="50" charset="0"/>
                <a:ea typeface="Maleo Trials" panose="02000006070000000000" pitchFamily="50" charset="0"/>
                <a:cs typeface="Maleo Trials" panose="02000006070000000000" pitchFamily="50" charset="0"/>
              </a:rPr>
              <a:t>Usuarios Inexpertos con Machine </a:t>
            </a:r>
            <a:r>
              <a:rPr lang="es-ES" sz="4400" dirty="0" err="1">
                <a:solidFill>
                  <a:srgbClr val="8D2F3C"/>
                </a:solidFill>
                <a:latin typeface="Maleo Trials" panose="02000006070000000000" pitchFamily="50" charset="0"/>
                <a:ea typeface="Maleo Trials" panose="02000006070000000000" pitchFamily="50" charset="0"/>
                <a:cs typeface="Maleo Trials" panose="02000006070000000000" pitchFamily="50" charset="0"/>
              </a:rPr>
              <a:t>Learning</a:t>
            </a:r>
            <a:endParaRPr lang="es-ES" sz="4400" dirty="0">
              <a:solidFill>
                <a:srgbClr val="8D2F3C"/>
              </a:solidFill>
              <a:latin typeface="Maleo Trials" panose="02000006070000000000" pitchFamily="50" charset="0"/>
              <a:ea typeface="Maleo Trials" panose="02000006070000000000" pitchFamily="50" charset="0"/>
              <a:cs typeface="Maleo Trials" panose="02000006070000000000" pitchFamily="50" charset="0"/>
            </a:endParaRPr>
          </a:p>
        </p:txBody>
      </p: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2" name="CuadroTexto 11">
            <a:extLst>
              <a:ext uri="{FF2B5EF4-FFF2-40B4-BE49-F238E27FC236}">
                <a16:creationId xmlns:a16="http://schemas.microsoft.com/office/drawing/2014/main" id="{93EE4815-E8D0-4806-AA61-D4854E2D82DD}"/>
              </a:ext>
            </a:extLst>
          </p:cNvPr>
          <p:cNvSpPr txBox="1"/>
          <p:nvPr/>
        </p:nvSpPr>
        <p:spPr>
          <a:xfrm>
            <a:off x="501650" y="2952589"/>
            <a:ext cx="11188700" cy="584775"/>
          </a:xfrm>
          <a:prstGeom prst="rect">
            <a:avLst/>
          </a:prstGeom>
          <a:noFill/>
        </p:spPr>
        <p:txBody>
          <a:bodyPr wrap="square" rtlCol="0">
            <a:spAutoFit/>
          </a:bodyPr>
          <a:lstStyle/>
          <a:p>
            <a:pPr algn="ctr"/>
            <a:r>
              <a:rPr lang="es-ES" sz="3200" dirty="0">
                <a:solidFill>
                  <a:srgbClr val="8D2F3C"/>
                </a:solidFill>
                <a:latin typeface="Maleo" panose="02000006070000000000" pitchFamily="2" charset="0"/>
                <a:ea typeface="Maleo" panose="02000006070000000000" pitchFamily="2" charset="0"/>
                <a:cs typeface="Maleo" panose="02000006070000000000" pitchFamily="2" charset="0"/>
              </a:rPr>
              <a:t>CASO DE ESTUDIO: Nómadas Digitales</a:t>
            </a:r>
          </a:p>
        </p:txBody>
      </p:sp>
      <p:sp>
        <p:nvSpPr>
          <p:cNvPr id="13" name="CuadroTexto 12">
            <a:extLst>
              <a:ext uri="{FF2B5EF4-FFF2-40B4-BE49-F238E27FC236}">
                <a16:creationId xmlns:a16="http://schemas.microsoft.com/office/drawing/2014/main" id="{2E15050D-DA0E-464C-B485-2D4DCC77B9E8}"/>
              </a:ext>
            </a:extLst>
          </p:cNvPr>
          <p:cNvSpPr txBox="1"/>
          <p:nvPr/>
        </p:nvSpPr>
        <p:spPr>
          <a:xfrm>
            <a:off x="501650" y="3663574"/>
            <a:ext cx="11188700" cy="400110"/>
          </a:xfrm>
          <a:prstGeom prst="rect">
            <a:avLst/>
          </a:prstGeom>
          <a:noFill/>
        </p:spPr>
        <p:txBody>
          <a:bodyPr wrap="square" rtlCol="0">
            <a:spAutoFit/>
          </a:bodyPr>
          <a:lstStyle/>
          <a:p>
            <a:pPr algn="ctr"/>
            <a:r>
              <a:rPr lang="es-ES" sz="2000" dirty="0">
                <a:solidFill>
                  <a:srgbClr val="8D2F3C"/>
                </a:solidFill>
                <a:latin typeface="Maleo" panose="02000006070000000000" pitchFamily="2" charset="0"/>
                <a:ea typeface="Maleo" panose="02000006070000000000" pitchFamily="2" charset="0"/>
                <a:cs typeface="Maleo" panose="02000006070000000000" pitchFamily="2" charset="0"/>
              </a:rPr>
              <a:t>Autores:</a:t>
            </a:r>
          </a:p>
        </p:txBody>
      </p:sp>
      <p:sp>
        <p:nvSpPr>
          <p:cNvPr id="15" name="CuadroTexto 14">
            <a:extLst>
              <a:ext uri="{FF2B5EF4-FFF2-40B4-BE49-F238E27FC236}">
                <a16:creationId xmlns:a16="http://schemas.microsoft.com/office/drawing/2014/main" id="{BEDA7D46-6A0C-4586-831F-B8F5BEEF7E28}"/>
              </a:ext>
            </a:extLst>
          </p:cNvPr>
          <p:cNvSpPr txBox="1"/>
          <p:nvPr/>
        </p:nvSpPr>
        <p:spPr>
          <a:xfrm>
            <a:off x="501650" y="4023928"/>
            <a:ext cx="11188700" cy="707886"/>
          </a:xfrm>
          <a:prstGeom prst="rect">
            <a:avLst/>
          </a:prstGeom>
          <a:noFill/>
        </p:spPr>
        <p:txBody>
          <a:bodyPr wrap="square" rtlCol="0">
            <a:spAutoFit/>
          </a:bodyPr>
          <a:lstStyle/>
          <a:p>
            <a:pPr algn="ctr"/>
            <a:r>
              <a:rPr lang="es-ES" sz="2000" dirty="0">
                <a:latin typeface="Maleo" panose="02000006070000000000" pitchFamily="2" charset="0"/>
                <a:ea typeface="Maleo" panose="02000006070000000000" pitchFamily="2" charset="0"/>
                <a:cs typeface="Maleo" panose="02000006070000000000" pitchFamily="2" charset="0"/>
              </a:rPr>
              <a:t>David Leonardo Rincón Ovalle (20201020075)</a:t>
            </a:r>
          </a:p>
          <a:p>
            <a:pPr algn="ctr"/>
            <a:r>
              <a:rPr lang="es-ES" sz="2000" dirty="0">
                <a:latin typeface="Maleo" panose="02000006070000000000" pitchFamily="2" charset="0"/>
                <a:ea typeface="Maleo" panose="02000006070000000000" pitchFamily="2" charset="0"/>
                <a:cs typeface="Maleo" panose="02000006070000000000" pitchFamily="2" charset="0"/>
              </a:rPr>
              <a:t>Leidy Marcela Morales Segura (20112020052)</a:t>
            </a:r>
          </a:p>
        </p:txBody>
      </p:sp>
      <p:sp>
        <p:nvSpPr>
          <p:cNvPr id="16" name="CuadroTexto 15">
            <a:extLst>
              <a:ext uri="{FF2B5EF4-FFF2-40B4-BE49-F238E27FC236}">
                <a16:creationId xmlns:a16="http://schemas.microsoft.com/office/drawing/2014/main" id="{958312DC-2C9C-4A85-A69E-D5F56E4A2682}"/>
              </a:ext>
            </a:extLst>
          </p:cNvPr>
          <p:cNvSpPr txBox="1"/>
          <p:nvPr/>
        </p:nvSpPr>
        <p:spPr>
          <a:xfrm>
            <a:off x="501650" y="5001828"/>
            <a:ext cx="11188700" cy="1200329"/>
          </a:xfrm>
          <a:prstGeom prst="rect">
            <a:avLst/>
          </a:prstGeom>
          <a:noFill/>
        </p:spPr>
        <p:txBody>
          <a:bodyPr wrap="square" rtlCol="0">
            <a:spAutoFit/>
          </a:bodyPr>
          <a:lstStyle/>
          <a:p>
            <a:pPr algn="ctr"/>
            <a:r>
              <a:rPr lang="es-ES" sz="2400" dirty="0">
                <a:latin typeface="Maleo" panose="02000006070000000000" pitchFamily="2" charset="0"/>
                <a:ea typeface="Maleo" panose="02000006070000000000" pitchFamily="2" charset="0"/>
                <a:cs typeface="Maleo" panose="02000006070000000000" pitchFamily="2" charset="0"/>
              </a:rPr>
              <a:t>Ingeniero Abel Antonio Navarrete López</a:t>
            </a:r>
          </a:p>
          <a:p>
            <a:pPr algn="ctr"/>
            <a:r>
              <a:rPr lang="es-ES" sz="2400" dirty="0">
                <a:latin typeface="Maleo" panose="02000006070000000000" pitchFamily="2" charset="0"/>
                <a:ea typeface="Maleo" panose="02000006070000000000" pitchFamily="2" charset="0"/>
                <a:cs typeface="Maleo" panose="02000006070000000000" pitchFamily="2" charset="0"/>
              </a:rPr>
              <a:t>Director del trabajo de grado</a:t>
            </a:r>
          </a:p>
          <a:p>
            <a:pPr algn="ctr"/>
            <a:r>
              <a:rPr lang="es-ES" sz="2400" dirty="0">
                <a:latin typeface="Maleo" panose="02000006070000000000" pitchFamily="2" charset="0"/>
                <a:ea typeface="Maleo" panose="02000006070000000000" pitchFamily="2" charset="0"/>
                <a:cs typeface="Maleo" panose="02000006070000000000" pitchFamily="2" charset="0"/>
              </a:rPr>
              <a:t>2026</a:t>
            </a: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Tree>
    <p:extLst>
      <p:ext uri="{BB962C8B-B14F-4D97-AF65-F5344CB8AC3E}">
        <p14:creationId xmlns:p14="http://schemas.microsoft.com/office/powerpoint/2010/main" val="151208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sp>
        <p:nvSpPr>
          <p:cNvPr id="18" name="CuadroTexto 17">
            <a:extLst>
              <a:ext uri="{FF2B5EF4-FFF2-40B4-BE49-F238E27FC236}">
                <a16:creationId xmlns:a16="http://schemas.microsoft.com/office/drawing/2014/main" id="{7FAA8449-A570-42AD-8C2F-D981935E6810}"/>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8" name="Rectángulo 7">
            <a:extLst>
              <a:ext uri="{FF2B5EF4-FFF2-40B4-BE49-F238E27FC236}">
                <a16:creationId xmlns:a16="http://schemas.microsoft.com/office/drawing/2014/main" id="{F7EC561B-3B8E-405B-A524-17A0A3E46A40}"/>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01</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4" name="Imagen 13">
            <a:extLst>
              <a:ext uri="{FF2B5EF4-FFF2-40B4-BE49-F238E27FC236}">
                <a16:creationId xmlns:a16="http://schemas.microsoft.com/office/drawing/2014/main" id="{D2C1097E-EE83-4B0A-98CB-6EC9F9236A70}"/>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9" name="CuadroTexto 8">
            <a:extLst>
              <a:ext uri="{FF2B5EF4-FFF2-40B4-BE49-F238E27FC236}">
                <a16:creationId xmlns:a16="http://schemas.microsoft.com/office/drawing/2014/main" id="{FD85A0EB-D89F-47C4-AB42-64FFB929174A}"/>
              </a:ext>
            </a:extLst>
          </p:cNvPr>
          <p:cNvSpPr txBox="1"/>
          <p:nvPr/>
        </p:nvSpPr>
        <p:spPr>
          <a:xfrm>
            <a:off x="501650" y="4358379"/>
            <a:ext cx="11188700" cy="584775"/>
          </a:xfrm>
          <a:prstGeom prst="rect">
            <a:avLst/>
          </a:prstGeom>
          <a:noFill/>
        </p:spPr>
        <p:txBody>
          <a:bodyPr wrap="square" rtlCol="0">
            <a:spAutoFit/>
          </a:bodyPr>
          <a:lstStyle/>
          <a:p>
            <a:pPr algn="ctr"/>
            <a:r>
              <a:rPr lang="es-ES" sz="3200" dirty="0">
                <a:solidFill>
                  <a:srgbClr val="8D2F3C"/>
                </a:solidFill>
                <a:latin typeface="Maleo" panose="02000006070000000000" pitchFamily="2" charset="0"/>
                <a:ea typeface="Maleo" panose="02000006070000000000" pitchFamily="2" charset="0"/>
                <a:cs typeface="Maleo" panose="02000006070000000000" pitchFamily="2" charset="0"/>
              </a:rPr>
              <a:t>Bill Gates</a:t>
            </a:r>
          </a:p>
        </p:txBody>
      </p:sp>
      <p:sp>
        <p:nvSpPr>
          <p:cNvPr id="10" name="CuadroTexto 9">
            <a:extLst>
              <a:ext uri="{FF2B5EF4-FFF2-40B4-BE49-F238E27FC236}">
                <a16:creationId xmlns:a16="http://schemas.microsoft.com/office/drawing/2014/main" id="{EFFF0CF5-8CF1-40B5-8D04-B3DEB7C9DCFE}"/>
              </a:ext>
            </a:extLst>
          </p:cNvPr>
          <p:cNvSpPr txBox="1"/>
          <p:nvPr/>
        </p:nvSpPr>
        <p:spPr>
          <a:xfrm>
            <a:off x="501650" y="2243867"/>
            <a:ext cx="11188700" cy="2123658"/>
          </a:xfrm>
          <a:prstGeom prst="rect">
            <a:avLst/>
          </a:prstGeom>
          <a:noFill/>
        </p:spPr>
        <p:txBody>
          <a:bodyPr wrap="square" rtlCol="0">
            <a:spAutoFit/>
          </a:bodyPr>
          <a:lstStyle/>
          <a:p>
            <a:pPr algn="ctr"/>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a:t>
            </a:r>
            <a:r>
              <a:rPr lang="es-ES" sz="4400" dirty="0">
                <a:latin typeface="Maleo" panose="02000006070000000000" pitchFamily="2" charset="0"/>
                <a:ea typeface="Maleo" panose="02000006070000000000" pitchFamily="2" charset="0"/>
                <a:cs typeface="Maleo" panose="02000006070000000000" pitchFamily="2" charset="0"/>
              </a:rPr>
              <a:t>Las tecnologías de la información y la empresa se están entrelazando inextricablemente. No creo que nadie pueda hablar con sentido de una sin hablar de la otra</a:t>
            </a:r>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a:t>
            </a:r>
          </a:p>
        </p:txBody>
      </p:sp>
    </p:spTree>
    <p:extLst>
      <p:ext uri="{BB962C8B-B14F-4D97-AF65-F5344CB8AC3E}">
        <p14:creationId xmlns:p14="http://schemas.microsoft.com/office/powerpoint/2010/main" val="967599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02</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9" name="CuadroTexto 18">
            <a:extLst>
              <a:ext uri="{FF2B5EF4-FFF2-40B4-BE49-F238E27FC236}">
                <a16:creationId xmlns:a16="http://schemas.microsoft.com/office/drawing/2014/main" id="{1A17BD2D-2122-4D42-A2D3-B0728B584AEE}"/>
              </a:ext>
            </a:extLst>
          </p:cNvPr>
          <p:cNvSpPr txBox="1"/>
          <p:nvPr/>
        </p:nvSpPr>
        <p:spPr>
          <a:xfrm>
            <a:off x="1245704" y="1448592"/>
            <a:ext cx="9657836"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Agenda</a:t>
            </a:r>
          </a:p>
        </p:txBody>
      </p:sp>
      <p:sp>
        <p:nvSpPr>
          <p:cNvPr id="20" name="CuadroTexto 19">
            <a:extLst>
              <a:ext uri="{FF2B5EF4-FFF2-40B4-BE49-F238E27FC236}">
                <a16:creationId xmlns:a16="http://schemas.microsoft.com/office/drawing/2014/main" id="{49E16D74-28D3-4D5C-896B-9D7514BC63FE}"/>
              </a:ext>
            </a:extLst>
          </p:cNvPr>
          <p:cNvSpPr txBox="1"/>
          <p:nvPr/>
        </p:nvSpPr>
        <p:spPr>
          <a:xfrm>
            <a:off x="1716552" y="2457199"/>
            <a:ext cx="4379448" cy="2246769"/>
          </a:xfrm>
          <a:prstGeom prst="rect">
            <a:avLst/>
          </a:prstGeom>
          <a:noFill/>
        </p:spPr>
        <p:txBody>
          <a:bodyPr wrap="square" rtlCol="0">
            <a:spAutoFit/>
          </a:bodyPr>
          <a:lstStyle/>
          <a:p>
            <a:pPr marL="514350" indent="-514350">
              <a:buAutoNum type="arabicPeriod"/>
            </a:pPr>
            <a:r>
              <a:rPr lang="es-ES" sz="2800" dirty="0">
                <a:latin typeface="Maleo" panose="02000006070000000000" pitchFamily="2" charset="0"/>
                <a:ea typeface="Maleo" panose="02000006070000000000" pitchFamily="2" charset="0"/>
                <a:cs typeface="Maleo" panose="02000006070000000000" pitchFamily="2" charset="0"/>
              </a:rPr>
              <a:t>Problema</a:t>
            </a:r>
          </a:p>
          <a:p>
            <a:pPr marL="514350" indent="-514350">
              <a:buAutoNum type="arabicPeriod"/>
            </a:pPr>
            <a:r>
              <a:rPr lang="es-ES" sz="2800" dirty="0">
                <a:latin typeface="Maleo" panose="02000006070000000000" pitchFamily="2" charset="0"/>
                <a:ea typeface="Maleo" panose="02000006070000000000" pitchFamily="2" charset="0"/>
                <a:cs typeface="Maleo" panose="02000006070000000000" pitchFamily="2" charset="0"/>
              </a:rPr>
              <a:t>Propuesta</a:t>
            </a:r>
          </a:p>
          <a:p>
            <a:pPr marL="514350" indent="-514350">
              <a:buAutoNum type="arabicPeriod"/>
            </a:pPr>
            <a:r>
              <a:rPr lang="es-ES" sz="2800" dirty="0">
                <a:latin typeface="Maleo" panose="02000006070000000000" pitchFamily="2" charset="0"/>
                <a:ea typeface="Maleo" panose="02000006070000000000" pitchFamily="2" charset="0"/>
                <a:cs typeface="Maleo" panose="02000006070000000000" pitchFamily="2" charset="0"/>
              </a:rPr>
              <a:t>Estudio de mercado</a:t>
            </a:r>
          </a:p>
          <a:p>
            <a:pPr marL="514350" indent="-514350">
              <a:buAutoNum type="arabicPeriod"/>
            </a:pPr>
            <a:r>
              <a:rPr lang="es-ES" sz="2800" dirty="0">
                <a:latin typeface="Maleo" panose="02000006070000000000" pitchFamily="2" charset="0"/>
                <a:ea typeface="Maleo" panose="02000006070000000000" pitchFamily="2" charset="0"/>
                <a:cs typeface="Maleo" panose="02000006070000000000" pitchFamily="2" charset="0"/>
              </a:rPr>
              <a:t>Modelo de negocio</a:t>
            </a:r>
          </a:p>
          <a:p>
            <a:pPr marL="514350" indent="-514350">
              <a:buAutoNum type="arabicPeriod"/>
            </a:pPr>
            <a:r>
              <a:rPr lang="es-ES" sz="2800" dirty="0">
                <a:latin typeface="Maleo" panose="02000006070000000000" pitchFamily="2" charset="0"/>
                <a:ea typeface="Maleo" panose="02000006070000000000" pitchFamily="2" charset="0"/>
                <a:cs typeface="Maleo" panose="02000006070000000000" pitchFamily="2" charset="0"/>
              </a:rPr>
              <a:t>Estados financieros</a:t>
            </a:r>
          </a:p>
        </p:txBody>
      </p:sp>
      <p:sp>
        <p:nvSpPr>
          <p:cNvPr id="21" name="CuadroTexto 20">
            <a:extLst>
              <a:ext uri="{FF2B5EF4-FFF2-40B4-BE49-F238E27FC236}">
                <a16:creationId xmlns:a16="http://schemas.microsoft.com/office/drawing/2014/main" id="{543EFA96-7749-4E6E-9679-70626198223C}"/>
              </a:ext>
            </a:extLst>
          </p:cNvPr>
          <p:cNvSpPr txBox="1"/>
          <p:nvPr/>
        </p:nvSpPr>
        <p:spPr>
          <a:xfrm>
            <a:off x="6415661" y="2457198"/>
            <a:ext cx="4379448" cy="1815882"/>
          </a:xfrm>
          <a:prstGeom prst="rect">
            <a:avLst/>
          </a:prstGeom>
          <a:noFill/>
        </p:spPr>
        <p:txBody>
          <a:bodyPr wrap="square" rtlCol="0">
            <a:spAutoFit/>
          </a:bodyPr>
          <a:lstStyle/>
          <a:p>
            <a:pPr marL="514350" indent="-514350">
              <a:buFont typeface="+mj-lt"/>
              <a:buAutoNum type="arabicPeriod" startAt="6"/>
            </a:pPr>
            <a:r>
              <a:rPr lang="es-ES" sz="2800" dirty="0">
                <a:latin typeface="Maleo" panose="02000006070000000000" pitchFamily="2" charset="0"/>
                <a:ea typeface="Maleo" panose="02000006070000000000" pitchFamily="2" charset="0"/>
                <a:cs typeface="Maleo" panose="02000006070000000000" pitchFamily="2" charset="0"/>
              </a:rPr>
              <a:t>Análisis financiero</a:t>
            </a:r>
          </a:p>
          <a:p>
            <a:pPr marL="514350" indent="-514350">
              <a:buAutoNum type="arabicPeriod" startAt="6"/>
            </a:pPr>
            <a:r>
              <a:rPr lang="es-ES" sz="2800" dirty="0">
                <a:latin typeface="Maleo" panose="02000006070000000000" pitchFamily="2" charset="0"/>
                <a:ea typeface="Maleo" panose="02000006070000000000" pitchFamily="2" charset="0"/>
                <a:cs typeface="Maleo" panose="02000006070000000000" pitchFamily="2" charset="0"/>
              </a:rPr>
              <a:t>Conclusiones</a:t>
            </a:r>
          </a:p>
          <a:p>
            <a:pPr marL="514350" indent="-514350">
              <a:buAutoNum type="arabicPeriod" startAt="6"/>
            </a:pPr>
            <a:r>
              <a:rPr lang="es-ES" sz="2800" dirty="0">
                <a:latin typeface="Maleo" panose="02000006070000000000" pitchFamily="2" charset="0"/>
                <a:ea typeface="Maleo" panose="02000006070000000000" pitchFamily="2" charset="0"/>
                <a:cs typeface="Maleo" panose="02000006070000000000" pitchFamily="2" charset="0"/>
              </a:rPr>
              <a:t>Bibliografía</a:t>
            </a:r>
          </a:p>
          <a:p>
            <a:pPr marL="514350" indent="-514350">
              <a:buAutoNum type="arabicPeriod" startAt="6"/>
            </a:pPr>
            <a:r>
              <a:rPr lang="es-ES" sz="2800" dirty="0">
                <a:latin typeface="Maleo" panose="02000006070000000000" pitchFamily="2" charset="0"/>
                <a:ea typeface="Maleo" panose="02000006070000000000" pitchFamily="2" charset="0"/>
                <a:cs typeface="Maleo" panose="02000006070000000000" pitchFamily="2" charset="0"/>
              </a:rPr>
              <a:t>Agradecimientos</a:t>
            </a:r>
          </a:p>
        </p:txBody>
      </p:sp>
    </p:spTree>
    <p:extLst>
      <p:ext uri="{BB962C8B-B14F-4D97-AF65-F5344CB8AC3E}">
        <p14:creationId xmlns:p14="http://schemas.microsoft.com/office/powerpoint/2010/main" val="4151442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03</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2" name="CuadroTexto 1">
            <a:extLst>
              <a:ext uri="{FF2B5EF4-FFF2-40B4-BE49-F238E27FC236}">
                <a16:creationId xmlns:a16="http://schemas.microsoft.com/office/drawing/2014/main" id="{06F303BF-EED0-4061-BB0B-B7A2BF73DEB8}"/>
              </a:ext>
            </a:extLst>
          </p:cNvPr>
          <p:cNvSpPr txBox="1"/>
          <p:nvPr/>
        </p:nvSpPr>
        <p:spPr>
          <a:xfrm>
            <a:off x="7409620" y="3605670"/>
            <a:ext cx="3124200" cy="923330"/>
          </a:xfrm>
          <a:prstGeom prst="rect">
            <a:avLst/>
          </a:prstGeom>
          <a:noFill/>
        </p:spPr>
        <p:txBody>
          <a:bodyPr wrap="square" rtlCol="0">
            <a:spAutoFit/>
          </a:bodyPr>
          <a:lstStyle/>
          <a:p>
            <a:pPr algn="r"/>
            <a:r>
              <a:rPr lang="es-ES" sz="5400" dirty="0">
                <a:solidFill>
                  <a:srgbClr val="8D2F3C"/>
                </a:solidFill>
                <a:latin typeface="Iosevka" panose="02000509030000000004" pitchFamily="49" charset="0"/>
                <a:ea typeface="Iosevka" panose="02000509030000000004" pitchFamily="49" charset="0"/>
                <a:cs typeface="Iosevka" panose="02000509030000000004" pitchFamily="49" charset="0"/>
              </a:rPr>
              <a:t>Problema</a:t>
            </a:r>
            <a:endParaRPr lang="es-CO" sz="5400" dirty="0">
              <a:solidFill>
                <a:srgbClr val="8D2F3C"/>
              </a:solidFill>
              <a:latin typeface="Iosevka" panose="02000509030000000004" pitchFamily="49" charset="0"/>
              <a:ea typeface="Iosevka" panose="02000509030000000004" pitchFamily="49" charset="0"/>
              <a:cs typeface="Iosevka" panose="02000509030000000004" pitchFamily="49" charset="0"/>
            </a:endParaRPr>
          </a:p>
        </p:txBody>
      </p:sp>
      <p:sp>
        <p:nvSpPr>
          <p:cNvPr id="12" name="CuadroTexto 11">
            <a:extLst>
              <a:ext uri="{FF2B5EF4-FFF2-40B4-BE49-F238E27FC236}">
                <a16:creationId xmlns:a16="http://schemas.microsoft.com/office/drawing/2014/main" id="{50AD6F02-E4DB-4916-982A-B556EFBEB371}"/>
              </a:ext>
            </a:extLst>
          </p:cNvPr>
          <p:cNvSpPr txBox="1"/>
          <p:nvPr/>
        </p:nvSpPr>
        <p:spPr>
          <a:xfrm>
            <a:off x="7409620" y="2903762"/>
            <a:ext cx="3124200"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01</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pic>
        <p:nvPicPr>
          <p:cNvPr id="7" name="Imagen 6">
            <a:extLst>
              <a:ext uri="{FF2B5EF4-FFF2-40B4-BE49-F238E27FC236}">
                <a16:creationId xmlns:a16="http://schemas.microsoft.com/office/drawing/2014/main" id="{0181DB30-34A7-472C-8357-5EAA224F2786}"/>
              </a:ext>
            </a:extLst>
          </p:cNvPr>
          <p:cNvPicPr>
            <a:picLocks noChangeAspect="1"/>
          </p:cNvPicPr>
          <p:nvPr/>
        </p:nvPicPr>
        <p:blipFill rotWithShape="1">
          <a:blip r:embed="rId3">
            <a:extLst>
              <a:ext uri="{28A0092B-C50C-407E-A947-70E740481C1C}">
                <a14:useLocalDpi xmlns:a14="http://schemas.microsoft.com/office/drawing/2010/main" val="0"/>
              </a:ext>
            </a:extLst>
          </a:blip>
          <a:srcRect t="8742" r="8420" b="9541"/>
          <a:stretch/>
        </p:blipFill>
        <p:spPr>
          <a:xfrm>
            <a:off x="1282562" y="1237998"/>
            <a:ext cx="5105675" cy="4555765"/>
          </a:xfrm>
          <a:prstGeom prst="rect">
            <a:avLst/>
          </a:prstGeom>
        </p:spPr>
      </p:pic>
      <p:sp>
        <p:nvSpPr>
          <p:cNvPr id="15" name="CuadroTexto 14">
            <a:extLst>
              <a:ext uri="{FF2B5EF4-FFF2-40B4-BE49-F238E27FC236}">
                <a16:creationId xmlns:a16="http://schemas.microsoft.com/office/drawing/2014/main" id="{49419FEE-E3B1-427D-B245-6FB3A2306DC3}"/>
              </a:ext>
            </a:extLst>
          </p:cNvPr>
          <p:cNvSpPr txBox="1"/>
          <p:nvPr/>
        </p:nvSpPr>
        <p:spPr>
          <a:xfrm>
            <a:off x="2035869" y="5743590"/>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665516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04</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10059098" y="1066344"/>
            <a:ext cx="164450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01 PROBLEMA</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554610"/>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Pregunta</a:t>
            </a:r>
          </a:p>
        </p:txBody>
      </p:sp>
      <p:sp>
        <p:nvSpPr>
          <p:cNvPr id="16" name="CuadroTexto 15">
            <a:extLst>
              <a:ext uri="{FF2B5EF4-FFF2-40B4-BE49-F238E27FC236}">
                <a16:creationId xmlns:a16="http://schemas.microsoft.com/office/drawing/2014/main" id="{59FDF6D3-B383-4612-A7C7-88D35E974160}"/>
              </a:ext>
            </a:extLst>
          </p:cNvPr>
          <p:cNvSpPr txBox="1"/>
          <p:nvPr/>
        </p:nvSpPr>
        <p:spPr>
          <a:xfrm>
            <a:off x="1126435" y="2390314"/>
            <a:ext cx="6440556" cy="2400657"/>
          </a:xfrm>
          <a:prstGeom prst="rect">
            <a:avLst/>
          </a:prstGeom>
          <a:noFill/>
        </p:spPr>
        <p:txBody>
          <a:bodyPr wrap="square" rtlCol="0">
            <a:spAutoFit/>
          </a:bodyPr>
          <a:lstStyle/>
          <a:p>
            <a:pPr algn="just"/>
            <a:r>
              <a:rPr lang="es-ES" sz="3000" dirty="0">
                <a:latin typeface="Maleo" panose="02000006070000000000" pitchFamily="2" charset="0"/>
                <a:ea typeface="Maleo" panose="02000006070000000000" pitchFamily="2" charset="0"/>
                <a:cs typeface="Maleo" panose="02000006070000000000" pitchFamily="2" charset="0"/>
              </a:rPr>
              <a:t>¿Cómo puede una plataforma digital de asesoramiento financiero ayudar a los usuarios a mejorar sus hábitos económicos mediante orientación personalizada, accesible y confiable, manteniendo un impacto social y un modelo de negocio sostenible?</a:t>
            </a:r>
          </a:p>
        </p:txBody>
      </p:sp>
      <p:pic>
        <p:nvPicPr>
          <p:cNvPr id="7" name="Imagen 6">
            <a:extLst>
              <a:ext uri="{FF2B5EF4-FFF2-40B4-BE49-F238E27FC236}">
                <a16:creationId xmlns:a16="http://schemas.microsoft.com/office/drawing/2014/main" id="{2C92DD39-822B-4B48-B6D3-B9531A7C9AF3}"/>
              </a:ext>
            </a:extLst>
          </p:cNvPr>
          <p:cNvPicPr>
            <a:picLocks noChangeAspect="1"/>
          </p:cNvPicPr>
          <p:nvPr/>
        </p:nvPicPr>
        <p:blipFill rotWithShape="1">
          <a:blip r:embed="rId3">
            <a:extLst>
              <a:ext uri="{28A0092B-C50C-407E-A947-70E740481C1C}">
                <a14:useLocalDpi xmlns:a14="http://schemas.microsoft.com/office/drawing/2010/main" val="0"/>
              </a:ext>
            </a:extLst>
          </a:blip>
          <a:srcRect b="2950"/>
          <a:stretch/>
        </p:blipFill>
        <p:spPr>
          <a:xfrm>
            <a:off x="7628559" y="1583638"/>
            <a:ext cx="4061791" cy="3941970"/>
          </a:xfrm>
          <a:prstGeom prst="rect">
            <a:avLst/>
          </a:prstGeom>
        </p:spPr>
      </p:pic>
      <p:sp>
        <p:nvSpPr>
          <p:cNvPr id="19" name="CuadroTexto 18">
            <a:extLst>
              <a:ext uri="{FF2B5EF4-FFF2-40B4-BE49-F238E27FC236}">
                <a16:creationId xmlns:a16="http://schemas.microsoft.com/office/drawing/2014/main" id="{52DD0B70-44BB-4D15-BA49-6C58AB648883}"/>
              </a:ext>
            </a:extLst>
          </p:cNvPr>
          <p:cNvSpPr txBox="1"/>
          <p:nvPr/>
        </p:nvSpPr>
        <p:spPr>
          <a:xfrm>
            <a:off x="7862569" y="4907914"/>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3305012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05</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10059098" y="1066344"/>
            <a:ext cx="164450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01 PROBLEMA</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554610"/>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Objetivo General</a:t>
            </a:r>
          </a:p>
        </p:txBody>
      </p:sp>
      <p:sp>
        <p:nvSpPr>
          <p:cNvPr id="16" name="CuadroTexto 15">
            <a:extLst>
              <a:ext uri="{FF2B5EF4-FFF2-40B4-BE49-F238E27FC236}">
                <a16:creationId xmlns:a16="http://schemas.microsoft.com/office/drawing/2014/main" id="{59FDF6D3-B383-4612-A7C7-88D35E974160}"/>
              </a:ext>
            </a:extLst>
          </p:cNvPr>
          <p:cNvSpPr txBox="1"/>
          <p:nvPr/>
        </p:nvSpPr>
        <p:spPr>
          <a:xfrm>
            <a:off x="1126435" y="2390314"/>
            <a:ext cx="6440556" cy="2862322"/>
          </a:xfrm>
          <a:prstGeom prst="rect">
            <a:avLst/>
          </a:prstGeom>
          <a:noFill/>
        </p:spPr>
        <p:txBody>
          <a:bodyPr wrap="square" rtlCol="0">
            <a:spAutoFit/>
          </a:bodyPr>
          <a:lstStyle/>
          <a:p>
            <a:pPr algn="just"/>
            <a:r>
              <a:rPr lang="es-ES" sz="3000" dirty="0">
                <a:latin typeface="Maleo" panose="02000006070000000000" pitchFamily="2" charset="0"/>
                <a:ea typeface="Maleo" panose="02000006070000000000" pitchFamily="2" charset="0"/>
                <a:cs typeface="Maleo" panose="02000006070000000000" pitchFamily="2" charset="0"/>
              </a:rPr>
              <a:t>Diseñar un plan de negocios y un prototipo de una plataforma digital de planificación financiera para jóvenes, trabajadores independientes y nómadas digitales en Bogotá, basada en microservicios y algoritmos de personalización (Machine </a:t>
            </a:r>
            <a:r>
              <a:rPr lang="es-ES" sz="3000" dirty="0" err="1">
                <a:latin typeface="Maleo" panose="02000006070000000000" pitchFamily="2" charset="0"/>
                <a:ea typeface="Maleo" panose="02000006070000000000" pitchFamily="2" charset="0"/>
                <a:cs typeface="Maleo" panose="02000006070000000000" pitchFamily="2" charset="0"/>
              </a:rPr>
              <a:t>Learning</a:t>
            </a:r>
            <a:r>
              <a:rPr lang="es-ES" sz="3000" dirty="0">
                <a:latin typeface="Maleo" panose="02000006070000000000" pitchFamily="2" charset="0"/>
                <a:ea typeface="Maleo" panose="02000006070000000000" pitchFamily="2" charset="0"/>
                <a:cs typeface="Maleo" panose="02000006070000000000" pitchFamily="2" charset="0"/>
              </a:rPr>
              <a:t>), que facilite la toma de decisiones económicas y mejore el bienestar financiero de sus usuarios.</a:t>
            </a:r>
          </a:p>
        </p:txBody>
      </p:sp>
      <p:pic>
        <p:nvPicPr>
          <p:cNvPr id="6" name="Imagen 5">
            <a:extLst>
              <a:ext uri="{FF2B5EF4-FFF2-40B4-BE49-F238E27FC236}">
                <a16:creationId xmlns:a16="http://schemas.microsoft.com/office/drawing/2014/main" id="{97389079-2FC3-4907-946D-A35CDF965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4092" y="1831898"/>
            <a:ext cx="3823409" cy="3823409"/>
          </a:xfrm>
          <a:prstGeom prst="rect">
            <a:avLst/>
          </a:prstGeom>
        </p:spPr>
      </p:pic>
      <p:sp>
        <p:nvSpPr>
          <p:cNvPr id="19" name="CuadroTexto 18">
            <a:extLst>
              <a:ext uri="{FF2B5EF4-FFF2-40B4-BE49-F238E27FC236}">
                <a16:creationId xmlns:a16="http://schemas.microsoft.com/office/drawing/2014/main" id="{B2AF417D-8444-4CE4-8BCF-ED6A1A1F0B1D}"/>
              </a:ext>
            </a:extLst>
          </p:cNvPr>
          <p:cNvSpPr txBox="1"/>
          <p:nvPr/>
        </p:nvSpPr>
        <p:spPr>
          <a:xfrm>
            <a:off x="7945311" y="5421868"/>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4071587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06</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2" name="CuadroTexto 1">
            <a:extLst>
              <a:ext uri="{FF2B5EF4-FFF2-40B4-BE49-F238E27FC236}">
                <a16:creationId xmlns:a16="http://schemas.microsoft.com/office/drawing/2014/main" id="{06F303BF-EED0-4061-BB0B-B7A2BF73DEB8}"/>
              </a:ext>
            </a:extLst>
          </p:cNvPr>
          <p:cNvSpPr txBox="1"/>
          <p:nvPr/>
        </p:nvSpPr>
        <p:spPr>
          <a:xfrm>
            <a:off x="6970643" y="3605670"/>
            <a:ext cx="3563177" cy="923330"/>
          </a:xfrm>
          <a:prstGeom prst="rect">
            <a:avLst/>
          </a:prstGeom>
          <a:noFill/>
        </p:spPr>
        <p:txBody>
          <a:bodyPr wrap="square" rtlCol="0">
            <a:spAutoFit/>
          </a:bodyPr>
          <a:lstStyle/>
          <a:p>
            <a:pPr algn="r"/>
            <a:r>
              <a:rPr lang="es-ES" sz="5400" dirty="0">
                <a:solidFill>
                  <a:srgbClr val="8D2F3C"/>
                </a:solidFill>
                <a:latin typeface="Iosevka" panose="02000509030000000004" pitchFamily="49" charset="0"/>
                <a:ea typeface="Iosevka" panose="02000509030000000004" pitchFamily="49" charset="0"/>
                <a:cs typeface="Iosevka" panose="02000509030000000004" pitchFamily="49" charset="0"/>
              </a:rPr>
              <a:t>Propuesta</a:t>
            </a:r>
            <a:endParaRPr lang="es-CO" sz="5400" dirty="0">
              <a:solidFill>
                <a:srgbClr val="8D2F3C"/>
              </a:solidFill>
              <a:latin typeface="Iosevka" panose="02000509030000000004" pitchFamily="49" charset="0"/>
              <a:ea typeface="Iosevka" panose="02000509030000000004" pitchFamily="49" charset="0"/>
              <a:cs typeface="Iosevka" panose="02000509030000000004" pitchFamily="49" charset="0"/>
            </a:endParaRPr>
          </a:p>
        </p:txBody>
      </p:sp>
      <p:sp>
        <p:nvSpPr>
          <p:cNvPr id="12" name="CuadroTexto 11">
            <a:extLst>
              <a:ext uri="{FF2B5EF4-FFF2-40B4-BE49-F238E27FC236}">
                <a16:creationId xmlns:a16="http://schemas.microsoft.com/office/drawing/2014/main" id="{50AD6F02-E4DB-4916-982A-B556EFBEB371}"/>
              </a:ext>
            </a:extLst>
          </p:cNvPr>
          <p:cNvSpPr txBox="1"/>
          <p:nvPr/>
        </p:nvSpPr>
        <p:spPr>
          <a:xfrm>
            <a:off x="7409620" y="2903762"/>
            <a:ext cx="3124200"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02</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pic>
        <p:nvPicPr>
          <p:cNvPr id="8" name="Imagen 7">
            <a:extLst>
              <a:ext uri="{FF2B5EF4-FFF2-40B4-BE49-F238E27FC236}">
                <a16:creationId xmlns:a16="http://schemas.microsoft.com/office/drawing/2014/main" id="{15E9461F-CCEA-433A-8977-71F5BE993D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8180" y="1519368"/>
            <a:ext cx="4348503" cy="4348503"/>
          </a:xfrm>
          <a:prstGeom prst="rect">
            <a:avLst/>
          </a:prstGeom>
        </p:spPr>
      </p:pic>
      <p:sp>
        <p:nvSpPr>
          <p:cNvPr id="13" name="CuadroTexto 12">
            <a:extLst>
              <a:ext uri="{FF2B5EF4-FFF2-40B4-BE49-F238E27FC236}">
                <a16:creationId xmlns:a16="http://schemas.microsoft.com/office/drawing/2014/main" id="{6B7185EA-5617-4827-8406-A8C8D7E2493E}"/>
              </a:ext>
            </a:extLst>
          </p:cNvPr>
          <p:cNvSpPr txBox="1"/>
          <p:nvPr/>
        </p:nvSpPr>
        <p:spPr>
          <a:xfrm>
            <a:off x="2035869" y="5743590"/>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4233728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07</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10059098" y="1066344"/>
            <a:ext cx="164450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02 PROPUESTA</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541358"/>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Características</a:t>
            </a:r>
          </a:p>
        </p:txBody>
      </p:sp>
      <p:pic>
        <p:nvPicPr>
          <p:cNvPr id="7" name="Imagen 6">
            <a:extLst>
              <a:ext uri="{FF2B5EF4-FFF2-40B4-BE49-F238E27FC236}">
                <a16:creationId xmlns:a16="http://schemas.microsoft.com/office/drawing/2014/main" id="{D7A8EC08-5495-4964-B242-DC6DDF62E3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991" y="2367029"/>
            <a:ext cx="2073965" cy="2073965"/>
          </a:xfrm>
          <a:prstGeom prst="rect">
            <a:avLst/>
          </a:prstGeom>
        </p:spPr>
      </p:pic>
      <p:sp>
        <p:nvSpPr>
          <p:cNvPr id="19" name="CuadroTexto 18">
            <a:extLst>
              <a:ext uri="{FF2B5EF4-FFF2-40B4-BE49-F238E27FC236}">
                <a16:creationId xmlns:a16="http://schemas.microsoft.com/office/drawing/2014/main" id="{8D7A7E61-9115-44A8-836C-045E7C9E335A}"/>
              </a:ext>
            </a:extLst>
          </p:cNvPr>
          <p:cNvSpPr txBox="1"/>
          <p:nvPr/>
        </p:nvSpPr>
        <p:spPr>
          <a:xfrm>
            <a:off x="1089990" y="4350432"/>
            <a:ext cx="2073965" cy="646331"/>
          </a:xfrm>
          <a:prstGeom prst="rect">
            <a:avLst/>
          </a:prstGeom>
          <a:noFill/>
        </p:spPr>
        <p:txBody>
          <a:bodyPr wrap="square" rtlCol="0">
            <a:spAutoFit/>
          </a:bodyPr>
          <a:lstStyle/>
          <a:p>
            <a:pPr algn="ctr"/>
            <a:r>
              <a:rPr lang="es-ES"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Gamificación</a:t>
            </a:r>
          </a:p>
          <a:p>
            <a:pPr algn="ctr"/>
            <a:r>
              <a:rPr lang="es-ES"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Ligera</a:t>
            </a:r>
          </a:p>
        </p:txBody>
      </p:sp>
      <p:pic>
        <p:nvPicPr>
          <p:cNvPr id="9" name="Imagen 8">
            <a:extLst>
              <a:ext uri="{FF2B5EF4-FFF2-40B4-BE49-F238E27FC236}">
                <a16:creationId xmlns:a16="http://schemas.microsoft.com/office/drawing/2014/main" id="{BA9566DB-7BA1-4C4C-A3C9-FF81498FE2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5646" y="2533040"/>
            <a:ext cx="1973187" cy="1973187"/>
          </a:xfrm>
          <a:prstGeom prst="rect">
            <a:avLst/>
          </a:prstGeom>
        </p:spPr>
      </p:pic>
      <p:sp>
        <p:nvSpPr>
          <p:cNvPr id="20" name="CuadroTexto 19">
            <a:extLst>
              <a:ext uri="{FF2B5EF4-FFF2-40B4-BE49-F238E27FC236}">
                <a16:creationId xmlns:a16="http://schemas.microsoft.com/office/drawing/2014/main" id="{C8E59627-9A0A-44D0-9D04-BBED61F700AE}"/>
              </a:ext>
            </a:extLst>
          </p:cNvPr>
          <p:cNvSpPr txBox="1"/>
          <p:nvPr/>
        </p:nvSpPr>
        <p:spPr>
          <a:xfrm>
            <a:off x="3736014" y="4350432"/>
            <a:ext cx="2073965" cy="646331"/>
          </a:xfrm>
          <a:prstGeom prst="rect">
            <a:avLst/>
          </a:prstGeom>
          <a:noFill/>
        </p:spPr>
        <p:txBody>
          <a:bodyPr wrap="square" rtlCol="0">
            <a:spAutoFit/>
          </a:bodyPr>
          <a:lstStyle/>
          <a:p>
            <a:pPr algn="ctr"/>
            <a:r>
              <a:rPr lang="es-ES"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Interfaz</a:t>
            </a:r>
          </a:p>
          <a:p>
            <a:pPr algn="ctr"/>
            <a:r>
              <a:rPr lang="es-ES"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Intuitiva</a:t>
            </a:r>
          </a:p>
        </p:txBody>
      </p:sp>
      <p:pic>
        <p:nvPicPr>
          <p:cNvPr id="21" name="Imagen 20">
            <a:extLst>
              <a:ext uri="{FF2B5EF4-FFF2-40B4-BE49-F238E27FC236}">
                <a16:creationId xmlns:a16="http://schemas.microsoft.com/office/drawing/2014/main" id="{34F6CACA-BDBA-4E97-9BDC-95F0A17AF21A}"/>
              </a:ext>
            </a:extLst>
          </p:cNvPr>
          <p:cNvPicPr>
            <a:picLocks noChangeAspect="1"/>
          </p:cNvPicPr>
          <p:nvPr/>
        </p:nvPicPr>
        <p:blipFill rotWithShape="1">
          <a:blip r:embed="rId5">
            <a:extLst>
              <a:ext uri="{28A0092B-C50C-407E-A947-70E740481C1C}">
                <a14:useLocalDpi xmlns:a14="http://schemas.microsoft.com/office/drawing/2010/main" val="0"/>
              </a:ext>
            </a:extLst>
          </a:blip>
          <a:srcRect l="1345" t="17895" r="3182" b="20840"/>
          <a:stretch/>
        </p:blipFill>
        <p:spPr>
          <a:xfrm>
            <a:off x="6111265" y="2535537"/>
            <a:ext cx="2919497" cy="1873440"/>
          </a:xfrm>
          <a:prstGeom prst="rect">
            <a:avLst/>
          </a:prstGeom>
        </p:spPr>
      </p:pic>
      <p:sp>
        <p:nvSpPr>
          <p:cNvPr id="22" name="CuadroTexto 21">
            <a:extLst>
              <a:ext uri="{FF2B5EF4-FFF2-40B4-BE49-F238E27FC236}">
                <a16:creationId xmlns:a16="http://schemas.microsoft.com/office/drawing/2014/main" id="{AFF082EC-7911-4F99-AD70-5127506066E6}"/>
              </a:ext>
            </a:extLst>
          </p:cNvPr>
          <p:cNvSpPr txBox="1"/>
          <p:nvPr/>
        </p:nvSpPr>
        <p:spPr>
          <a:xfrm>
            <a:off x="6501496" y="4346026"/>
            <a:ext cx="2073965" cy="923330"/>
          </a:xfrm>
          <a:prstGeom prst="rect">
            <a:avLst/>
          </a:prstGeom>
          <a:noFill/>
        </p:spPr>
        <p:txBody>
          <a:bodyPr wrap="square" rtlCol="0">
            <a:spAutoFit/>
          </a:bodyPr>
          <a:lstStyle/>
          <a:p>
            <a:pPr algn="ctr"/>
            <a:r>
              <a:rPr lang="es-ES"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Lecciones para Aprendizaje Financiero</a:t>
            </a:r>
          </a:p>
        </p:txBody>
      </p:sp>
      <p:pic>
        <p:nvPicPr>
          <p:cNvPr id="24" name="Imagen 23">
            <a:extLst>
              <a:ext uri="{FF2B5EF4-FFF2-40B4-BE49-F238E27FC236}">
                <a16:creationId xmlns:a16="http://schemas.microsoft.com/office/drawing/2014/main" id="{0C70120B-C9EC-4E41-9C5B-AA0EFEDDCD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7521" y="2343886"/>
            <a:ext cx="2207024" cy="2207024"/>
          </a:xfrm>
          <a:prstGeom prst="rect">
            <a:avLst/>
          </a:prstGeom>
        </p:spPr>
      </p:pic>
      <p:sp>
        <p:nvSpPr>
          <p:cNvPr id="25" name="CuadroTexto 24">
            <a:extLst>
              <a:ext uri="{FF2B5EF4-FFF2-40B4-BE49-F238E27FC236}">
                <a16:creationId xmlns:a16="http://schemas.microsoft.com/office/drawing/2014/main" id="{609DFB9B-F7F6-48DE-8E7B-3ADB8E9DB58F}"/>
              </a:ext>
            </a:extLst>
          </p:cNvPr>
          <p:cNvSpPr txBox="1"/>
          <p:nvPr/>
        </p:nvSpPr>
        <p:spPr>
          <a:xfrm>
            <a:off x="9280580" y="4335766"/>
            <a:ext cx="2073965" cy="923330"/>
          </a:xfrm>
          <a:prstGeom prst="rect">
            <a:avLst/>
          </a:prstGeom>
          <a:noFill/>
        </p:spPr>
        <p:txBody>
          <a:bodyPr wrap="square" rtlCol="0">
            <a:spAutoFit/>
          </a:bodyPr>
          <a:lstStyle/>
          <a:p>
            <a:pPr algn="ctr"/>
            <a:r>
              <a:rPr lang="es-ES"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Costo cero con Suscripción Opcional</a:t>
            </a:r>
          </a:p>
        </p:txBody>
      </p:sp>
      <p:sp>
        <p:nvSpPr>
          <p:cNvPr id="23" name="CuadroTexto 22">
            <a:extLst>
              <a:ext uri="{FF2B5EF4-FFF2-40B4-BE49-F238E27FC236}">
                <a16:creationId xmlns:a16="http://schemas.microsoft.com/office/drawing/2014/main" id="{DEF38978-D537-4076-89D8-9A091D130D54}"/>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3696425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08</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10059098" y="1066344"/>
            <a:ext cx="164450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02 PROPUESTA</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445229"/>
            <a:ext cx="9186988" cy="769441"/>
          </a:xfrm>
          <a:prstGeom prst="rect">
            <a:avLst/>
          </a:prstGeom>
          <a:noFill/>
        </p:spPr>
        <p:txBody>
          <a:bodyPr wrap="square" rtlCol="0">
            <a:spAutoFit/>
          </a:bodyPr>
          <a:lstStyle/>
          <a:p>
            <a:pPr algn="ctr"/>
            <a:r>
              <a:rPr lang="es-ES" sz="4400" dirty="0">
                <a:solidFill>
                  <a:srgbClr val="8D2F3C"/>
                </a:solidFill>
                <a:latin typeface="Iosevka" panose="02000509030000000004" pitchFamily="49" charset="0"/>
                <a:ea typeface="Iosevka" panose="02000509030000000004" pitchFamily="49" charset="0"/>
                <a:cs typeface="Iosevka" panose="02000509030000000004" pitchFamily="49" charset="0"/>
              </a:rPr>
              <a:t>Producto</a:t>
            </a:r>
          </a:p>
        </p:txBody>
      </p:sp>
    </p:spTree>
    <p:extLst>
      <p:ext uri="{BB962C8B-B14F-4D97-AF65-F5344CB8AC3E}">
        <p14:creationId xmlns:p14="http://schemas.microsoft.com/office/powerpoint/2010/main" val="1602931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09</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10059098" y="1066344"/>
            <a:ext cx="164450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02 PROPUESTA</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514854"/>
            <a:ext cx="9186988" cy="769441"/>
          </a:xfrm>
          <a:prstGeom prst="rect">
            <a:avLst/>
          </a:prstGeom>
          <a:noFill/>
        </p:spPr>
        <p:txBody>
          <a:bodyPr wrap="square" rtlCol="0">
            <a:spAutoFit/>
          </a:bodyPr>
          <a:lstStyle/>
          <a:p>
            <a:pPr algn="ctr"/>
            <a:r>
              <a:rPr lang="es-ES" sz="4400" dirty="0">
                <a:solidFill>
                  <a:srgbClr val="8D2F3C"/>
                </a:solidFill>
                <a:latin typeface="Iosevka" panose="02000509030000000004" pitchFamily="49" charset="0"/>
                <a:ea typeface="Iosevka" panose="02000509030000000004" pitchFamily="49" charset="0"/>
                <a:cs typeface="Iosevka" panose="02000509030000000004" pitchFamily="49" charset="0"/>
              </a:rPr>
              <a:t>Herramientas Tecnológicas:</a:t>
            </a:r>
          </a:p>
        </p:txBody>
      </p:sp>
      <p:pic>
        <p:nvPicPr>
          <p:cNvPr id="6" name="Imagen 5">
            <a:extLst>
              <a:ext uri="{FF2B5EF4-FFF2-40B4-BE49-F238E27FC236}">
                <a16:creationId xmlns:a16="http://schemas.microsoft.com/office/drawing/2014/main" id="{90559C7B-22AB-421B-B261-BEEC3BC0F061}"/>
              </a:ext>
            </a:extLst>
          </p:cNvPr>
          <p:cNvPicPr>
            <a:picLocks noChangeAspect="1"/>
          </p:cNvPicPr>
          <p:nvPr/>
        </p:nvPicPr>
        <p:blipFill rotWithShape="1">
          <a:blip r:embed="rId3">
            <a:extLst>
              <a:ext uri="{28A0092B-C50C-407E-A947-70E740481C1C}">
                <a14:useLocalDpi xmlns:a14="http://schemas.microsoft.com/office/drawing/2010/main" val="0"/>
              </a:ext>
            </a:extLst>
          </a:blip>
          <a:srcRect l="13713" t="10257" r="12227" b="12578"/>
          <a:stretch/>
        </p:blipFill>
        <p:spPr>
          <a:xfrm>
            <a:off x="9507786" y="4137723"/>
            <a:ext cx="1516779" cy="1580378"/>
          </a:xfrm>
          <a:prstGeom prst="rect">
            <a:avLst/>
          </a:prstGeom>
        </p:spPr>
      </p:pic>
      <p:pic>
        <p:nvPicPr>
          <p:cNvPr id="8" name="Imagen 7">
            <a:extLst>
              <a:ext uri="{FF2B5EF4-FFF2-40B4-BE49-F238E27FC236}">
                <a16:creationId xmlns:a16="http://schemas.microsoft.com/office/drawing/2014/main" id="{ACBFBEA9-3A83-4DF4-83F8-9BFAB07F39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83537" y="3102754"/>
            <a:ext cx="3175724" cy="1956246"/>
          </a:xfrm>
          <a:prstGeom prst="rect">
            <a:avLst/>
          </a:prstGeom>
        </p:spPr>
      </p:pic>
      <p:pic>
        <p:nvPicPr>
          <p:cNvPr id="12" name="Imagen 11">
            <a:extLst>
              <a:ext uri="{FF2B5EF4-FFF2-40B4-BE49-F238E27FC236}">
                <a16:creationId xmlns:a16="http://schemas.microsoft.com/office/drawing/2014/main" id="{3D149849-2A1C-40E4-9724-ED720A7513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8766" y="3097733"/>
            <a:ext cx="1956246" cy="1956246"/>
          </a:xfrm>
          <a:prstGeom prst="rect">
            <a:avLst/>
          </a:prstGeom>
        </p:spPr>
      </p:pic>
      <p:pic>
        <p:nvPicPr>
          <p:cNvPr id="19" name="Imagen 18">
            <a:extLst>
              <a:ext uri="{FF2B5EF4-FFF2-40B4-BE49-F238E27FC236}">
                <a16:creationId xmlns:a16="http://schemas.microsoft.com/office/drawing/2014/main" id="{2EC0C547-1EAA-49B0-BA5B-41A0652C14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81788" y="2260798"/>
            <a:ext cx="1768777" cy="1768777"/>
          </a:xfrm>
          <a:prstGeom prst="rect">
            <a:avLst/>
          </a:prstGeom>
        </p:spPr>
      </p:pic>
      <p:sp>
        <p:nvSpPr>
          <p:cNvPr id="16" name="CuadroTexto 15">
            <a:extLst>
              <a:ext uri="{FF2B5EF4-FFF2-40B4-BE49-F238E27FC236}">
                <a16:creationId xmlns:a16="http://schemas.microsoft.com/office/drawing/2014/main" id="{11B8132B-52B5-4492-BB88-A3DFEFC429CE}"/>
              </a:ext>
            </a:extLst>
          </p:cNvPr>
          <p:cNvSpPr txBox="1"/>
          <p:nvPr/>
        </p:nvSpPr>
        <p:spPr>
          <a:xfrm>
            <a:off x="0" y="6060909"/>
            <a:ext cx="12191999"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Wikipedia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Commons</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https://commons.wikimedia.org/wiki/</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7" name="Imagen 6">
            <a:extLst>
              <a:ext uri="{FF2B5EF4-FFF2-40B4-BE49-F238E27FC236}">
                <a16:creationId xmlns:a16="http://schemas.microsoft.com/office/drawing/2014/main" id="{71184ECB-D251-41FA-BF8B-47A5C14FCC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1200" y="2410304"/>
            <a:ext cx="2525507" cy="1159168"/>
          </a:xfrm>
          <a:prstGeom prst="rect">
            <a:avLst/>
          </a:prstGeom>
        </p:spPr>
      </p:pic>
      <p:pic>
        <p:nvPicPr>
          <p:cNvPr id="20" name="Imagen 19">
            <a:extLst>
              <a:ext uri="{FF2B5EF4-FFF2-40B4-BE49-F238E27FC236}">
                <a16:creationId xmlns:a16="http://schemas.microsoft.com/office/drawing/2014/main" id="{FC0009C5-7D25-41BC-9D37-B37C0B90A5E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1435" y="3697510"/>
            <a:ext cx="2020334" cy="2084985"/>
          </a:xfrm>
          <a:prstGeom prst="rect">
            <a:avLst/>
          </a:prstGeom>
        </p:spPr>
      </p:pic>
    </p:spTree>
    <p:extLst>
      <p:ext uri="{BB962C8B-B14F-4D97-AF65-F5344CB8AC3E}">
        <p14:creationId xmlns:p14="http://schemas.microsoft.com/office/powerpoint/2010/main" val="4264045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10</a:t>
            </a:r>
            <a:endParaRPr lang="es-CO" sz="2400" dirty="0">
              <a:latin typeface="Maleo" panose="02000006070000000000" pitchFamily="2" charset="0"/>
              <a:ea typeface="Maleo" panose="02000006070000000000" pitchFamily="2" charset="0"/>
              <a:cs typeface="Maleo" panose="02000006070000000000" pitchFamily="2" charset="0"/>
            </a:endParaRPr>
          </a:p>
        </p:txBody>
      </p:sp>
      <p:sp>
        <p:nvSpPr>
          <p:cNvPr id="13" name="CuadroTexto 12">
            <a:extLst>
              <a:ext uri="{FF2B5EF4-FFF2-40B4-BE49-F238E27FC236}">
                <a16:creationId xmlns:a16="http://schemas.microsoft.com/office/drawing/2014/main" id="{579F7479-2CC9-4253-BF81-B75811BC268F}"/>
              </a:ext>
            </a:extLst>
          </p:cNvPr>
          <p:cNvSpPr txBox="1"/>
          <p:nvPr/>
        </p:nvSpPr>
        <p:spPr>
          <a:xfrm>
            <a:off x="10059098" y="1066344"/>
            <a:ext cx="164450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02 PROPUESTA</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353960"/>
            <a:ext cx="9186988" cy="769441"/>
          </a:xfrm>
          <a:prstGeom prst="rect">
            <a:avLst/>
          </a:prstGeom>
          <a:noFill/>
        </p:spPr>
        <p:txBody>
          <a:bodyPr wrap="square" rtlCol="0">
            <a:spAutoFit/>
          </a:bodyPr>
          <a:lstStyle/>
          <a:p>
            <a:pPr algn="ctr"/>
            <a:r>
              <a:rPr lang="es-ES" sz="4400" dirty="0">
                <a:solidFill>
                  <a:srgbClr val="8D2F3C"/>
                </a:solidFill>
                <a:latin typeface="Iosevka" panose="02000509030000000004" pitchFamily="49" charset="0"/>
                <a:ea typeface="Iosevka" panose="02000509030000000004" pitchFamily="49" charset="0"/>
                <a:cs typeface="Iosevka" panose="02000509030000000004" pitchFamily="49" charset="0"/>
              </a:rPr>
              <a:t>Arquitectura</a:t>
            </a:r>
          </a:p>
        </p:txBody>
      </p:sp>
      <p:pic>
        <p:nvPicPr>
          <p:cNvPr id="16" name="Imagen 15">
            <a:extLst>
              <a:ext uri="{FF2B5EF4-FFF2-40B4-BE49-F238E27FC236}">
                <a16:creationId xmlns:a16="http://schemas.microsoft.com/office/drawing/2014/main" id="{BFD73A03-7BDF-4F01-A684-05037E5A58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084" y="2458702"/>
            <a:ext cx="4714875" cy="3143250"/>
          </a:xfrm>
          <a:prstGeom prst="rect">
            <a:avLst/>
          </a:prstGeom>
        </p:spPr>
      </p:pic>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3">
            <a:duotone>
              <a:srgbClr val="A5A5A5">
                <a:shade val="45000"/>
                <a:satMod val="135000"/>
              </a:srgb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pic>
        <p:nvPicPr>
          <p:cNvPr id="7" name="Imagen 6">
            <a:extLst>
              <a:ext uri="{FF2B5EF4-FFF2-40B4-BE49-F238E27FC236}">
                <a16:creationId xmlns:a16="http://schemas.microsoft.com/office/drawing/2014/main" id="{F8E2AC79-B3F8-4A77-8271-3ECA6BCE5C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0402" y="1879557"/>
            <a:ext cx="5558514" cy="3943301"/>
          </a:xfrm>
          <a:prstGeom prst="rect">
            <a:avLst/>
          </a:prstGeom>
        </p:spPr>
      </p:pic>
      <p:sp>
        <p:nvSpPr>
          <p:cNvPr id="19" name="CuadroTexto 18">
            <a:extLst>
              <a:ext uri="{FF2B5EF4-FFF2-40B4-BE49-F238E27FC236}">
                <a16:creationId xmlns:a16="http://schemas.microsoft.com/office/drawing/2014/main" id="{07912B02-AD56-447C-9AF8-DE57542E301D}"/>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3122962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9"/>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11</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2" name="CuadroTexto 1">
            <a:extLst>
              <a:ext uri="{FF2B5EF4-FFF2-40B4-BE49-F238E27FC236}">
                <a16:creationId xmlns:a16="http://schemas.microsoft.com/office/drawing/2014/main" id="{06F303BF-EED0-4061-BB0B-B7A2BF73DEB8}"/>
              </a:ext>
            </a:extLst>
          </p:cNvPr>
          <p:cNvSpPr txBox="1"/>
          <p:nvPr/>
        </p:nvSpPr>
        <p:spPr>
          <a:xfrm>
            <a:off x="6388237" y="3605670"/>
            <a:ext cx="4145583" cy="1754326"/>
          </a:xfrm>
          <a:prstGeom prst="rect">
            <a:avLst/>
          </a:prstGeom>
          <a:noFill/>
        </p:spPr>
        <p:txBody>
          <a:bodyPr wrap="square" rtlCol="0">
            <a:spAutoFit/>
          </a:bodyPr>
          <a:lstStyle/>
          <a:p>
            <a:pPr algn="r"/>
            <a:r>
              <a:rPr lang="es-ES" sz="5400" dirty="0">
                <a:solidFill>
                  <a:srgbClr val="8D2F3C"/>
                </a:solidFill>
                <a:latin typeface="Iosevka" panose="02000509030000000004" pitchFamily="49" charset="0"/>
                <a:ea typeface="Iosevka" panose="02000509030000000004" pitchFamily="49" charset="0"/>
                <a:cs typeface="Iosevka" panose="02000509030000000004" pitchFamily="49" charset="0"/>
              </a:rPr>
              <a:t>Estudio de Mercado</a:t>
            </a:r>
            <a:endParaRPr lang="es-CO" sz="5400" dirty="0">
              <a:solidFill>
                <a:srgbClr val="8D2F3C"/>
              </a:solidFill>
              <a:latin typeface="Iosevka" panose="02000509030000000004" pitchFamily="49" charset="0"/>
              <a:ea typeface="Iosevka" panose="02000509030000000004" pitchFamily="49" charset="0"/>
              <a:cs typeface="Iosevka" panose="02000509030000000004" pitchFamily="49" charset="0"/>
            </a:endParaRPr>
          </a:p>
        </p:txBody>
      </p:sp>
      <p:sp>
        <p:nvSpPr>
          <p:cNvPr id="12" name="CuadroTexto 11">
            <a:extLst>
              <a:ext uri="{FF2B5EF4-FFF2-40B4-BE49-F238E27FC236}">
                <a16:creationId xmlns:a16="http://schemas.microsoft.com/office/drawing/2014/main" id="{50AD6F02-E4DB-4916-982A-B556EFBEB371}"/>
              </a:ext>
            </a:extLst>
          </p:cNvPr>
          <p:cNvSpPr txBox="1"/>
          <p:nvPr/>
        </p:nvSpPr>
        <p:spPr>
          <a:xfrm>
            <a:off x="7409620" y="2903762"/>
            <a:ext cx="3124200"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03</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pic>
        <p:nvPicPr>
          <p:cNvPr id="8" name="Imagen 7">
            <a:extLst>
              <a:ext uri="{FF2B5EF4-FFF2-40B4-BE49-F238E27FC236}">
                <a16:creationId xmlns:a16="http://schemas.microsoft.com/office/drawing/2014/main" id="{68A79749-7559-45DD-99FF-7C464C105F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522" y="1302604"/>
            <a:ext cx="4960203" cy="4960203"/>
          </a:xfrm>
          <a:prstGeom prst="rect">
            <a:avLst/>
          </a:prstGeom>
        </p:spPr>
      </p:pic>
      <p:sp>
        <p:nvSpPr>
          <p:cNvPr id="13" name="CuadroTexto 12">
            <a:extLst>
              <a:ext uri="{FF2B5EF4-FFF2-40B4-BE49-F238E27FC236}">
                <a16:creationId xmlns:a16="http://schemas.microsoft.com/office/drawing/2014/main" id="{780B02E3-8987-48D0-869A-0C7B19C207C6}"/>
              </a:ext>
            </a:extLst>
          </p:cNvPr>
          <p:cNvSpPr txBox="1"/>
          <p:nvPr/>
        </p:nvSpPr>
        <p:spPr>
          <a:xfrm>
            <a:off x="2035869" y="5743590"/>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1920996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12</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03 ESTUDIO DE MERCADO</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353960"/>
            <a:ext cx="9186988" cy="769441"/>
          </a:xfrm>
          <a:prstGeom prst="rect">
            <a:avLst/>
          </a:prstGeom>
          <a:noFill/>
        </p:spPr>
        <p:txBody>
          <a:bodyPr wrap="square" rtlCol="0">
            <a:spAutoFit/>
          </a:bodyPr>
          <a:lstStyle/>
          <a:p>
            <a:pPr algn="ctr"/>
            <a:r>
              <a:rPr lang="es-ES" sz="4400" dirty="0">
                <a:solidFill>
                  <a:srgbClr val="8D2F3C"/>
                </a:solidFill>
                <a:latin typeface="Iosevka" panose="02000509030000000004" pitchFamily="49" charset="0"/>
                <a:ea typeface="Iosevka" panose="02000509030000000004" pitchFamily="49" charset="0"/>
                <a:cs typeface="Iosevka" panose="02000509030000000004" pitchFamily="49" charset="0"/>
              </a:rPr>
              <a:t>Competencia</a:t>
            </a:r>
          </a:p>
        </p:txBody>
      </p:sp>
      <p:pic>
        <p:nvPicPr>
          <p:cNvPr id="6" name="Imagen 5">
            <a:extLst>
              <a:ext uri="{FF2B5EF4-FFF2-40B4-BE49-F238E27FC236}">
                <a16:creationId xmlns:a16="http://schemas.microsoft.com/office/drawing/2014/main" id="{DF9C93E4-284A-43E5-BA96-14974DAB9C17}"/>
              </a:ext>
            </a:extLst>
          </p:cNvPr>
          <p:cNvPicPr>
            <a:picLocks noChangeAspect="1"/>
          </p:cNvPicPr>
          <p:nvPr/>
        </p:nvPicPr>
        <p:blipFill rotWithShape="1">
          <a:blip r:embed="rId3">
            <a:extLst>
              <a:ext uri="{28A0092B-C50C-407E-A947-70E740481C1C}">
                <a14:useLocalDpi xmlns:a14="http://schemas.microsoft.com/office/drawing/2010/main" val="0"/>
              </a:ext>
            </a:extLst>
          </a:blip>
          <a:srcRect l="11432" r="40925"/>
          <a:stretch/>
        </p:blipFill>
        <p:spPr>
          <a:xfrm>
            <a:off x="1590260" y="2410560"/>
            <a:ext cx="2955236" cy="1827900"/>
          </a:xfrm>
          <a:prstGeom prst="rect">
            <a:avLst/>
          </a:prstGeom>
        </p:spPr>
      </p:pic>
      <p:pic>
        <p:nvPicPr>
          <p:cNvPr id="9" name="Imagen 8">
            <a:extLst>
              <a:ext uri="{FF2B5EF4-FFF2-40B4-BE49-F238E27FC236}">
                <a16:creationId xmlns:a16="http://schemas.microsoft.com/office/drawing/2014/main" id="{373F27D9-EA49-479C-B57C-32738DFEEA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95987" y="3558157"/>
            <a:ext cx="3235732" cy="1812010"/>
          </a:xfrm>
          <a:prstGeom prst="rect">
            <a:avLst/>
          </a:prstGeom>
        </p:spPr>
      </p:pic>
      <p:pic>
        <p:nvPicPr>
          <p:cNvPr id="19" name="Imagen 18">
            <a:extLst>
              <a:ext uri="{FF2B5EF4-FFF2-40B4-BE49-F238E27FC236}">
                <a16:creationId xmlns:a16="http://schemas.microsoft.com/office/drawing/2014/main" id="{226C1705-EF40-4FCF-82B6-25F64E179A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82211" y="2410560"/>
            <a:ext cx="3235732" cy="1820099"/>
          </a:xfrm>
          <a:prstGeom prst="rect">
            <a:avLst/>
          </a:prstGeom>
        </p:spPr>
      </p:pic>
      <p:sp>
        <p:nvSpPr>
          <p:cNvPr id="16" name="CuadroTexto 15">
            <a:extLst>
              <a:ext uri="{FF2B5EF4-FFF2-40B4-BE49-F238E27FC236}">
                <a16:creationId xmlns:a16="http://schemas.microsoft.com/office/drawing/2014/main" id="{927A3D74-B421-4DBB-A711-2B796F935EB1}"/>
              </a:ext>
            </a:extLst>
          </p:cNvPr>
          <p:cNvSpPr txBox="1"/>
          <p:nvPr/>
        </p:nvSpPr>
        <p:spPr>
          <a:xfrm>
            <a:off x="1387615" y="4337500"/>
            <a:ext cx="3327640" cy="830997"/>
          </a:xfrm>
          <a:prstGeom prst="rect">
            <a:avLst/>
          </a:prstGeom>
          <a:noFill/>
        </p:spPr>
        <p:txBody>
          <a:bodyPr wrap="square" rtlCol="0">
            <a:spAutoFit/>
          </a:bodyPr>
          <a:lstStyle/>
          <a:p>
            <a:pPr algn="ct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Entre nosotros, BBVA, 2024, Origen:</a:t>
            </a:r>
          </a:p>
          <a:p>
            <a:pPr algn="ct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https://view.ceros.com/avalon/bbva-entre-nosotros-13/p/4</a:t>
            </a:r>
            <a:endParaRPr lang="es-CO"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20" name="CuadroTexto 19">
            <a:extLst>
              <a:ext uri="{FF2B5EF4-FFF2-40B4-BE49-F238E27FC236}">
                <a16:creationId xmlns:a16="http://schemas.microsoft.com/office/drawing/2014/main" id="{0E7FB5C1-ECAB-447C-B665-F18103CFD80E}"/>
              </a:ext>
            </a:extLst>
          </p:cNvPr>
          <p:cNvSpPr txBox="1"/>
          <p:nvPr/>
        </p:nvSpPr>
        <p:spPr>
          <a:xfrm>
            <a:off x="7616304" y="4298779"/>
            <a:ext cx="3981282" cy="1354217"/>
          </a:xfrm>
          <a:prstGeom prst="rect">
            <a:avLst/>
          </a:prstGeom>
          <a:noFill/>
        </p:spPr>
        <p:txBody>
          <a:bodyPr wrap="square" rtlCol="0">
            <a:spAutoFit/>
          </a:bodyPr>
          <a:lstStyle/>
          <a:p>
            <a:pPr algn="ct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sz="1600"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Nequi</a:t>
            </a: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renueva su imagen: cuenta con más de 17,5 millones de clientes en Colombia, Neira J. G., Valora </a:t>
            </a:r>
            <a:r>
              <a:rPr lang="es-ES" sz="1600"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Analitik</a:t>
            </a: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2023, Recuperado de: https://www.valoraanalitik.com/nequi-renueva-su-imagen-cuenta-con-mas-de-17-5-millones-de</a:t>
            </a:r>
          </a:p>
          <a:p>
            <a:pPr algn="ct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clientes-en-</a:t>
            </a:r>
            <a:r>
              <a:rPr lang="es-ES" sz="1600"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colombia</a:t>
            </a: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a:t>
            </a:r>
            <a:endParaRPr lang="es-CO"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21" name="CuadroTexto 20">
            <a:extLst>
              <a:ext uri="{FF2B5EF4-FFF2-40B4-BE49-F238E27FC236}">
                <a16:creationId xmlns:a16="http://schemas.microsoft.com/office/drawing/2014/main" id="{20ADE094-E39D-4975-8BA0-68FFAC5E121A}"/>
              </a:ext>
            </a:extLst>
          </p:cNvPr>
          <p:cNvSpPr txBox="1"/>
          <p:nvPr/>
        </p:nvSpPr>
        <p:spPr>
          <a:xfrm>
            <a:off x="3167270" y="5504040"/>
            <a:ext cx="5751443" cy="1107996"/>
          </a:xfrm>
          <a:prstGeom prst="rect">
            <a:avLst/>
          </a:prstGeom>
          <a:noFill/>
        </p:spPr>
        <p:txBody>
          <a:bodyPr wrap="square" rtlCol="0">
            <a:spAutoFit/>
          </a:bodyPr>
          <a:lstStyle/>
          <a:p>
            <a:pPr algn="ct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Qué es </a:t>
            </a:r>
            <a:r>
              <a:rPr lang="es-ES" sz="1600"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Fintonic</a:t>
            </a: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y cómo nos puede ayudar en el</a:t>
            </a:r>
          </a:p>
          <a:p>
            <a:pPr algn="ct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control financiero, Ruiz R., 2019, Recuperado de: https://eiposgrados.com/blog-direccion-financiera/que-es-fintonic-y-como-nos-puede-ayudar-en-el-control-financiero/</a:t>
            </a:r>
          </a:p>
          <a:p>
            <a:pPr algn="ctr"/>
            <a:endParaRPr lang="es-CO"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710599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13</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03 ESTUDIO DE MERCADO</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637040" y="1115416"/>
            <a:ext cx="9186988" cy="769441"/>
          </a:xfrm>
          <a:prstGeom prst="rect">
            <a:avLst/>
          </a:prstGeom>
          <a:noFill/>
        </p:spPr>
        <p:txBody>
          <a:bodyPr wrap="square" rtlCol="0">
            <a:spAutoFit/>
          </a:bodyPr>
          <a:lstStyle/>
          <a:p>
            <a:pPr algn="ctr"/>
            <a:r>
              <a:rPr lang="es-ES" sz="4400" dirty="0">
                <a:solidFill>
                  <a:srgbClr val="8D2F3C"/>
                </a:solidFill>
                <a:latin typeface="Iosevka" panose="02000509030000000004" pitchFamily="49" charset="0"/>
                <a:ea typeface="Iosevka" panose="02000509030000000004" pitchFamily="49" charset="0"/>
                <a:cs typeface="Iosevka" panose="02000509030000000004" pitchFamily="49" charset="0"/>
              </a:rPr>
              <a:t>Las 5 Fuerzas de Porter</a:t>
            </a:r>
          </a:p>
        </p:txBody>
      </p:sp>
      <p:pic>
        <p:nvPicPr>
          <p:cNvPr id="6" name="Imagen 5">
            <a:extLst>
              <a:ext uri="{FF2B5EF4-FFF2-40B4-BE49-F238E27FC236}">
                <a16:creationId xmlns:a16="http://schemas.microsoft.com/office/drawing/2014/main" id="{D2360408-F8BC-40D5-AAC7-E2464BFA34D5}"/>
              </a:ext>
            </a:extLst>
          </p:cNvPr>
          <p:cNvPicPr>
            <a:picLocks noChangeAspect="1"/>
          </p:cNvPicPr>
          <p:nvPr/>
        </p:nvPicPr>
        <p:blipFill rotWithShape="1">
          <a:blip r:embed="rId3">
            <a:extLst>
              <a:ext uri="{28A0092B-C50C-407E-A947-70E740481C1C}">
                <a14:useLocalDpi xmlns:a14="http://schemas.microsoft.com/office/drawing/2010/main" val="0"/>
              </a:ext>
            </a:extLst>
          </a:blip>
          <a:srcRect t="28083" b="10415"/>
          <a:stretch/>
        </p:blipFill>
        <p:spPr>
          <a:xfrm>
            <a:off x="122018" y="2723161"/>
            <a:ext cx="5457148" cy="1514962"/>
          </a:xfrm>
          <a:prstGeom prst="rect">
            <a:avLst/>
          </a:prstGeom>
        </p:spPr>
      </p:pic>
      <p:sp>
        <p:nvSpPr>
          <p:cNvPr id="16" name="CuadroTexto 15">
            <a:extLst>
              <a:ext uri="{FF2B5EF4-FFF2-40B4-BE49-F238E27FC236}">
                <a16:creationId xmlns:a16="http://schemas.microsoft.com/office/drawing/2014/main" id="{A9B4A806-31EA-496A-8444-DCB429C9987C}"/>
              </a:ext>
            </a:extLst>
          </p:cNvPr>
          <p:cNvSpPr txBox="1"/>
          <p:nvPr/>
        </p:nvSpPr>
        <p:spPr>
          <a:xfrm>
            <a:off x="5486400" y="2775822"/>
            <a:ext cx="4876800" cy="1938992"/>
          </a:xfrm>
          <a:prstGeom prst="rect">
            <a:avLst/>
          </a:prstGeom>
          <a:noFill/>
        </p:spPr>
        <p:txBody>
          <a:bodyPr wrap="square" rtlCol="0">
            <a:spAutoFit/>
          </a:bodyPr>
          <a:lstStyle/>
          <a:p>
            <a:pPr marL="457200" indent="-457200">
              <a:buAutoNum type="arabicParenR"/>
            </a:pPr>
            <a:r>
              <a:rPr lang="es-ES" sz="2400" dirty="0">
                <a:solidFill>
                  <a:srgbClr val="8D2F3C"/>
                </a:solidFill>
                <a:latin typeface="Maleo" panose="02000006070000000000" pitchFamily="2" charset="0"/>
                <a:ea typeface="Maleo" panose="02000006070000000000" pitchFamily="2" charset="0"/>
                <a:cs typeface="Maleo" panose="02000006070000000000" pitchFamily="2" charset="0"/>
              </a:rPr>
              <a:t>Poder del cliente (Baja)</a:t>
            </a:r>
          </a:p>
          <a:p>
            <a:pPr marL="457200" indent="-457200">
              <a:buFont typeface="+mj-lt"/>
              <a:buAutoNum type="arabicParenR" startAt="2"/>
            </a:pPr>
            <a:r>
              <a:rPr lang="es-ES" sz="2400" dirty="0">
                <a:solidFill>
                  <a:srgbClr val="8D2F3C"/>
                </a:solidFill>
                <a:latin typeface="Maleo" panose="02000006070000000000" pitchFamily="2" charset="0"/>
                <a:ea typeface="Maleo" panose="02000006070000000000" pitchFamily="2" charset="0"/>
                <a:cs typeface="Maleo" panose="02000006070000000000" pitchFamily="2" charset="0"/>
              </a:rPr>
              <a:t>Poder del proveedor (Alta)</a:t>
            </a:r>
          </a:p>
          <a:p>
            <a:pPr marL="457200" indent="-457200">
              <a:buFont typeface="+mj-lt"/>
              <a:buAutoNum type="arabicParenR" startAt="3"/>
            </a:pPr>
            <a:r>
              <a:rPr lang="es-ES" sz="2400" dirty="0">
                <a:solidFill>
                  <a:srgbClr val="8D2F3C"/>
                </a:solidFill>
                <a:latin typeface="Maleo" panose="02000006070000000000" pitchFamily="2" charset="0"/>
                <a:ea typeface="Maleo" panose="02000006070000000000" pitchFamily="2" charset="0"/>
                <a:cs typeface="Maleo" panose="02000006070000000000" pitchFamily="2" charset="0"/>
              </a:rPr>
              <a:t>Nuevos competidores entrantes (Moderada)</a:t>
            </a:r>
          </a:p>
          <a:p>
            <a:pPr marL="457200" indent="-457200">
              <a:buFont typeface="+mj-lt"/>
              <a:buAutoNum type="arabicParenR" startAt="4"/>
            </a:pPr>
            <a:r>
              <a:rPr lang="es-ES" sz="2400" dirty="0">
                <a:solidFill>
                  <a:srgbClr val="8D2F3C"/>
                </a:solidFill>
                <a:latin typeface="Maleo" panose="02000006070000000000" pitchFamily="2" charset="0"/>
                <a:ea typeface="Maleo" panose="02000006070000000000" pitchFamily="2" charset="0"/>
                <a:cs typeface="Maleo" panose="02000006070000000000" pitchFamily="2" charset="0"/>
              </a:rPr>
              <a:t>Amenazas de sustitutivos (Moderada)</a:t>
            </a:r>
          </a:p>
          <a:p>
            <a:pPr marL="457200" indent="-457200">
              <a:buFont typeface="+mj-lt"/>
              <a:buAutoNum type="arabicParenR" startAt="5"/>
            </a:pPr>
            <a:r>
              <a:rPr lang="es-ES" sz="2400" dirty="0">
                <a:solidFill>
                  <a:srgbClr val="8D2F3C"/>
                </a:solidFill>
                <a:latin typeface="Maleo" panose="02000006070000000000" pitchFamily="2" charset="0"/>
                <a:ea typeface="Maleo" panose="02000006070000000000" pitchFamily="2" charset="0"/>
                <a:cs typeface="Maleo" panose="02000006070000000000" pitchFamily="2" charset="0"/>
              </a:rPr>
              <a:t>Naturaleza de rivalidad (Baja)</a:t>
            </a:r>
          </a:p>
        </p:txBody>
      </p:sp>
      <p:sp>
        <p:nvSpPr>
          <p:cNvPr id="20" name="CuadroTexto 19">
            <a:extLst>
              <a:ext uri="{FF2B5EF4-FFF2-40B4-BE49-F238E27FC236}">
                <a16:creationId xmlns:a16="http://schemas.microsoft.com/office/drawing/2014/main" id="{7C5D1148-E23E-4C13-9F8C-F10E627FB931}"/>
              </a:ext>
            </a:extLst>
          </p:cNvPr>
          <p:cNvSpPr txBox="1"/>
          <p:nvPr/>
        </p:nvSpPr>
        <p:spPr>
          <a:xfrm>
            <a:off x="265043" y="4316288"/>
            <a:ext cx="5192105" cy="584775"/>
          </a:xfrm>
          <a:prstGeom prst="rect">
            <a:avLst/>
          </a:prstGeom>
          <a:noFill/>
        </p:spPr>
        <p:txBody>
          <a:bodyPr wrap="square" rtlCol="0">
            <a:spAutoFit/>
          </a:bodyPr>
          <a:lstStyle/>
          <a:p>
            <a:pPr algn="ctr"/>
            <a:r>
              <a:rPr lang="es-ES"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5 fuerzas de Porter: análisis de las fuerzas competitivas de una empresa, 2025, Recuperado de: https://thepower.education/blog/business/las-5-fuerzas-de-porter</a:t>
            </a:r>
            <a:endParaRPr lang="es-CO" sz="1600"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2521162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14</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2" name="CuadroTexto 1">
            <a:extLst>
              <a:ext uri="{FF2B5EF4-FFF2-40B4-BE49-F238E27FC236}">
                <a16:creationId xmlns:a16="http://schemas.microsoft.com/office/drawing/2014/main" id="{06F303BF-EED0-4061-BB0B-B7A2BF73DEB8}"/>
              </a:ext>
            </a:extLst>
          </p:cNvPr>
          <p:cNvSpPr txBox="1"/>
          <p:nvPr/>
        </p:nvSpPr>
        <p:spPr>
          <a:xfrm>
            <a:off x="6388237" y="3605670"/>
            <a:ext cx="4145583" cy="1754326"/>
          </a:xfrm>
          <a:prstGeom prst="rect">
            <a:avLst/>
          </a:prstGeom>
          <a:noFill/>
        </p:spPr>
        <p:txBody>
          <a:bodyPr wrap="square" rtlCol="0">
            <a:spAutoFit/>
          </a:bodyPr>
          <a:lstStyle/>
          <a:p>
            <a:pPr algn="r"/>
            <a:r>
              <a:rPr lang="es-ES" sz="5400" dirty="0">
                <a:solidFill>
                  <a:srgbClr val="8D2F3C"/>
                </a:solidFill>
                <a:latin typeface="Iosevka" panose="02000509030000000004" pitchFamily="49" charset="0"/>
                <a:ea typeface="Iosevka" panose="02000509030000000004" pitchFamily="49" charset="0"/>
                <a:cs typeface="Iosevka" panose="02000509030000000004" pitchFamily="49" charset="0"/>
              </a:rPr>
              <a:t>Modelo de Negocio</a:t>
            </a:r>
            <a:endParaRPr lang="es-CO" sz="5400" dirty="0">
              <a:solidFill>
                <a:srgbClr val="8D2F3C"/>
              </a:solidFill>
              <a:latin typeface="Iosevka" panose="02000509030000000004" pitchFamily="49" charset="0"/>
              <a:ea typeface="Iosevka" panose="02000509030000000004" pitchFamily="49" charset="0"/>
              <a:cs typeface="Iosevka" panose="02000509030000000004" pitchFamily="49" charset="0"/>
            </a:endParaRPr>
          </a:p>
        </p:txBody>
      </p:sp>
      <p:sp>
        <p:nvSpPr>
          <p:cNvPr id="12" name="CuadroTexto 11">
            <a:extLst>
              <a:ext uri="{FF2B5EF4-FFF2-40B4-BE49-F238E27FC236}">
                <a16:creationId xmlns:a16="http://schemas.microsoft.com/office/drawing/2014/main" id="{50AD6F02-E4DB-4916-982A-B556EFBEB371}"/>
              </a:ext>
            </a:extLst>
          </p:cNvPr>
          <p:cNvSpPr txBox="1"/>
          <p:nvPr/>
        </p:nvSpPr>
        <p:spPr>
          <a:xfrm>
            <a:off x="7409620" y="2903762"/>
            <a:ext cx="3124200"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04</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sp>
        <p:nvSpPr>
          <p:cNvPr id="13" name="CuadroTexto 12">
            <a:extLst>
              <a:ext uri="{FF2B5EF4-FFF2-40B4-BE49-F238E27FC236}">
                <a16:creationId xmlns:a16="http://schemas.microsoft.com/office/drawing/2014/main" id="{4EA3692A-48FB-4373-9D92-6C2B0ED2B09C}"/>
              </a:ext>
            </a:extLst>
          </p:cNvPr>
          <p:cNvSpPr txBox="1"/>
          <p:nvPr/>
        </p:nvSpPr>
        <p:spPr>
          <a:xfrm>
            <a:off x="2368576" y="5340622"/>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7" name="Imagen 6">
            <a:extLst>
              <a:ext uri="{FF2B5EF4-FFF2-40B4-BE49-F238E27FC236}">
                <a16:creationId xmlns:a16="http://schemas.microsoft.com/office/drawing/2014/main" id="{6306F7AD-9F8A-43FD-A5FC-B7D23300FBBC}"/>
              </a:ext>
            </a:extLst>
          </p:cNvPr>
          <p:cNvPicPr>
            <a:picLocks noChangeAspect="1"/>
          </p:cNvPicPr>
          <p:nvPr/>
        </p:nvPicPr>
        <p:blipFill rotWithShape="1">
          <a:blip r:embed="rId3">
            <a:extLst>
              <a:ext uri="{28A0092B-C50C-407E-A947-70E740481C1C}">
                <a14:useLocalDpi xmlns:a14="http://schemas.microsoft.com/office/drawing/2010/main" val="0"/>
              </a:ext>
            </a:extLst>
          </a:blip>
          <a:srcRect t="21073" b="17581"/>
          <a:stretch/>
        </p:blipFill>
        <p:spPr>
          <a:xfrm>
            <a:off x="1109621" y="1804491"/>
            <a:ext cx="5764340" cy="3536131"/>
          </a:xfrm>
          <a:prstGeom prst="rect">
            <a:avLst/>
          </a:prstGeom>
        </p:spPr>
      </p:pic>
    </p:spTree>
    <p:extLst>
      <p:ext uri="{BB962C8B-B14F-4D97-AF65-F5344CB8AC3E}">
        <p14:creationId xmlns:p14="http://schemas.microsoft.com/office/powerpoint/2010/main" val="2859399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15</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04 MODELO DE NEGOCIO</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0" y="1115416"/>
            <a:ext cx="12192000" cy="769441"/>
          </a:xfrm>
          <a:prstGeom prst="rect">
            <a:avLst/>
          </a:prstGeom>
          <a:noFill/>
        </p:spPr>
        <p:txBody>
          <a:bodyPr wrap="square" rtlCol="0">
            <a:spAutoFit/>
          </a:bodyPr>
          <a:lstStyle/>
          <a:p>
            <a:pPr algn="ctr"/>
            <a:r>
              <a:rPr lang="es-ES" sz="4400" dirty="0">
                <a:solidFill>
                  <a:srgbClr val="8D2F3C"/>
                </a:solidFill>
                <a:latin typeface="Iosevka" panose="02000509030000000004" pitchFamily="49" charset="0"/>
                <a:ea typeface="Iosevka" panose="02000509030000000004" pitchFamily="49" charset="0"/>
                <a:cs typeface="Iosevka" panose="02000509030000000004" pitchFamily="49" charset="0"/>
              </a:rPr>
              <a:t>Modelo </a:t>
            </a:r>
            <a:r>
              <a:rPr lang="es-ES" sz="4400" dirty="0" err="1">
                <a:solidFill>
                  <a:srgbClr val="8D2F3C"/>
                </a:solidFill>
                <a:latin typeface="Iosevka" panose="02000509030000000004" pitchFamily="49" charset="0"/>
                <a:ea typeface="Iosevka" panose="02000509030000000004" pitchFamily="49" charset="0"/>
                <a:cs typeface="Iosevka" panose="02000509030000000004" pitchFamily="49" charset="0"/>
              </a:rPr>
              <a:t>Canvas</a:t>
            </a:r>
            <a:endParaRPr lang="es-ES" sz="4400" dirty="0">
              <a:solidFill>
                <a:srgbClr val="8D2F3C"/>
              </a:solidFill>
              <a:latin typeface="Iosevka" panose="02000509030000000004" pitchFamily="49" charset="0"/>
              <a:ea typeface="Iosevka" panose="02000509030000000004" pitchFamily="49" charset="0"/>
              <a:cs typeface="Iosevka" panose="02000509030000000004" pitchFamily="49" charset="0"/>
            </a:endParaRPr>
          </a:p>
        </p:txBody>
      </p:sp>
      <p:pic>
        <p:nvPicPr>
          <p:cNvPr id="7" name="Imagen 6">
            <a:extLst>
              <a:ext uri="{FF2B5EF4-FFF2-40B4-BE49-F238E27FC236}">
                <a16:creationId xmlns:a16="http://schemas.microsoft.com/office/drawing/2014/main" id="{828F54BC-09FD-499B-BA40-2DEDB1609B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1312" y="1818597"/>
            <a:ext cx="6052931" cy="4250477"/>
          </a:xfrm>
          <a:prstGeom prst="rect">
            <a:avLst/>
          </a:prstGeom>
        </p:spPr>
      </p:pic>
      <p:sp>
        <p:nvSpPr>
          <p:cNvPr id="16" name="CuadroTexto 15">
            <a:extLst>
              <a:ext uri="{FF2B5EF4-FFF2-40B4-BE49-F238E27FC236}">
                <a16:creationId xmlns:a16="http://schemas.microsoft.com/office/drawing/2014/main" id="{5B053B76-1B6C-442A-BDFA-3C4ACF9B4733}"/>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1293695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16</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9594575" y="1066344"/>
            <a:ext cx="2109027"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04 MODELO DE NEGOCIO</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554610"/>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Características del Modelo de Negocio</a:t>
            </a:r>
          </a:p>
        </p:txBody>
      </p:sp>
      <p:sp>
        <p:nvSpPr>
          <p:cNvPr id="12" name="CuadroTexto 11">
            <a:extLst>
              <a:ext uri="{FF2B5EF4-FFF2-40B4-BE49-F238E27FC236}">
                <a16:creationId xmlns:a16="http://schemas.microsoft.com/office/drawing/2014/main" id="{7748A24D-0A2D-4262-AB86-37FBF30FDF46}"/>
              </a:ext>
            </a:extLst>
          </p:cNvPr>
          <p:cNvSpPr txBox="1"/>
          <p:nvPr/>
        </p:nvSpPr>
        <p:spPr>
          <a:xfrm>
            <a:off x="869276" y="2714547"/>
            <a:ext cx="888219"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01</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sp>
        <p:nvSpPr>
          <p:cNvPr id="16" name="CuadroTexto 15">
            <a:extLst>
              <a:ext uri="{FF2B5EF4-FFF2-40B4-BE49-F238E27FC236}">
                <a16:creationId xmlns:a16="http://schemas.microsoft.com/office/drawing/2014/main" id="{6BCCD204-6785-4C4E-86C5-3500C846390E}"/>
              </a:ext>
            </a:extLst>
          </p:cNvPr>
          <p:cNvSpPr txBox="1"/>
          <p:nvPr/>
        </p:nvSpPr>
        <p:spPr>
          <a:xfrm>
            <a:off x="869276" y="4613744"/>
            <a:ext cx="888219"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02</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sp>
        <p:nvSpPr>
          <p:cNvPr id="19" name="CuadroTexto 18">
            <a:extLst>
              <a:ext uri="{FF2B5EF4-FFF2-40B4-BE49-F238E27FC236}">
                <a16:creationId xmlns:a16="http://schemas.microsoft.com/office/drawing/2014/main" id="{00D2631A-8E4C-44E4-9649-F46301566DCB}"/>
              </a:ext>
            </a:extLst>
          </p:cNvPr>
          <p:cNvSpPr txBox="1"/>
          <p:nvPr/>
        </p:nvSpPr>
        <p:spPr>
          <a:xfrm>
            <a:off x="6289712" y="2714547"/>
            <a:ext cx="888219"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03</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sp>
        <p:nvSpPr>
          <p:cNvPr id="20" name="CuadroTexto 19">
            <a:extLst>
              <a:ext uri="{FF2B5EF4-FFF2-40B4-BE49-F238E27FC236}">
                <a16:creationId xmlns:a16="http://schemas.microsoft.com/office/drawing/2014/main" id="{75D2E2E0-844C-4007-A842-5A23562853A4}"/>
              </a:ext>
            </a:extLst>
          </p:cNvPr>
          <p:cNvSpPr txBox="1"/>
          <p:nvPr/>
        </p:nvSpPr>
        <p:spPr>
          <a:xfrm>
            <a:off x="6289712" y="4613744"/>
            <a:ext cx="888219"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04</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sp>
        <p:nvSpPr>
          <p:cNvPr id="21" name="CuadroTexto 20">
            <a:extLst>
              <a:ext uri="{FF2B5EF4-FFF2-40B4-BE49-F238E27FC236}">
                <a16:creationId xmlns:a16="http://schemas.microsoft.com/office/drawing/2014/main" id="{D807682A-4B79-4150-BDBA-78B64B7D706F}"/>
              </a:ext>
            </a:extLst>
          </p:cNvPr>
          <p:cNvSpPr txBox="1"/>
          <p:nvPr/>
        </p:nvSpPr>
        <p:spPr>
          <a:xfrm>
            <a:off x="1716552" y="2576047"/>
            <a:ext cx="4379448" cy="1446550"/>
          </a:xfrm>
          <a:prstGeom prst="rect">
            <a:avLst/>
          </a:prstGeom>
          <a:noFill/>
        </p:spPr>
        <p:txBody>
          <a:bodyPr wrap="square">
            <a:spAutoFit/>
          </a:bodyPr>
          <a:lstStyle/>
          <a:p>
            <a:pPr algn="just"/>
            <a:r>
              <a:rPr lang="es-ES" sz="2800" dirty="0">
                <a:solidFill>
                  <a:srgbClr val="8D2F3C"/>
                </a:solidFill>
                <a:latin typeface="Maleo" panose="02000006070000000000" pitchFamily="2" charset="0"/>
                <a:ea typeface="Maleo" panose="02000006070000000000" pitchFamily="2" charset="0"/>
                <a:cs typeface="Maleo" panose="02000006070000000000" pitchFamily="2" charset="0"/>
              </a:rPr>
              <a:t>Accesibilidad</a:t>
            </a:r>
          </a:p>
          <a:p>
            <a:pPr algn="just"/>
            <a:r>
              <a:rPr lang="es-ES" sz="2000" dirty="0">
                <a:latin typeface="Maleo" panose="02000006070000000000" pitchFamily="2" charset="0"/>
                <a:ea typeface="Maleo" panose="02000006070000000000" pitchFamily="2" charset="0"/>
                <a:cs typeface="Maleo" panose="02000006070000000000" pitchFamily="2" charset="0"/>
              </a:rPr>
              <a:t>Garantizar el acceso a la plataforma al público objetivo mediante cualquier navegador con conexión a internet, facilitando su uso sin barreras técnicas.</a:t>
            </a:r>
          </a:p>
        </p:txBody>
      </p:sp>
      <p:sp>
        <p:nvSpPr>
          <p:cNvPr id="22" name="CuadroTexto 21">
            <a:extLst>
              <a:ext uri="{FF2B5EF4-FFF2-40B4-BE49-F238E27FC236}">
                <a16:creationId xmlns:a16="http://schemas.microsoft.com/office/drawing/2014/main" id="{D6BAEED8-B7B9-45FF-BDA6-566EAB188AEC}"/>
              </a:ext>
            </a:extLst>
          </p:cNvPr>
          <p:cNvSpPr txBox="1"/>
          <p:nvPr/>
        </p:nvSpPr>
        <p:spPr>
          <a:xfrm>
            <a:off x="1716552" y="4510402"/>
            <a:ext cx="4379448" cy="1446550"/>
          </a:xfrm>
          <a:prstGeom prst="rect">
            <a:avLst/>
          </a:prstGeom>
          <a:noFill/>
        </p:spPr>
        <p:txBody>
          <a:bodyPr wrap="square">
            <a:spAutoFit/>
          </a:bodyPr>
          <a:lstStyle/>
          <a:p>
            <a:pPr algn="just"/>
            <a:r>
              <a:rPr lang="es-ES" sz="2800" dirty="0">
                <a:solidFill>
                  <a:srgbClr val="8D2F3C"/>
                </a:solidFill>
                <a:latin typeface="Maleo" panose="02000006070000000000" pitchFamily="2" charset="0"/>
                <a:ea typeface="Maleo" panose="02000006070000000000" pitchFamily="2" charset="0"/>
                <a:cs typeface="Maleo" panose="02000006070000000000" pitchFamily="2" charset="0"/>
              </a:rPr>
              <a:t>Escalabilidad</a:t>
            </a:r>
          </a:p>
          <a:p>
            <a:pPr algn="just"/>
            <a:r>
              <a:rPr lang="es-ES" sz="2000" dirty="0">
                <a:latin typeface="Maleo" panose="02000006070000000000" pitchFamily="2" charset="0"/>
                <a:ea typeface="Maleo" panose="02000006070000000000" pitchFamily="2" charset="0"/>
                <a:cs typeface="Maleo" panose="02000006070000000000" pitchFamily="2" charset="0"/>
              </a:rPr>
              <a:t>Innovación contante del producto con el objetivo de ofrecer nuevas capacidades y servicios. Sin perder calidad en el servicios ni en el rendimiento del sistema.</a:t>
            </a:r>
          </a:p>
        </p:txBody>
      </p:sp>
      <p:sp>
        <p:nvSpPr>
          <p:cNvPr id="23" name="CuadroTexto 22">
            <a:extLst>
              <a:ext uri="{FF2B5EF4-FFF2-40B4-BE49-F238E27FC236}">
                <a16:creationId xmlns:a16="http://schemas.microsoft.com/office/drawing/2014/main" id="{0A8A16F0-3BEE-4C72-8162-F69048F3B8BB}"/>
              </a:ext>
            </a:extLst>
          </p:cNvPr>
          <p:cNvSpPr txBox="1"/>
          <p:nvPr/>
        </p:nvSpPr>
        <p:spPr>
          <a:xfrm>
            <a:off x="7213756" y="2576047"/>
            <a:ext cx="4379448" cy="1138773"/>
          </a:xfrm>
          <a:prstGeom prst="rect">
            <a:avLst/>
          </a:prstGeom>
          <a:noFill/>
        </p:spPr>
        <p:txBody>
          <a:bodyPr wrap="square">
            <a:spAutoFit/>
          </a:bodyPr>
          <a:lstStyle/>
          <a:p>
            <a:pPr algn="just"/>
            <a:r>
              <a:rPr lang="es-ES" sz="2800" dirty="0">
                <a:solidFill>
                  <a:srgbClr val="8D2F3C"/>
                </a:solidFill>
                <a:latin typeface="Maleo" panose="02000006070000000000" pitchFamily="2" charset="0"/>
                <a:ea typeface="Maleo" panose="02000006070000000000" pitchFamily="2" charset="0"/>
                <a:cs typeface="Maleo" panose="02000006070000000000" pitchFamily="2" charset="0"/>
              </a:rPr>
              <a:t>Personalización</a:t>
            </a:r>
          </a:p>
          <a:p>
            <a:pPr algn="just"/>
            <a:r>
              <a:rPr lang="es-ES" sz="2000" dirty="0">
                <a:latin typeface="Maleo" panose="02000006070000000000" pitchFamily="2" charset="0"/>
                <a:ea typeface="Maleo" panose="02000006070000000000" pitchFamily="2" charset="0"/>
                <a:cs typeface="Maleo" panose="02000006070000000000" pitchFamily="2" charset="0"/>
              </a:rPr>
              <a:t>Adaptar el contenido, recomendaciones y rutas de aprendizaje en base al perfil de cada usuario.</a:t>
            </a:r>
          </a:p>
        </p:txBody>
      </p:sp>
      <p:sp>
        <p:nvSpPr>
          <p:cNvPr id="24" name="CuadroTexto 23">
            <a:extLst>
              <a:ext uri="{FF2B5EF4-FFF2-40B4-BE49-F238E27FC236}">
                <a16:creationId xmlns:a16="http://schemas.microsoft.com/office/drawing/2014/main" id="{1685B384-0821-4ED0-B3D7-B9F784468DEB}"/>
              </a:ext>
            </a:extLst>
          </p:cNvPr>
          <p:cNvSpPr txBox="1"/>
          <p:nvPr/>
        </p:nvSpPr>
        <p:spPr>
          <a:xfrm>
            <a:off x="7213756" y="4471931"/>
            <a:ext cx="4379448" cy="1446550"/>
          </a:xfrm>
          <a:prstGeom prst="rect">
            <a:avLst/>
          </a:prstGeom>
          <a:noFill/>
        </p:spPr>
        <p:txBody>
          <a:bodyPr wrap="square">
            <a:spAutoFit/>
          </a:bodyPr>
          <a:lstStyle/>
          <a:p>
            <a:pPr algn="just"/>
            <a:r>
              <a:rPr lang="es-ES" sz="2800" dirty="0">
                <a:solidFill>
                  <a:srgbClr val="8D2F3C"/>
                </a:solidFill>
                <a:latin typeface="Maleo" panose="02000006070000000000" pitchFamily="2" charset="0"/>
                <a:ea typeface="Maleo" panose="02000006070000000000" pitchFamily="2" charset="0"/>
                <a:cs typeface="Maleo" panose="02000006070000000000" pitchFamily="2" charset="0"/>
              </a:rPr>
              <a:t>Interactividad</a:t>
            </a:r>
          </a:p>
          <a:p>
            <a:pPr algn="just"/>
            <a:r>
              <a:rPr lang="es-ES" sz="2000" dirty="0">
                <a:latin typeface="Maleo" panose="02000006070000000000" pitchFamily="2" charset="0"/>
                <a:ea typeface="Maleo" panose="02000006070000000000" pitchFamily="2" charset="0"/>
                <a:cs typeface="Maleo" panose="02000006070000000000" pitchFamily="2" charset="0"/>
              </a:rPr>
              <a:t>Ofrecimiento de contenidos prácticos, simulaciones y herramientas dinámicas que permitan al usuario comprender sobre finanzas de forma sencilla y aplicada.</a:t>
            </a:r>
          </a:p>
        </p:txBody>
      </p:sp>
    </p:spTree>
    <p:extLst>
      <p:ext uri="{BB962C8B-B14F-4D97-AF65-F5344CB8AC3E}">
        <p14:creationId xmlns:p14="http://schemas.microsoft.com/office/powerpoint/2010/main" val="373423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17</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9594575" y="1066344"/>
            <a:ext cx="2109027"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04 MODELO DE NEGOCIO</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554610"/>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Misión</a:t>
            </a:r>
          </a:p>
        </p:txBody>
      </p:sp>
      <p:sp>
        <p:nvSpPr>
          <p:cNvPr id="12" name="CuadroTexto 11">
            <a:extLst>
              <a:ext uri="{FF2B5EF4-FFF2-40B4-BE49-F238E27FC236}">
                <a16:creationId xmlns:a16="http://schemas.microsoft.com/office/drawing/2014/main" id="{F5351F6D-B3EA-4C5E-B4AD-7F74AC5AB695}"/>
              </a:ext>
            </a:extLst>
          </p:cNvPr>
          <p:cNvSpPr txBox="1"/>
          <p:nvPr/>
        </p:nvSpPr>
        <p:spPr>
          <a:xfrm>
            <a:off x="1126435" y="2390314"/>
            <a:ext cx="6440556" cy="2677656"/>
          </a:xfrm>
          <a:prstGeom prst="rect">
            <a:avLst/>
          </a:prstGeom>
          <a:noFill/>
        </p:spPr>
        <p:txBody>
          <a:bodyPr wrap="square" rtlCol="0">
            <a:spAutoFit/>
          </a:bodyPr>
          <a:lstStyle/>
          <a:p>
            <a:pPr algn="just"/>
            <a:r>
              <a:rPr lang="es-ES" sz="2400" dirty="0">
                <a:latin typeface="Maleo" panose="02000006070000000000" pitchFamily="2" charset="0"/>
                <a:ea typeface="Maleo" panose="02000006070000000000" pitchFamily="2" charset="0"/>
                <a:cs typeface="Maleo" panose="02000006070000000000" pitchFamily="2" charset="0"/>
              </a:rPr>
              <a:t>Empoderar a jóvenes, trabajadores informales y nómadas digitales en Bogotá mediante un eco sistema tecnológico de planificación financiera personalizado y accesible. A través de algoritmos de análisis de datos y herramientas interactivas, transformando conceptos financieros complejos en estrategias prácticas de ahorro, inversión y gestión de seguridad social, promoviendo la resiliencia económica y la bancarización efectiva en un entorno laboral digital y dinámico.</a:t>
            </a:r>
          </a:p>
        </p:txBody>
      </p:sp>
      <p:pic>
        <p:nvPicPr>
          <p:cNvPr id="6" name="Imagen 5">
            <a:extLst>
              <a:ext uri="{FF2B5EF4-FFF2-40B4-BE49-F238E27FC236}">
                <a16:creationId xmlns:a16="http://schemas.microsoft.com/office/drawing/2014/main" id="{9A6EB319-C153-4152-9E45-0A2EC138EF60}"/>
              </a:ext>
            </a:extLst>
          </p:cNvPr>
          <p:cNvPicPr>
            <a:picLocks noChangeAspect="1"/>
          </p:cNvPicPr>
          <p:nvPr/>
        </p:nvPicPr>
        <p:blipFill rotWithShape="1">
          <a:blip r:embed="rId3">
            <a:extLst>
              <a:ext uri="{28A0092B-C50C-407E-A947-70E740481C1C}">
                <a14:useLocalDpi xmlns:a14="http://schemas.microsoft.com/office/drawing/2010/main" val="0"/>
              </a:ext>
            </a:extLst>
          </a:blip>
          <a:srcRect l="5279" t="10482" r="11711" b="8659"/>
          <a:stretch/>
        </p:blipFill>
        <p:spPr>
          <a:xfrm>
            <a:off x="7566991" y="1637270"/>
            <a:ext cx="3763618" cy="3666120"/>
          </a:xfrm>
          <a:prstGeom prst="rect">
            <a:avLst/>
          </a:prstGeom>
        </p:spPr>
      </p:pic>
      <p:sp>
        <p:nvSpPr>
          <p:cNvPr id="7" name="CuadroTexto 6">
            <a:extLst>
              <a:ext uri="{FF2B5EF4-FFF2-40B4-BE49-F238E27FC236}">
                <a16:creationId xmlns:a16="http://schemas.microsoft.com/office/drawing/2014/main" id="{EBF5A8B3-13ED-43A5-8A67-85222394FD90}"/>
              </a:ext>
            </a:extLst>
          </p:cNvPr>
          <p:cNvSpPr txBox="1"/>
          <p:nvPr/>
        </p:nvSpPr>
        <p:spPr>
          <a:xfrm>
            <a:off x="7795044" y="5012107"/>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Tree>
    <p:extLst>
      <p:ext uri="{BB962C8B-B14F-4D97-AF65-F5344CB8AC3E}">
        <p14:creationId xmlns:p14="http://schemas.microsoft.com/office/powerpoint/2010/main" val="36368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18</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9594575" y="1066344"/>
            <a:ext cx="2109027"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04 MODELO DE NEGOCIO</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554610"/>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Visión</a:t>
            </a:r>
          </a:p>
        </p:txBody>
      </p:sp>
      <p:sp>
        <p:nvSpPr>
          <p:cNvPr id="12" name="CuadroTexto 11">
            <a:extLst>
              <a:ext uri="{FF2B5EF4-FFF2-40B4-BE49-F238E27FC236}">
                <a16:creationId xmlns:a16="http://schemas.microsoft.com/office/drawing/2014/main" id="{F5351F6D-B3EA-4C5E-B4AD-7F74AC5AB695}"/>
              </a:ext>
            </a:extLst>
          </p:cNvPr>
          <p:cNvSpPr txBox="1"/>
          <p:nvPr/>
        </p:nvSpPr>
        <p:spPr>
          <a:xfrm>
            <a:off x="1126435" y="2390314"/>
            <a:ext cx="5314122" cy="2677656"/>
          </a:xfrm>
          <a:prstGeom prst="rect">
            <a:avLst/>
          </a:prstGeom>
          <a:noFill/>
        </p:spPr>
        <p:txBody>
          <a:bodyPr wrap="square" rtlCol="0">
            <a:spAutoFit/>
          </a:bodyPr>
          <a:lstStyle/>
          <a:p>
            <a:pPr algn="just"/>
            <a:r>
              <a:rPr lang="es-ES" sz="2400" dirty="0">
                <a:latin typeface="Maleo" panose="02000006070000000000" pitchFamily="2" charset="0"/>
                <a:ea typeface="Maleo" panose="02000006070000000000" pitchFamily="2" charset="0"/>
                <a:cs typeface="Maleo" panose="02000006070000000000" pitchFamily="2" charset="0"/>
              </a:rPr>
              <a:t>Para el año 2030, consolidarnos como la plataforma tecnológica líder en la ciudad de Bogotá para la gestión financiera inteligente de trabajadores independientes, reconocida por nuestra capacidad de integrar la realidad del mercado laboral digital con soluciones de analítica avanzada que garanticen la seguridad socioeconómica de nuestros usuarios.</a:t>
            </a:r>
          </a:p>
        </p:txBody>
      </p:sp>
      <p:sp>
        <p:nvSpPr>
          <p:cNvPr id="7" name="CuadroTexto 6">
            <a:extLst>
              <a:ext uri="{FF2B5EF4-FFF2-40B4-BE49-F238E27FC236}">
                <a16:creationId xmlns:a16="http://schemas.microsoft.com/office/drawing/2014/main" id="{EBF5A8B3-13ED-43A5-8A67-85222394FD90}"/>
              </a:ext>
            </a:extLst>
          </p:cNvPr>
          <p:cNvSpPr txBox="1"/>
          <p:nvPr/>
        </p:nvSpPr>
        <p:spPr>
          <a:xfrm>
            <a:off x="7795044" y="5012107"/>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8" name="Imagen 7">
            <a:extLst>
              <a:ext uri="{FF2B5EF4-FFF2-40B4-BE49-F238E27FC236}">
                <a16:creationId xmlns:a16="http://schemas.microsoft.com/office/drawing/2014/main" id="{86AD596D-45DC-4DA5-A2AF-6A84594B7E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0414" y="1335069"/>
            <a:ext cx="3968321" cy="3968321"/>
          </a:xfrm>
          <a:prstGeom prst="rect">
            <a:avLst/>
          </a:prstGeom>
        </p:spPr>
      </p:pic>
    </p:spTree>
    <p:extLst>
      <p:ext uri="{BB962C8B-B14F-4D97-AF65-F5344CB8AC3E}">
        <p14:creationId xmlns:p14="http://schemas.microsoft.com/office/powerpoint/2010/main" val="2820828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19</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9594575" y="1066344"/>
            <a:ext cx="2109027"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04 MODELO DE NEGOCIO</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803400" y="1555799"/>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Equipo</a:t>
            </a:r>
          </a:p>
        </p:txBody>
      </p:sp>
      <p:pic>
        <p:nvPicPr>
          <p:cNvPr id="6" name="Imagen 5">
            <a:extLst>
              <a:ext uri="{FF2B5EF4-FFF2-40B4-BE49-F238E27FC236}">
                <a16:creationId xmlns:a16="http://schemas.microsoft.com/office/drawing/2014/main" id="{88CEB84E-B5D2-4034-8280-2E23752F7A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964" y="2394361"/>
            <a:ext cx="2458871" cy="2536056"/>
          </a:xfrm>
          <a:prstGeom prst="rect">
            <a:avLst/>
          </a:prstGeom>
          <a:ln w="38100">
            <a:solidFill>
              <a:srgbClr val="8D2F3C"/>
            </a:solidFill>
          </a:ln>
        </p:spPr>
      </p:pic>
      <p:sp>
        <p:nvSpPr>
          <p:cNvPr id="19" name="CuadroTexto 18">
            <a:extLst>
              <a:ext uri="{FF2B5EF4-FFF2-40B4-BE49-F238E27FC236}">
                <a16:creationId xmlns:a16="http://schemas.microsoft.com/office/drawing/2014/main" id="{E4C97890-18F8-43D7-AA41-94AA66B05265}"/>
              </a:ext>
            </a:extLst>
          </p:cNvPr>
          <p:cNvSpPr txBox="1"/>
          <p:nvPr/>
        </p:nvSpPr>
        <p:spPr>
          <a:xfrm>
            <a:off x="2279176" y="5097259"/>
            <a:ext cx="3084394" cy="1077218"/>
          </a:xfrm>
          <a:prstGeom prst="rect">
            <a:avLst/>
          </a:prstGeom>
          <a:noFill/>
        </p:spPr>
        <p:txBody>
          <a:bodyPr wrap="square" rtlCol="0">
            <a:spAutoFit/>
          </a:bodyPr>
          <a:lstStyle/>
          <a:p>
            <a:pPr algn="ctr"/>
            <a:r>
              <a:rPr lang="es-ES" sz="2400" dirty="0">
                <a:solidFill>
                  <a:srgbClr val="8D2F3C"/>
                </a:solidFill>
                <a:latin typeface="Maleo" panose="02000006070000000000" pitchFamily="2" charset="0"/>
                <a:ea typeface="Maleo" panose="02000006070000000000" pitchFamily="2" charset="0"/>
                <a:cs typeface="Maleo" panose="02000006070000000000" pitchFamily="2" charset="0"/>
              </a:rPr>
              <a:t>David Leonardo Rincón Ovalle</a:t>
            </a:r>
          </a:p>
          <a:p>
            <a:pPr algn="ctr"/>
            <a:r>
              <a:rPr lang="es-ES" sz="2000" dirty="0">
                <a:latin typeface="Maleo" panose="02000006070000000000" pitchFamily="2" charset="0"/>
                <a:ea typeface="Maleo" panose="02000006070000000000" pitchFamily="2" charset="0"/>
                <a:cs typeface="Maleo" panose="02000006070000000000" pitchFamily="2" charset="0"/>
              </a:rPr>
              <a:t>Gerente general</a:t>
            </a:r>
          </a:p>
          <a:p>
            <a:pPr marL="457200" indent="-457200" algn="ctr">
              <a:buAutoNum type="arabicParenR"/>
            </a:pPr>
            <a:endParaRPr lang="es-ES" sz="20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sp>
        <p:nvSpPr>
          <p:cNvPr id="20" name="CuadroTexto 19">
            <a:extLst>
              <a:ext uri="{FF2B5EF4-FFF2-40B4-BE49-F238E27FC236}">
                <a16:creationId xmlns:a16="http://schemas.microsoft.com/office/drawing/2014/main" id="{89EDACD4-0F80-41A9-BDC4-89D8B3B370E6}"/>
              </a:ext>
            </a:extLst>
          </p:cNvPr>
          <p:cNvSpPr txBox="1"/>
          <p:nvPr/>
        </p:nvSpPr>
        <p:spPr>
          <a:xfrm>
            <a:off x="7017223" y="5100639"/>
            <a:ext cx="3084394" cy="1077218"/>
          </a:xfrm>
          <a:prstGeom prst="rect">
            <a:avLst/>
          </a:prstGeom>
          <a:noFill/>
        </p:spPr>
        <p:txBody>
          <a:bodyPr wrap="square" rtlCol="0">
            <a:spAutoFit/>
          </a:bodyPr>
          <a:lstStyle/>
          <a:p>
            <a:pPr algn="ctr"/>
            <a:r>
              <a:rPr lang="es-ES" sz="2400" dirty="0">
                <a:solidFill>
                  <a:srgbClr val="8D2F3C"/>
                </a:solidFill>
                <a:latin typeface="Maleo" panose="02000006070000000000" pitchFamily="2" charset="0"/>
                <a:ea typeface="Maleo" panose="02000006070000000000" pitchFamily="2" charset="0"/>
                <a:cs typeface="Maleo" panose="02000006070000000000" pitchFamily="2" charset="0"/>
              </a:rPr>
              <a:t>Leidy Marcela Morales Segura</a:t>
            </a:r>
          </a:p>
          <a:p>
            <a:pPr algn="ctr"/>
            <a:r>
              <a:rPr lang="es-ES" sz="2000" dirty="0">
                <a:latin typeface="Maleo" panose="02000006070000000000" pitchFamily="2" charset="0"/>
                <a:ea typeface="Maleo" panose="02000006070000000000" pitchFamily="2" charset="0"/>
                <a:cs typeface="Maleo" panose="02000006070000000000" pitchFamily="2" charset="0"/>
              </a:rPr>
              <a:t>Directora del departamento de I+D+I</a:t>
            </a:r>
          </a:p>
          <a:p>
            <a:pPr marL="457200" indent="-457200" algn="ctr">
              <a:buAutoNum type="arabicParenR"/>
            </a:pPr>
            <a:endParaRPr lang="es-ES" sz="20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sp>
        <p:nvSpPr>
          <p:cNvPr id="9" name="CuadroTexto 8">
            <a:extLst>
              <a:ext uri="{FF2B5EF4-FFF2-40B4-BE49-F238E27FC236}">
                <a16:creationId xmlns:a16="http://schemas.microsoft.com/office/drawing/2014/main" id="{7C716853-C0F6-4AB1-A08F-4EE7735A54B1}"/>
              </a:ext>
            </a:extLst>
          </p:cNvPr>
          <p:cNvSpPr txBox="1"/>
          <p:nvPr/>
        </p:nvSpPr>
        <p:spPr>
          <a:xfrm>
            <a:off x="7410734" y="3116376"/>
            <a:ext cx="2003241" cy="369332"/>
          </a:xfrm>
          <a:prstGeom prst="rect">
            <a:avLst/>
          </a:prstGeom>
          <a:noFill/>
        </p:spPr>
        <p:txBody>
          <a:bodyPr wrap="none" rtlCol="0">
            <a:spAutoFit/>
          </a:bodyPr>
          <a:lstStyle/>
          <a:p>
            <a:r>
              <a:rPr lang="es-ES" dirty="0"/>
              <a:t>Pon una foto acá </a:t>
            </a:r>
            <a:r>
              <a:rPr lang="es-ES" dirty="0">
                <a:sym typeface="Wingdings" panose="05000000000000000000" pitchFamily="2" charset="2"/>
              </a:rPr>
              <a:t></a:t>
            </a:r>
            <a:endParaRPr lang="es-CO" dirty="0"/>
          </a:p>
        </p:txBody>
      </p:sp>
    </p:spTree>
    <p:extLst>
      <p:ext uri="{BB962C8B-B14F-4D97-AF65-F5344CB8AC3E}">
        <p14:creationId xmlns:p14="http://schemas.microsoft.com/office/powerpoint/2010/main" val="4250664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20</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2" name="CuadroTexto 1">
            <a:extLst>
              <a:ext uri="{FF2B5EF4-FFF2-40B4-BE49-F238E27FC236}">
                <a16:creationId xmlns:a16="http://schemas.microsoft.com/office/drawing/2014/main" id="{06F303BF-EED0-4061-BB0B-B7A2BF73DEB8}"/>
              </a:ext>
            </a:extLst>
          </p:cNvPr>
          <p:cNvSpPr txBox="1"/>
          <p:nvPr/>
        </p:nvSpPr>
        <p:spPr>
          <a:xfrm>
            <a:off x="6388237" y="3605670"/>
            <a:ext cx="4145583" cy="1754326"/>
          </a:xfrm>
          <a:prstGeom prst="rect">
            <a:avLst/>
          </a:prstGeom>
          <a:noFill/>
        </p:spPr>
        <p:txBody>
          <a:bodyPr wrap="square" rtlCol="0">
            <a:spAutoFit/>
          </a:bodyPr>
          <a:lstStyle/>
          <a:p>
            <a:pPr algn="r"/>
            <a:r>
              <a:rPr lang="es-ES" sz="5400" dirty="0">
                <a:solidFill>
                  <a:srgbClr val="8D2F3C"/>
                </a:solidFill>
                <a:latin typeface="Iosevka" panose="02000509030000000004" pitchFamily="49" charset="0"/>
                <a:ea typeface="Iosevka" panose="02000509030000000004" pitchFamily="49" charset="0"/>
                <a:cs typeface="Iosevka" panose="02000509030000000004" pitchFamily="49" charset="0"/>
              </a:rPr>
              <a:t>Estados Financieros</a:t>
            </a:r>
            <a:endParaRPr lang="es-CO" sz="5400" dirty="0">
              <a:solidFill>
                <a:srgbClr val="8D2F3C"/>
              </a:solidFill>
              <a:latin typeface="Iosevka" panose="02000509030000000004" pitchFamily="49" charset="0"/>
              <a:ea typeface="Iosevka" panose="02000509030000000004" pitchFamily="49" charset="0"/>
              <a:cs typeface="Iosevka" panose="02000509030000000004" pitchFamily="49" charset="0"/>
            </a:endParaRPr>
          </a:p>
        </p:txBody>
      </p:sp>
      <p:sp>
        <p:nvSpPr>
          <p:cNvPr id="12" name="CuadroTexto 11">
            <a:extLst>
              <a:ext uri="{FF2B5EF4-FFF2-40B4-BE49-F238E27FC236}">
                <a16:creationId xmlns:a16="http://schemas.microsoft.com/office/drawing/2014/main" id="{50AD6F02-E4DB-4916-982A-B556EFBEB371}"/>
              </a:ext>
            </a:extLst>
          </p:cNvPr>
          <p:cNvSpPr txBox="1"/>
          <p:nvPr/>
        </p:nvSpPr>
        <p:spPr>
          <a:xfrm>
            <a:off x="7409620" y="2903762"/>
            <a:ext cx="3124200"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05</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sp>
        <p:nvSpPr>
          <p:cNvPr id="13" name="CuadroTexto 12">
            <a:extLst>
              <a:ext uri="{FF2B5EF4-FFF2-40B4-BE49-F238E27FC236}">
                <a16:creationId xmlns:a16="http://schemas.microsoft.com/office/drawing/2014/main" id="{4EA3692A-48FB-4373-9D92-6C2B0ED2B09C}"/>
              </a:ext>
            </a:extLst>
          </p:cNvPr>
          <p:cNvSpPr txBox="1"/>
          <p:nvPr/>
        </p:nvSpPr>
        <p:spPr>
          <a:xfrm>
            <a:off x="2368576" y="5340622"/>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8" name="Imagen 7">
            <a:extLst>
              <a:ext uri="{FF2B5EF4-FFF2-40B4-BE49-F238E27FC236}">
                <a16:creationId xmlns:a16="http://schemas.microsoft.com/office/drawing/2014/main" id="{AAA66D0E-2791-4F43-BF93-957DDB893721}"/>
              </a:ext>
            </a:extLst>
          </p:cNvPr>
          <p:cNvPicPr>
            <a:picLocks noChangeAspect="1"/>
          </p:cNvPicPr>
          <p:nvPr/>
        </p:nvPicPr>
        <p:blipFill rotWithShape="1">
          <a:blip r:embed="rId3">
            <a:extLst>
              <a:ext uri="{28A0092B-C50C-407E-A947-70E740481C1C}">
                <a14:useLocalDpi xmlns:a14="http://schemas.microsoft.com/office/drawing/2010/main" val="0"/>
              </a:ext>
            </a:extLst>
          </a:blip>
          <a:srcRect t="17130" b="20723"/>
          <a:stretch/>
        </p:blipFill>
        <p:spPr>
          <a:xfrm>
            <a:off x="1573561" y="2023894"/>
            <a:ext cx="4814676" cy="2992162"/>
          </a:xfrm>
          <a:prstGeom prst="rect">
            <a:avLst/>
          </a:prstGeom>
        </p:spPr>
      </p:pic>
    </p:spTree>
    <p:extLst>
      <p:ext uri="{BB962C8B-B14F-4D97-AF65-F5344CB8AC3E}">
        <p14:creationId xmlns:p14="http://schemas.microsoft.com/office/powerpoint/2010/main" val="2147602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21</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353960"/>
            <a:ext cx="9186988" cy="769441"/>
          </a:xfrm>
          <a:prstGeom prst="rect">
            <a:avLst/>
          </a:prstGeom>
          <a:noFill/>
        </p:spPr>
        <p:txBody>
          <a:bodyPr wrap="square" rtlCol="0">
            <a:spAutoFit/>
          </a:bodyPr>
          <a:lstStyle/>
          <a:p>
            <a:pPr algn="ctr"/>
            <a:r>
              <a:rPr lang="es-ES" sz="4400" dirty="0">
                <a:solidFill>
                  <a:srgbClr val="8D2F3C"/>
                </a:solidFill>
                <a:latin typeface="Iosevka" panose="02000509030000000004" pitchFamily="49" charset="0"/>
                <a:ea typeface="Iosevka" panose="02000509030000000004" pitchFamily="49" charset="0"/>
                <a:cs typeface="Iosevka" panose="02000509030000000004" pitchFamily="49" charset="0"/>
              </a:rPr>
              <a:t>Constitución de la empresa</a:t>
            </a:r>
          </a:p>
        </p:txBody>
      </p:sp>
      <p:pic>
        <p:nvPicPr>
          <p:cNvPr id="7" name="Imagen 6">
            <a:extLst>
              <a:ext uri="{FF2B5EF4-FFF2-40B4-BE49-F238E27FC236}">
                <a16:creationId xmlns:a16="http://schemas.microsoft.com/office/drawing/2014/main" id="{C5FE88CA-8239-4525-BEF1-986ED5577C38}"/>
              </a:ext>
            </a:extLst>
          </p:cNvPr>
          <p:cNvPicPr>
            <a:picLocks noChangeAspect="1"/>
          </p:cNvPicPr>
          <p:nvPr/>
        </p:nvPicPr>
        <p:blipFill rotWithShape="1">
          <a:blip r:embed="rId3">
            <a:extLst>
              <a:ext uri="{28A0092B-C50C-407E-A947-70E740481C1C}">
                <a14:useLocalDpi xmlns:a14="http://schemas.microsoft.com/office/drawing/2010/main" val="0"/>
              </a:ext>
            </a:extLst>
          </a:blip>
          <a:srcRect l="6045" t="10338" r="9519" b="11206"/>
          <a:stretch/>
        </p:blipFill>
        <p:spPr>
          <a:xfrm>
            <a:off x="801511" y="2221349"/>
            <a:ext cx="4188178" cy="3891573"/>
          </a:xfrm>
          <a:prstGeom prst="rect">
            <a:avLst/>
          </a:prstGeom>
        </p:spPr>
      </p:pic>
      <p:sp>
        <p:nvSpPr>
          <p:cNvPr id="22" name="CuadroTexto 21">
            <a:extLst>
              <a:ext uri="{FF2B5EF4-FFF2-40B4-BE49-F238E27FC236}">
                <a16:creationId xmlns:a16="http://schemas.microsoft.com/office/drawing/2014/main" id="{A5948186-A40D-47FA-BFEA-1D52283511A8}"/>
              </a:ext>
            </a:extLst>
          </p:cNvPr>
          <p:cNvSpPr txBox="1"/>
          <p:nvPr/>
        </p:nvSpPr>
        <p:spPr>
          <a:xfrm>
            <a:off x="1182220" y="5909508"/>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a:off x="5020040" y="2123401"/>
            <a:ext cx="2841033"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Capital Inicial</a:t>
            </a:r>
          </a:p>
        </p:txBody>
      </p:sp>
      <p:sp>
        <p:nvSpPr>
          <p:cNvPr id="25" name="CuadroTexto 24">
            <a:extLst>
              <a:ext uri="{FF2B5EF4-FFF2-40B4-BE49-F238E27FC236}">
                <a16:creationId xmlns:a16="http://schemas.microsoft.com/office/drawing/2014/main" id="{8CA36D2F-B260-4BE7-B80D-86E45FD81CD1}"/>
              </a:ext>
            </a:extLst>
          </p:cNvPr>
          <p:cNvSpPr txBox="1"/>
          <p:nvPr/>
        </p:nvSpPr>
        <p:spPr>
          <a:xfrm>
            <a:off x="5289553" y="2843142"/>
            <a:ext cx="5314122" cy="1938992"/>
          </a:xfrm>
          <a:prstGeom prst="rect">
            <a:avLst/>
          </a:prstGeom>
          <a:noFill/>
        </p:spPr>
        <p:txBody>
          <a:bodyPr wrap="square" rtlCol="0">
            <a:spAutoFit/>
          </a:bodyPr>
          <a:lstStyle/>
          <a:p>
            <a:pPr algn="just"/>
            <a:r>
              <a:rPr lang="es-ES" sz="2400" dirty="0">
                <a:latin typeface="Maleo" panose="02000006070000000000" pitchFamily="2" charset="0"/>
                <a:ea typeface="Maleo" panose="02000006070000000000" pitchFamily="2" charset="0"/>
                <a:cs typeface="Maleo" panose="02000006070000000000" pitchFamily="2" charset="0"/>
              </a:rPr>
              <a:t>Se estima un total de $33’640.000 COP para capital inicial, dividido entre:</a:t>
            </a:r>
          </a:p>
          <a:p>
            <a:pPr marL="342900" indent="-342900" algn="just">
              <a:buFont typeface="Arial" panose="020B0604020202020204" pitchFamily="34" charset="0"/>
              <a:buChar char="•"/>
            </a:pPr>
            <a:r>
              <a:rPr lang="es-ES" sz="2400" dirty="0">
                <a:latin typeface="Maleo" panose="02000006070000000000" pitchFamily="2" charset="0"/>
                <a:ea typeface="Maleo" panose="02000006070000000000" pitchFamily="2" charset="0"/>
                <a:cs typeface="Maleo" panose="02000006070000000000" pitchFamily="2" charset="0"/>
              </a:rPr>
              <a:t>Capital de trabajo.</a:t>
            </a:r>
          </a:p>
          <a:p>
            <a:pPr marL="342900" indent="-342900" algn="just">
              <a:buFont typeface="Arial" panose="020B0604020202020204" pitchFamily="34" charset="0"/>
              <a:buChar char="•"/>
            </a:pPr>
            <a:r>
              <a:rPr lang="es-ES" sz="2400" dirty="0">
                <a:latin typeface="Maleo" panose="02000006070000000000" pitchFamily="2" charset="0"/>
                <a:ea typeface="Maleo" panose="02000006070000000000" pitchFamily="2" charset="0"/>
                <a:cs typeface="Maleo" panose="02000006070000000000" pitchFamily="2" charset="0"/>
              </a:rPr>
              <a:t>Producción de contenido interactivo.</a:t>
            </a:r>
          </a:p>
          <a:p>
            <a:pPr marL="342900" indent="-342900" algn="just">
              <a:buFont typeface="Arial" panose="020B0604020202020204" pitchFamily="34" charset="0"/>
              <a:buChar char="•"/>
            </a:pPr>
            <a:r>
              <a:rPr lang="es-ES" sz="2400" dirty="0">
                <a:latin typeface="Maleo" panose="02000006070000000000" pitchFamily="2" charset="0"/>
                <a:ea typeface="Maleo" panose="02000006070000000000" pitchFamily="2" charset="0"/>
                <a:cs typeface="Maleo" panose="02000006070000000000" pitchFamily="2" charset="0"/>
              </a:rPr>
              <a:t>Equipos de trabajo.</a:t>
            </a:r>
          </a:p>
        </p:txBody>
      </p:sp>
      <p:sp>
        <p:nvSpPr>
          <p:cNvPr id="26" name="CuadroTexto 25">
            <a:extLst>
              <a:ext uri="{FF2B5EF4-FFF2-40B4-BE49-F238E27FC236}">
                <a16:creationId xmlns:a16="http://schemas.microsoft.com/office/drawing/2014/main" id="{564726A1-9A1E-4BA6-920E-6F5DF0CD4C87}"/>
              </a:ext>
            </a:extLst>
          </p:cNvPr>
          <p:cNvSpPr txBox="1"/>
          <p:nvPr/>
        </p:nvSpPr>
        <p:spPr>
          <a:xfrm>
            <a:off x="5020040" y="4734600"/>
            <a:ext cx="2841033"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Pasivos</a:t>
            </a:r>
          </a:p>
        </p:txBody>
      </p:sp>
      <p:sp>
        <p:nvSpPr>
          <p:cNvPr id="27" name="CuadroTexto 26">
            <a:extLst>
              <a:ext uri="{FF2B5EF4-FFF2-40B4-BE49-F238E27FC236}">
                <a16:creationId xmlns:a16="http://schemas.microsoft.com/office/drawing/2014/main" id="{337D63BF-C47D-40DE-A87C-221862EC5769}"/>
              </a:ext>
            </a:extLst>
          </p:cNvPr>
          <p:cNvSpPr txBox="1"/>
          <p:nvPr/>
        </p:nvSpPr>
        <p:spPr>
          <a:xfrm>
            <a:off x="5282932" y="5435048"/>
            <a:ext cx="5314122" cy="830997"/>
          </a:xfrm>
          <a:prstGeom prst="rect">
            <a:avLst/>
          </a:prstGeom>
          <a:noFill/>
        </p:spPr>
        <p:txBody>
          <a:bodyPr wrap="square" rtlCol="0">
            <a:spAutoFit/>
          </a:bodyPr>
          <a:lstStyle/>
          <a:p>
            <a:pPr algn="just"/>
            <a:r>
              <a:rPr lang="es-ES" sz="2400" dirty="0">
                <a:latin typeface="Maleo" panose="02000006070000000000" pitchFamily="2" charset="0"/>
                <a:ea typeface="Maleo" panose="02000006070000000000" pitchFamily="2" charset="0"/>
                <a:cs typeface="Maleo" panose="02000006070000000000" pitchFamily="2" charset="0"/>
              </a:rPr>
              <a:t>La empresa tendrá $15’790.950 COP en pasivos correspondientes al préstamo bancario.</a:t>
            </a:r>
          </a:p>
        </p:txBody>
      </p:sp>
    </p:spTree>
    <p:extLst>
      <p:ext uri="{BB962C8B-B14F-4D97-AF65-F5344CB8AC3E}">
        <p14:creationId xmlns:p14="http://schemas.microsoft.com/office/powerpoint/2010/main" val="3311918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22</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2002964" y="3734204"/>
            <a:ext cx="460282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Proyección de Ventas</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6" name="Imagen 5">
            <a:extLst>
              <a:ext uri="{FF2B5EF4-FFF2-40B4-BE49-F238E27FC236}">
                <a16:creationId xmlns:a16="http://schemas.microsoft.com/office/drawing/2014/main" id="{C7E70618-AD73-4193-AE29-982C2DB51F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6517" y="2881907"/>
            <a:ext cx="9078592" cy="1514686"/>
          </a:xfrm>
          <a:prstGeom prst="rect">
            <a:avLst/>
          </a:prstGeom>
        </p:spPr>
      </p:pic>
    </p:spTree>
    <p:extLst>
      <p:ext uri="{BB962C8B-B14F-4D97-AF65-F5344CB8AC3E}">
        <p14:creationId xmlns:p14="http://schemas.microsoft.com/office/powerpoint/2010/main" val="1551206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23</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2722505" y="3014663"/>
            <a:ext cx="6041910"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Proyección Incremento de Ventas</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9" name="Imagen 8">
            <a:extLst>
              <a:ext uri="{FF2B5EF4-FFF2-40B4-BE49-F238E27FC236}">
                <a16:creationId xmlns:a16="http://schemas.microsoft.com/office/drawing/2014/main" id="{56DA8706-CEBB-4B1F-8439-B6BFC1E93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3400" y="2867089"/>
            <a:ext cx="9218231" cy="1423550"/>
          </a:xfrm>
          <a:prstGeom prst="rect">
            <a:avLst/>
          </a:prstGeom>
        </p:spPr>
      </p:pic>
    </p:spTree>
    <p:extLst>
      <p:ext uri="{BB962C8B-B14F-4D97-AF65-F5344CB8AC3E}">
        <p14:creationId xmlns:p14="http://schemas.microsoft.com/office/powerpoint/2010/main" val="3532427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24</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2722505" y="3014663"/>
            <a:ext cx="6041910"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Amortización y Préstamo</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6" name="Imagen 5">
            <a:extLst>
              <a:ext uri="{FF2B5EF4-FFF2-40B4-BE49-F238E27FC236}">
                <a16:creationId xmlns:a16="http://schemas.microsoft.com/office/drawing/2014/main" id="{C0FD49E3-1342-4D47-8840-E7190203E2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3577" y="1681613"/>
            <a:ext cx="3924845" cy="1781423"/>
          </a:xfrm>
          <a:prstGeom prst="rect">
            <a:avLst/>
          </a:prstGeom>
        </p:spPr>
      </p:pic>
      <p:pic>
        <p:nvPicPr>
          <p:cNvPr id="8" name="Imagen 7">
            <a:extLst>
              <a:ext uri="{FF2B5EF4-FFF2-40B4-BE49-F238E27FC236}">
                <a16:creationId xmlns:a16="http://schemas.microsoft.com/office/drawing/2014/main" id="{5D8E3E43-6E6B-48F3-A3AB-2B6A2D2A67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6494" y="3911544"/>
            <a:ext cx="7059010" cy="1781424"/>
          </a:xfrm>
          <a:prstGeom prst="rect">
            <a:avLst/>
          </a:prstGeom>
        </p:spPr>
      </p:pic>
    </p:spTree>
    <p:extLst>
      <p:ext uri="{BB962C8B-B14F-4D97-AF65-F5344CB8AC3E}">
        <p14:creationId xmlns:p14="http://schemas.microsoft.com/office/powerpoint/2010/main" val="478684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25</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2002964" y="3734204"/>
            <a:ext cx="460282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Balance General</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7" name="Imagen 6">
            <a:extLst>
              <a:ext uri="{FF2B5EF4-FFF2-40B4-BE49-F238E27FC236}">
                <a16:creationId xmlns:a16="http://schemas.microsoft.com/office/drawing/2014/main" id="{97523D34-38B0-4B3E-82E6-BA2420F5F8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6834" y="1522343"/>
            <a:ext cx="5498332" cy="4584106"/>
          </a:xfrm>
          <a:prstGeom prst="rect">
            <a:avLst/>
          </a:prstGeom>
        </p:spPr>
      </p:pic>
    </p:spTree>
    <p:extLst>
      <p:ext uri="{BB962C8B-B14F-4D97-AF65-F5344CB8AC3E}">
        <p14:creationId xmlns:p14="http://schemas.microsoft.com/office/powerpoint/2010/main" val="4194272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26</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1466741" y="4270426"/>
            <a:ext cx="3530383"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Estado de Resultados</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6" name="Imagen 5">
            <a:extLst>
              <a:ext uri="{FF2B5EF4-FFF2-40B4-BE49-F238E27FC236}">
                <a16:creationId xmlns:a16="http://schemas.microsoft.com/office/drawing/2014/main" id="{8C287B1D-CD2D-4D11-A72C-A9E0D7D80E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2260" y="1521679"/>
            <a:ext cx="8727480" cy="4452467"/>
          </a:xfrm>
          <a:prstGeom prst="rect">
            <a:avLst/>
          </a:prstGeom>
        </p:spPr>
      </p:pic>
      <p:sp>
        <p:nvSpPr>
          <p:cNvPr id="8" name="Rectángulo 7">
            <a:extLst>
              <a:ext uri="{FF2B5EF4-FFF2-40B4-BE49-F238E27FC236}">
                <a16:creationId xmlns:a16="http://schemas.microsoft.com/office/drawing/2014/main" id="{DBEA1FD0-EDC0-49DF-B2CC-93384200272B}"/>
              </a:ext>
            </a:extLst>
          </p:cNvPr>
          <p:cNvSpPr/>
          <p:nvPr/>
        </p:nvSpPr>
        <p:spPr>
          <a:xfrm>
            <a:off x="6321778" y="5046133"/>
            <a:ext cx="1049866" cy="272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591918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27</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1466741" y="4270426"/>
            <a:ext cx="3530383"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Flujo de Caja</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8" name="Rectángulo 7">
            <a:extLst>
              <a:ext uri="{FF2B5EF4-FFF2-40B4-BE49-F238E27FC236}">
                <a16:creationId xmlns:a16="http://schemas.microsoft.com/office/drawing/2014/main" id="{DBEA1FD0-EDC0-49DF-B2CC-93384200272B}"/>
              </a:ext>
            </a:extLst>
          </p:cNvPr>
          <p:cNvSpPr/>
          <p:nvPr/>
        </p:nvSpPr>
        <p:spPr>
          <a:xfrm>
            <a:off x="6321778" y="5046133"/>
            <a:ext cx="1049866" cy="272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n 6">
            <a:extLst>
              <a:ext uri="{FF2B5EF4-FFF2-40B4-BE49-F238E27FC236}">
                <a16:creationId xmlns:a16="http://schemas.microsoft.com/office/drawing/2014/main" id="{EF7D76DA-366E-44CF-B395-FEA7DCB02D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3714" y="1479037"/>
            <a:ext cx="7404572" cy="4549706"/>
          </a:xfrm>
          <a:prstGeom prst="rect">
            <a:avLst/>
          </a:prstGeom>
        </p:spPr>
      </p:pic>
    </p:spTree>
    <p:extLst>
      <p:ext uri="{BB962C8B-B14F-4D97-AF65-F5344CB8AC3E}">
        <p14:creationId xmlns:p14="http://schemas.microsoft.com/office/powerpoint/2010/main" val="3653158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28</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2962520" y="2774647"/>
            <a:ext cx="6521941"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Estimaciones de Punto de Equilibrio</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8" name="Rectángulo 7">
            <a:extLst>
              <a:ext uri="{FF2B5EF4-FFF2-40B4-BE49-F238E27FC236}">
                <a16:creationId xmlns:a16="http://schemas.microsoft.com/office/drawing/2014/main" id="{DBEA1FD0-EDC0-49DF-B2CC-93384200272B}"/>
              </a:ext>
            </a:extLst>
          </p:cNvPr>
          <p:cNvSpPr/>
          <p:nvPr/>
        </p:nvSpPr>
        <p:spPr>
          <a:xfrm>
            <a:off x="6321778" y="5046133"/>
            <a:ext cx="1049866" cy="272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6" name="Imagen 5">
            <a:extLst>
              <a:ext uri="{FF2B5EF4-FFF2-40B4-BE49-F238E27FC236}">
                <a16:creationId xmlns:a16="http://schemas.microsoft.com/office/drawing/2014/main" id="{71B4E341-A9EA-41A1-A939-2FA0246642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7315" y="2505566"/>
            <a:ext cx="7317370" cy="2474218"/>
          </a:xfrm>
          <a:prstGeom prst="rect">
            <a:avLst/>
          </a:prstGeom>
        </p:spPr>
      </p:pic>
    </p:spTree>
    <p:extLst>
      <p:ext uri="{BB962C8B-B14F-4D97-AF65-F5344CB8AC3E}">
        <p14:creationId xmlns:p14="http://schemas.microsoft.com/office/powerpoint/2010/main" val="1798600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29</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2962520" y="2774647"/>
            <a:ext cx="6521941" cy="769441"/>
          </a:xfrm>
          <a:prstGeom prst="rect">
            <a:avLst/>
          </a:prstGeom>
          <a:noFill/>
        </p:spPr>
        <p:txBody>
          <a:bodyPr wrap="square" rtlCol="0">
            <a:spAutoFit/>
          </a:bodyPr>
          <a:lstStyle/>
          <a:p>
            <a:r>
              <a:rPr lang="es-ES" sz="4400" dirty="0" err="1">
                <a:solidFill>
                  <a:srgbClr val="8D2F3C"/>
                </a:solidFill>
                <a:latin typeface="Maleo" panose="02000006070000000000" pitchFamily="2" charset="0"/>
                <a:ea typeface="Maleo" panose="02000006070000000000" pitchFamily="2" charset="0"/>
                <a:cs typeface="Maleo" panose="02000006070000000000" pitchFamily="2" charset="0"/>
              </a:rPr>
              <a:t>Analisís</a:t>
            </a:r>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 de Proyecciones</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8" name="Rectángulo 7">
            <a:extLst>
              <a:ext uri="{FF2B5EF4-FFF2-40B4-BE49-F238E27FC236}">
                <a16:creationId xmlns:a16="http://schemas.microsoft.com/office/drawing/2014/main" id="{DBEA1FD0-EDC0-49DF-B2CC-93384200272B}"/>
              </a:ext>
            </a:extLst>
          </p:cNvPr>
          <p:cNvSpPr/>
          <p:nvPr/>
        </p:nvSpPr>
        <p:spPr>
          <a:xfrm>
            <a:off x="6321778" y="5046133"/>
            <a:ext cx="1049866" cy="272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2" name="Imagen 11">
            <a:extLst>
              <a:ext uri="{FF2B5EF4-FFF2-40B4-BE49-F238E27FC236}">
                <a16:creationId xmlns:a16="http://schemas.microsoft.com/office/drawing/2014/main" id="{983B816C-43E8-4591-8A4D-1ED94E2DFD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0546" y="1862589"/>
            <a:ext cx="8830907" cy="3553321"/>
          </a:xfrm>
          <a:prstGeom prst="rect">
            <a:avLst/>
          </a:prstGeom>
        </p:spPr>
      </p:pic>
    </p:spTree>
    <p:extLst>
      <p:ext uri="{BB962C8B-B14F-4D97-AF65-F5344CB8AC3E}">
        <p14:creationId xmlns:p14="http://schemas.microsoft.com/office/powerpoint/2010/main" val="1784553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30</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2962520" y="2774647"/>
            <a:ext cx="6521941"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Estimaciones de Punto de Equilibrio</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8" name="Rectángulo 7">
            <a:extLst>
              <a:ext uri="{FF2B5EF4-FFF2-40B4-BE49-F238E27FC236}">
                <a16:creationId xmlns:a16="http://schemas.microsoft.com/office/drawing/2014/main" id="{DBEA1FD0-EDC0-49DF-B2CC-93384200272B}"/>
              </a:ext>
            </a:extLst>
          </p:cNvPr>
          <p:cNvSpPr/>
          <p:nvPr/>
        </p:nvSpPr>
        <p:spPr>
          <a:xfrm>
            <a:off x="6321778" y="5046133"/>
            <a:ext cx="1049866" cy="272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7" name="Imagen 26">
            <a:extLst>
              <a:ext uri="{FF2B5EF4-FFF2-40B4-BE49-F238E27FC236}">
                <a16:creationId xmlns:a16="http://schemas.microsoft.com/office/drawing/2014/main" id="{86BC0795-D58B-4BBF-9DF3-30AA8D59DE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6954" y="2149098"/>
            <a:ext cx="6228316" cy="1283087"/>
          </a:xfrm>
          <a:prstGeom prst="rect">
            <a:avLst/>
          </a:prstGeom>
        </p:spPr>
      </p:pic>
      <p:pic>
        <p:nvPicPr>
          <p:cNvPr id="29" name="Imagen 28">
            <a:extLst>
              <a:ext uri="{FF2B5EF4-FFF2-40B4-BE49-F238E27FC236}">
                <a16:creationId xmlns:a16="http://schemas.microsoft.com/office/drawing/2014/main" id="{FDB099C7-A071-477C-9C98-8479DE0348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5319" y="4189562"/>
            <a:ext cx="6321362" cy="1048158"/>
          </a:xfrm>
          <a:prstGeom prst="rect">
            <a:avLst/>
          </a:prstGeom>
        </p:spPr>
      </p:pic>
    </p:spTree>
    <p:extLst>
      <p:ext uri="{BB962C8B-B14F-4D97-AF65-F5344CB8AC3E}">
        <p14:creationId xmlns:p14="http://schemas.microsoft.com/office/powerpoint/2010/main" val="624211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31</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rot="16200000">
            <a:off x="-2962520" y="2774647"/>
            <a:ext cx="6521941"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Punto de Equilibrio</a:t>
            </a:r>
          </a:p>
        </p:txBody>
      </p:sp>
      <p:sp>
        <p:nvSpPr>
          <p:cNvPr id="19" name="CuadroTexto 18">
            <a:extLst>
              <a:ext uri="{FF2B5EF4-FFF2-40B4-BE49-F238E27FC236}">
                <a16:creationId xmlns:a16="http://schemas.microsoft.com/office/drawing/2014/main" id="{AD4F6EC6-DEAD-4495-A5E8-E32B4F33E278}"/>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8" name="Rectángulo 7">
            <a:extLst>
              <a:ext uri="{FF2B5EF4-FFF2-40B4-BE49-F238E27FC236}">
                <a16:creationId xmlns:a16="http://schemas.microsoft.com/office/drawing/2014/main" id="{DBEA1FD0-EDC0-49DF-B2CC-93384200272B}"/>
              </a:ext>
            </a:extLst>
          </p:cNvPr>
          <p:cNvSpPr/>
          <p:nvPr/>
        </p:nvSpPr>
        <p:spPr>
          <a:xfrm>
            <a:off x="6321778" y="5046133"/>
            <a:ext cx="1049866" cy="272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9" name="Imagen 8">
            <a:extLst>
              <a:ext uri="{FF2B5EF4-FFF2-40B4-BE49-F238E27FC236}">
                <a16:creationId xmlns:a16="http://schemas.microsoft.com/office/drawing/2014/main" id="{A7B7F693-96BF-4C3E-862D-C6514D3DC3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8806" y="3092064"/>
            <a:ext cx="4264899" cy="951746"/>
          </a:xfrm>
          <a:prstGeom prst="rect">
            <a:avLst/>
          </a:prstGeom>
        </p:spPr>
      </p:pic>
      <p:pic>
        <p:nvPicPr>
          <p:cNvPr id="20" name="Imagen 19">
            <a:extLst>
              <a:ext uri="{FF2B5EF4-FFF2-40B4-BE49-F238E27FC236}">
                <a16:creationId xmlns:a16="http://schemas.microsoft.com/office/drawing/2014/main" id="{5BA8891D-F007-4598-9A13-6033274F6A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4151" y="2035517"/>
            <a:ext cx="6095999" cy="3350091"/>
          </a:xfrm>
          <a:prstGeom prst="rect">
            <a:avLst/>
          </a:prstGeom>
        </p:spPr>
      </p:pic>
    </p:spTree>
    <p:extLst>
      <p:ext uri="{BB962C8B-B14F-4D97-AF65-F5344CB8AC3E}">
        <p14:creationId xmlns:p14="http://schemas.microsoft.com/office/powerpoint/2010/main" val="38464324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32</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05 ESTADOS FINANCIEROS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353960"/>
            <a:ext cx="9186988" cy="769441"/>
          </a:xfrm>
          <a:prstGeom prst="rect">
            <a:avLst/>
          </a:prstGeom>
          <a:noFill/>
        </p:spPr>
        <p:txBody>
          <a:bodyPr wrap="square" rtlCol="0">
            <a:spAutoFit/>
          </a:bodyPr>
          <a:lstStyle/>
          <a:p>
            <a:pPr algn="ctr"/>
            <a:r>
              <a:rPr lang="es-ES" sz="4400" dirty="0">
                <a:solidFill>
                  <a:srgbClr val="8D2F3C"/>
                </a:solidFill>
                <a:latin typeface="Iosevka" panose="02000509030000000004" pitchFamily="49" charset="0"/>
                <a:ea typeface="Iosevka" panose="02000509030000000004" pitchFamily="49" charset="0"/>
                <a:cs typeface="Iosevka" panose="02000509030000000004" pitchFamily="49" charset="0"/>
              </a:rPr>
              <a:t>Constitución de la empresa</a:t>
            </a:r>
          </a:p>
        </p:txBody>
      </p:sp>
      <p:sp>
        <p:nvSpPr>
          <p:cNvPr id="22" name="CuadroTexto 21">
            <a:extLst>
              <a:ext uri="{FF2B5EF4-FFF2-40B4-BE49-F238E27FC236}">
                <a16:creationId xmlns:a16="http://schemas.microsoft.com/office/drawing/2014/main" id="{A5948186-A40D-47FA-BFEA-1D52283511A8}"/>
              </a:ext>
            </a:extLst>
          </p:cNvPr>
          <p:cNvSpPr txBox="1"/>
          <p:nvPr/>
        </p:nvSpPr>
        <p:spPr>
          <a:xfrm>
            <a:off x="1182220" y="5909508"/>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24" name="CuadroTexto 23">
            <a:extLst>
              <a:ext uri="{FF2B5EF4-FFF2-40B4-BE49-F238E27FC236}">
                <a16:creationId xmlns:a16="http://schemas.microsoft.com/office/drawing/2014/main" id="{1077AD14-642A-4F29-A23D-F33B6D784741}"/>
              </a:ext>
            </a:extLst>
          </p:cNvPr>
          <p:cNvSpPr txBox="1"/>
          <p:nvPr/>
        </p:nvSpPr>
        <p:spPr>
          <a:xfrm>
            <a:off x="5020040" y="2123401"/>
            <a:ext cx="434973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Valor actual neto (VAN)</a:t>
            </a:r>
          </a:p>
        </p:txBody>
      </p:sp>
      <p:sp>
        <p:nvSpPr>
          <p:cNvPr id="25" name="CuadroTexto 24">
            <a:extLst>
              <a:ext uri="{FF2B5EF4-FFF2-40B4-BE49-F238E27FC236}">
                <a16:creationId xmlns:a16="http://schemas.microsoft.com/office/drawing/2014/main" id="{8CA36D2F-B260-4BE7-B80D-86E45FD81CD1}"/>
              </a:ext>
            </a:extLst>
          </p:cNvPr>
          <p:cNvSpPr txBox="1"/>
          <p:nvPr/>
        </p:nvSpPr>
        <p:spPr>
          <a:xfrm>
            <a:off x="5289553" y="2843142"/>
            <a:ext cx="5314122" cy="830997"/>
          </a:xfrm>
          <a:prstGeom prst="rect">
            <a:avLst/>
          </a:prstGeom>
          <a:noFill/>
        </p:spPr>
        <p:txBody>
          <a:bodyPr wrap="square" rtlCol="0">
            <a:spAutoFit/>
          </a:bodyPr>
          <a:lstStyle/>
          <a:p>
            <a:pPr algn="just"/>
            <a:r>
              <a:rPr lang="es-ES" sz="2400" dirty="0">
                <a:latin typeface="Maleo" panose="02000006070000000000" pitchFamily="2" charset="0"/>
                <a:ea typeface="Maleo" panose="02000006070000000000" pitchFamily="2" charset="0"/>
                <a:cs typeface="Maleo" panose="02000006070000000000" pitchFamily="2" charset="0"/>
              </a:rPr>
              <a:t>El valor actual neto presentado por el proyecto es de $219’867.225 COP</a:t>
            </a:r>
          </a:p>
        </p:txBody>
      </p:sp>
      <p:sp>
        <p:nvSpPr>
          <p:cNvPr id="26" name="CuadroTexto 25">
            <a:extLst>
              <a:ext uri="{FF2B5EF4-FFF2-40B4-BE49-F238E27FC236}">
                <a16:creationId xmlns:a16="http://schemas.microsoft.com/office/drawing/2014/main" id="{564726A1-9A1E-4BA6-920E-6F5DF0CD4C87}"/>
              </a:ext>
            </a:extLst>
          </p:cNvPr>
          <p:cNvSpPr txBox="1"/>
          <p:nvPr/>
        </p:nvSpPr>
        <p:spPr>
          <a:xfrm>
            <a:off x="5020040" y="3779224"/>
            <a:ext cx="4962233"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Tasa interna de retorno (TIR)</a:t>
            </a:r>
          </a:p>
        </p:txBody>
      </p:sp>
      <p:sp>
        <p:nvSpPr>
          <p:cNvPr id="27" name="CuadroTexto 26">
            <a:extLst>
              <a:ext uri="{FF2B5EF4-FFF2-40B4-BE49-F238E27FC236}">
                <a16:creationId xmlns:a16="http://schemas.microsoft.com/office/drawing/2014/main" id="{337D63BF-C47D-40DE-A87C-221862EC5769}"/>
              </a:ext>
            </a:extLst>
          </p:cNvPr>
          <p:cNvSpPr txBox="1"/>
          <p:nvPr/>
        </p:nvSpPr>
        <p:spPr>
          <a:xfrm>
            <a:off x="5289553" y="4649668"/>
            <a:ext cx="5314122" cy="461665"/>
          </a:xfrm>
          <a:prstGeom prst="rect">
            <a:avLst/>
          </a:prstGeom>
          <a:noFill/>
        </p:spPr>
        <p:txBody>
          <a:bodyPr wrap="square" rtlCol="0">
            <a:spAutoFit/>
          </a:bodyPr>
          <a:lstStyle/>
          <a:p>
            <a:pPr algn="just"/>
            <a:r>
              <a:rPr lang="es-ES" sz="2400" dirty="0">
                <a:latin typeface="Maleo" panose="02000006070000000000" pitchFamily="2" charset="0"/>
                <a:ea typeface="Maleo" panose="02000006070000000000" pitchFamily="2" charset="0"/>
                <a:cs typeface="Maleo" panose="02000006070000000000" pitchFamily="2" charset="0"/>
              </a:rPr>
              <a:t>La tasa interna es de 94,95% E.A.</a:t>
            </a:r>
          </a:p>
        </p:txBody>
      </p:sp>
      <p:pic>
        <p:nvPicPr>
          <p:cNvPr id="6" name="Imagen 5">
            <a:extLst>
              <a:ext uri="{FF2B5EF4-FFF2-40B4-BE49-F238E27FC236}">
                <a16:creationId xmlns:a16="http://schemas.microsoft.com/office/drawing/2014/main" id="{966FDDD2-CEEF-492B-ABBA-1D1C9B20E8F9}"/>
              </a:ext>
            </a:extLst>
          </p:cNvPr>
          <p:cNvPicPr>
            <a:picLocks noChangeAspect="1"/>
          </p:cNvPicPr>
          <p:nvPr/>
        </p:nvPicPr>
        <p:blipFill rotWithShape="1">
          <a:blip r:embed="rId3">
            <a:extLst>
              <a:ext uri="{28A0092B-C50C-407E-A947-70E740481C1C}">
                <a14:useLocalDpi xmlns:a14="http://schemas.microsoft.com/office/drawing/2010/main" val="0"/>
              </a:ext>
            </a:extLst>
          </a:blip>
          <a:srcRect l="6204" t="8446" r="4072" b="13830"/>
          <a:stretch/>
        </p:blipFill>
        <p:spPr>
          <a:xfrm>
            <a:off x="748034" y="1928903"/>
            <a:ext cx="4272006" cy="3700641"/>
          </a:xfrm>
          <a:prstGeom prst="rect">
            <a:avLst/>
          </a:prstGeom>
        </p:spPr>
      </p:pic>
    </p:spTree>
    <p:extLst>
      <p:ext uri="{BB962C8B-B14F-4D97-AF65-F5344CB8AC3E}">
        <p14:creationId xmlns:p14="http://schemas.microsoft.com/office/powerpoint/2010/main" val="1858697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33</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2" name="CuadroTexto 1">
            <a:extLst>
              <a:ext uri="{FF2B5EF4-FFF2-40B4-BE49-F238E27FC236}">
                <a16:creationId xmlns:a16="http://schemas.microsoft.com/office/drawing/2014/main" id="{06F303BF-EED0-4061-BB0B-B7A2BF73DEB8}"/>
              </a:ext>
            </a:extLst>
          </p:cNvPr>
          <p:cNvSpPr txBox="1"/>
          <p:nvPr/>
        </p:nvSpPr>
        <p:spPr>
          <a:xfrm>
            <a:off x="6388237" y="3605670"/>
            <a:ext cx="4145583" cy="1754326"/>
          </a:xfrm>
          <a:prstGeom prst="rect">
            <a:avLst/>
          </a:prstGeom>
          <a:noFill/>
        </p:spPr>
        <p:txBody>
          <a:bodyPr wrap="square" rtlCol="0">
            <a:spAutoFit/>
          </a:bodyPr>
          <a:lstStyle/>
          <a:p>
            <a:pPr algn="r"/>
            <a:r>
              <a:rPr lang="es-ES" sz="5400" dirty="0">
                <a:solidFill>
                  <a:srgbClr val="8D2F3C"/>
                </a:solidFill>
                <a:latin typeface="Iosevka" panose="02000509030000000004" pitchFamily="49" charset="0"/>
                <a:ea typeface="Iosevka" panose="02000509030000000004" pitchFamily="49" charset="0"/>
                <a:cs typeface="Iosevka" panose="02000509030000000004" pitchFamily="49" charset="0"/>
              </a:rPr>
              <a:t>Análisis Financiero</a:t>
            </a:r>
            <a:endParaRPr lang="es-CO" sz="5400" dirty="0">
              <a:solidFill>
                <a:srgbClr val="8D2F3C"/>
              </a:solidFill>
              <a:latin typeface="Iosevka" panose="02000509030000000004" pitchFamily="49" charset="0"/>
              <a:ea typeface="Iosevka" panose="02000509030000000004" pitchFamily="49" charset="0"/>
              <a:cs typeface="Iosevka" panose="02000509030000000004" pitchFamily="49" charset="0"/>
            </a:endParaRPr>
          </a:p>
        </p:txBody>
      </p:sp>
      <p:sp>
        <p:nvSpPr>
          <p:cNvPr id="12" name="CuadroTexto 11">
            <a:extLst>
              <a:ext uri="{FF2B5EF4-FFF2-40B4-BE49-F238E27FC236}">
                <a16:creationId xmlns:a16="http://schemas.microsoft.com/office/drawing/2014/main" id="{50AD6F02-E4DB-4916-982A-B556EFBEB371}"/>
              </a:ext>
            </a:extLst>
          </p:cNvPr>
          <p:cNvSpPr txBox="1"/>
          <p:nvPr/>
        </p:nvSpPr>
        <p:spPr>
          <a:xfrm>
            <a:off x="7409620" y="2903762"/>
            <a:ext cx="3124200"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06</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sp>
        <p:nvSpPr>
          <p:cNvPr id="13" name="CuadroTexto 12">
            <a:extLst>
              <a:ext uri="{FF2B5EF4-FFF2-40B4-BE49-F238E27FC236}">
                <a16:creationId xmlns:a16="http://schemas.microsoft.com/office/drawing/2014/main" id="{4EA3692A-48FB-4373-9D92-6C2B0ED2B09C}"/>
              </a:ext>
            </a:extLst>
          </p:cNvPr>
          <p:cNvSpPr txBox="1"/>
          <p:nvPr/>
        </p:nvSpPr>
        <p:spPr>
          <a:xfrm>
            <a:off x="2368576" y="5340622"/>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7" name="Imagen 6">
            <a:extLst>
              <a:ext uri="{FF2B5EF4-FFF2-40B4-BE49-F238E27FC236}">
                <a16:creationId xmlns:a16="http://schemas.microsoft.com/office/drawing/2014/main" id="{DE1E7441-71B7-49FA-A4C1-DF8ECC6414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4308" y="1637525"/>
            <a:ext cx="3783330" cy="3783330"/>
          </a:xfrm>
          <a:prstGeom prst="rect">
            <a:avLst/>
          </a:prstGeom>
        </p:spPr>
      </p:pic>
    </p:spTree>
    <p:extLst>
      <p:ext uri="{BB962C8B-B14F-4D97-AF65-F5344CB8AC3E}">
        <p14:creationId xmlns:p14="http://schemas.microsoft.com/office/powerpoint/2010/main" val="216231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34</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8706678" y="1066344"/>
            <a:ext cx="299692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06 ANÁLISIS FINANCIERO</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801511" y="1353960"/>
            <a:ext cx="10634133" cy="769441"/>
          </a:xfrm>
          <a:prstGeom prst="rect">
            <a:avLst/>
          </a:prstGeom>
          <a:noFill/>
        </p:spPr>
        <p:txBody>
          <a:bodyPr wrap="square" rtlCol="0">
            <a:spAutoFit/>
          </a:bodyPr>
          <a:lstStyle/>
          <a:p>
            <a:pPr algn="ctr"/>
            <a:r>
              <a:rPr lang="es-ES" sz="4400" spc="-300" dirty="0">
                <a:solidFill>
                  <a:srgbClr val="8D2F3C"/>
                </a:solidFill>
                <a:latin typeface="Iosevka" panose="02000509030000000004" pitchFamily="49" charset="0"/>
                <a:ea typeface="Iosevka" panose="02000509030000000004" pitchFamily="49" charset="0"/>
                <a:cs typeface="Iosevka" panose="02000509030000000004" pitchFamily="49" charset="0"/>
              </a:rPr>
              <a:t>Indicadores Financieros y Endeudamiento</a:t>
            </a:r>
          </a:p>
        </p:txBody>
      </p:sp>
      <p:sp>
        <p:nvSpPr>
          <p:cNvPr id="19" name="CuadroTexto 18">
            <a:extLst>
              <a:ext uri="{FF2B5EF4-FFF2-40B4-BE49-F238E27FC236}">
                <a16:creationId xmlns:a16="http://schemas.microsoft.com/office/drawing/2014/main" id="{5BDBD48B-4E6C-4203-999C-EE4390A79185}"/>
              </a:ext>
            </a:extLst>
          </p:cNvPr>
          <p:cNvSpPr txBox="1"/>
          <p:nvPr/>
        </p:nvSpPr>
        <p:spPr>
          <a:xfrm>
            <a:off x="0" y="6069074"/>
            <a:ext cx="12192000" cy="369332"/>
          </a:xfrm>
          <a:prstGeom prst="rect">
            <a:avLst/>
          </a:prstGeom>
          <a:noFill/>
        </p:spPr>
        <p:txBody>
          <a:bodyPr wrap="square" rtlCol="0">
            <a:spAutoFit/>
          </a:bodyPr>
          <a:lstStyle/>
          <a:p>
            <a:pPr algn="ct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Autoría Propia.</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6" name="Imagen 5">
            <a:extLst>
              <a:ext uri="{FF2B5EF4-FFF2-40B4-BE49-F238E27FC236}">
                <a16:creationId xmlns:a16="http://schemas.microsoft.com/office/drawing/2014/main" id="{B1B0A3E3-E00A-4130-9E32-659BDBB93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1075" y="2989502"/>
            <a:ext cx="8749850" cy="2075285"/>
          </a:xfrm>
          <a:prstGeom prst="rect">
            <a:avLst/>
          </a:prstGeom>
        </p:spPr>
      </p:pic>
    </p:spTree>
    <p:extLst>
      <p:ext uri="{BB962C8B-B14F-4D97-AF65-F5344CB8AC3E}">
        <p14:creationId xmlns:p14="http://schemas.microsoft.com/office/powerpoint/2010/main" val="30708857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35</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2" name="CuadroTexto 1">
            <a:extLst>
              <a:ext uri="{FF2B5EF4-FFF2-40B4-BE49-F238E27FC236}">
                <a16:creationId xmlns:a16="http://schemas.microsoft.com/office/drawing/2014/main" id="{06F303BF-EED0-4061-BB0B-B7A2BF73DEB8}"/>
              </a:ext>
            </a:extLst>
          </p:cNvPr>
          <p:cNvSpPr txBox="1"/>
          <p:nvPr/>
        </p:nvSpPr>
        <p:spPr>
          <a:xfrm>
            <a:off x="6151907" y="3605670"/>
            <a:ext cx="4381914" cy="923330"/>
          </a:xfrm>
          <a:prstGeom prst="rect">
            <a:avLst/>
          </a:prstGeom>
          <a:noFill/>
        </p:spPr>
        <p:txBody>
          <a:bodyPr wrap="square" rtlCol="0">
            <a:spAutoFit/>
          </a:bodyPr>
          <a:lstStyle/>
          <a:p>
            <a:pPr algn="r"/>
            <a:r>
              <a:rPr lang="es-ES" sz="5400" dirty="0">
                <a:solidFill>
                  <a:srgbClr val="8D2F3C"/>
                </a:solidFill>
                <a:latin typeface="Iosevka" panose="02000509030000000004" pitchFamily="49" charset="0"/>
                <a:ea typeface="Iosevka" panose="02000509030000000004" pitchFamily="49" charset="0"/>
                <a:cs typeface="Iosevka" panose="02000509030000000004" pitchFamily="49" charset="0"/>
              </a:rPr>
              <a:t>Conclusiones</a:t>
            </a:r>
            <a:endParaRPr lang="es-CO" sz="5400" dirty="0">
              <a:solidFill>
                <a:srgbClr val="8D2F3C"/>
              </a:solidFill>
              <a:latin typeface="Iosevka" panose="02000509030000000004" pitchFamily="49" charset="0"/>
              <a:ea typeface="Iosevka" panose="02000509030000000004" pitchFamily="49" charset="0"/>
              <a:cs typeface="Iosevka" panose="02000509030000000004" pitchFamily="49" charset="0"/>
            </a:endParaRPr>
          </a:p>
        </p:txBody>
      </p:sp>
      <p:sp>
        <p:nvSpPr>
          <p:cNvPr id="12" name="CuadroTexto 11">
            <a:extLst>
              <a:ext uri="{FF2B5EF4-FFF2-40B4-BE49-F238E27FC236}">
                <a16:creationId xmlns:a16="http://schemas.microsoft.com/office/drawing/2014/main" id="{50AD6F02-E4DB-4916-982A-B556EFBEB371}"/>
              </a:ext>
            </a:extLst>
          </p:cNvPr>
          <p:cNvSpPr txBox="1"/>
          <p:nvPr/>
        </p:nvSpPr>
        <p:spPr>
          <a:xfrm>
            <a:off x="7409620" y="2903762"/>
            <a:ext cx="3124200" cy="923330"/>
          </a:xfrm>
          <a:prstGeom prst="rect">
            <a:avLst/>
          </a:prstGeom>
          <a:noFill/>
        </p:spPr>
        <p:txBody>
          <a:bodyPr wrap="square" rtlCol="0">
            <a:spAutoFit/>
          </a:bodyPr>
          <a:lstStyle/>
          <a:p>
            <a:pPr algn="r"/>
            <a:r>
              <a:rPr lang="es-ES"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rPr>
              <a:t>07</a:t>
            </a:r>
            <a:endParaRPr lang="es-CO" sz="5400" dirty="0">
              <a:solidFill>
                <a:schemeClr val="bg1">
                  <a:lumMod val="50000"/>
                </a:schemeClr>
              </a:solidFill>
              <a:latin typeface="Iosevka" panose="02000509030000000004" pitchFamily="49" charset="0"/>
              <a:ea typeface="Iosevka" panose="02000509030000000004" pitchFamily="49" charset="0"/>
              <a:cs typeface="Iosevka" panose="02000509030000000004" pitchFamily="49" charset="0"/>
            </a:endParaRPr>
          </a:p>
        </p:txBody>
      </p:sp>
      <p:sp>
        <p:nvSpPr>
          <p:cNvPr id="13" name="CuadroTexto 12">
            <a:extLst>
              <a:ext uri="{FF2B5EF4-FFF2-40B4-BE49-F238E27FC236}">
                <a16:creationId xmlns:a16="http://schemas.microsoft.com/office/drawing/2014/main" id="{4EA3692A-48FB-4373-9D92-6C2B0ED2B09C}"/>
              </a:ext>
            </a:extLst>
          </p:cNvPr>
          <p:cNvSpPr txBox="1"/>
          <p:nvPr/>
        </p:nvSpPr>
        <p:spPr>
          <a:xfrm>
            <a:off x="2368576" y="5340622"/>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pic>
        <p:nvPicPr>
          <p:cNvPr id="8" name="Imagen 7">
            <a:extLst>
              <a:ext uri="{FF2B5EF4-FFF2-40B4-BE49-F238E27FC236}">
                <a16:creationId xmlns:a16="http://schemas.microsoft.com/office/drawing/2014/main" id="{7088EEF8-4BB7-46CC-81B1-DF2C464FCF76}"/>
              </a:ext>
            </a:extLst>
          </p:cNvPr>
          <p:cNvPicPr>
            <a:picLocks noChangeAspect="1"/>
          </p:cNvPicPr>
          <p:nvPr/>
        </p:nvPicPr>
        <p:blipFill rotWithShape="1">
          <a:blip r:embed="rId3">
            <a:extLst>
              <a:ext uri="{28A0092B-C50C-407E-A947-70E740481C1C}">
                <a14:useLocalDpi xmlns:a14="http://schemas.microsoft.com/office/drawing/2010/main" val="0"/>
              </a:ext>
            </a:extLst>
          </a:blip>
          <a:srcRect l="4629" t="10206" r="7696" b="12921"/>
          <a:stretch/>
        </p:blipFill>
        <p:spPr>
          <a:xfrm>
            <a:off x="1550043" y="1298159"/>
            <a:ext cx="4570714" cy="4007556"/>
          </a:xfrm>
          <a:prstGeom prst="rect">
            <a:avLst/>
          </a:prstGeom>
        </p:spPr>
      </p:pic>
    </p:spTree>
    <p:extLst>
      <p:ext uri="{BB962C8B-B14F-4D97-AF65-F5344CB8AC3E}">
        <p14:creationId xmlns:p14="http://schemas.microsoft.com/office/powerpoint/2010/main" val="4117234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36</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10059098" y="1066344"/>
            <a:ext cx="1644504"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07 CONCLUSIONES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554610"/>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Conclusiones</a:t>
            </a:r>
          </a:p>
        </p:txBody>
      </p:sp>
      <p:sp>
        <p:nvSpPr>
          <p:cNvPr id="16" name="CuadroTexto 15">
            <a:extLst>
              <a:ext uri="{FF2B5EF4-FFF2-40B4-BE49-F238E27FC236}">
                <a16:creationId xmlns:a16="http://schemas.microsoft.com/office/drawing/2014/main" id="{59FDF6D3-B383-4612-A7C7-88D35E974160}"/>
              </a:ext>
            </a:extLst>
          </p:cNvPr>
          <p:cNvSpPr txBox="1"/>
          <p:nvPr/>
        </p:nvSpPr>
        <p:spPr>
          <a:xfrm>
            <a:off x="1126435" y="2390314"/>
            <a:ext cx="6440556" cy="1631216"/>
          </a:xfrm>
          <a:prstGeom prst="rect">
            <a:avLst/>
          </a:prstGeom>
          <a:noFill/>
        </p:spPr>
        <p:txBody>
          <a:bodyPr wrap="square" rtlCol="0">
            <a:spAutoFit/>
          </a:bodyPr>
          <a:lstStyle/>
          <a:p>
            <a:pPr marL="342900" indent="-342900" algn="just">
              <a:buFont typeface="Wingdings" panose="05000000000000000000" pitchFamily="2" charset="2"/>
              <a:buChar char="ü"/>
            </a:pPr>
            <a:r>
              <a:rPr lang="es-ES" sz="2000" dirty="0">
                <a:latin typeface="Maleo" panose="02000006070000000000" pitchFamily="2" charset="0"/>
                <a:ea typeface="Maleo" panose="02000006070000000000" pitchFamily="2" charset="0"/>
                <a:cs typeface="Maleo" panose="02000006070000000000" pitchFamily="2" charset="0"/>
              </a:rPr>
              <a:t>El plan de negocio de </a:t>
            </a:r>
            <a:r>
              <a:rPr lang="es-ES" sz="2000" dirty="0" err="1">
                <a:latin typeface="Maleo" panose="02000006070000000000" pitchFamily="2" charset="0"/>
                <a:ea typeface="Maleo" panose="02000006070000000000" pitchFamily="2" charset="0"/>
                <a:cs typeface="Maleo" panose="02000006070000000000" pitchFamily="2" charset="0"/>
              </a:rPr>
              <a:t>EduFinanzas</a:t>
            </a:r>
            <a:r>
              <a:rPr lang="es-ES" sz="2000" dirty="0">
                <a:latin typeface="Maleo" panose="02000006070000000000" pitchFamily="2" charset="0"/>
                <a:ea typeface="Maleo" panose="02000006070000000000" pitchFamily="2" charset="0"/>
                <a:cs typeface="Maleo" panose="02000006070000000000" pitchFamily="2" charset="0"/>
              </a:rPr>
              <a:t> propone una plataforma </a:t>
            </a:r>
            <a:r>
              <a:rPr lang="es-ES" sz="2000" dirty="0" err="1">
                <a:latin typeface="Maleo" panose="02000006070000000000" pitchFamily="2" charset="0"/>
                <a:ea typeface="Maleo" panose="02000006070000000000" pitchFamily="2" charset="0"/>
                <a:cs typeface="Maleo" panose="02000006070000000000" pitchFamily="2" charset="0"/>
              </a:rPr>
              <a:t>EdTech</a:t>
            </a:r>
            <a:r>
              <a:rPr lang="es-ES" sz="2000" dirty="0">
                <a:latin typeface="Maleo" panose="02000006070000000000" pitchFamily="2" charset="0"/>
                <a:ea typeface="Maleo" panose="02000006070000000000" pitchFamily="2" charset="0"/>
                <a:cs typeface="Maleo" panose="02000006070000000000" pitchFamily="2" charset="0"/>
              </a:rPr>
              <a:t> centrada en educación financiera, que permite a estudiantes, personas de bajos recursos y nómadas digitales acceder a un aprendizaje intuitivo y personalizado. El análisis identifica sus oportunidades y riesgos, mostrando la viabilidad del modelo en el mercado actual.</a:t>
            </a:r>
          </a:p>
        </p:txBody>
      </p:sp>
      <p:sp>
        <p:nvSpPr>
          <p:cNvPr id="19" name="CuadroTexto 18">
            <a:extLst>
              <a:ext uri="{FF2B5EF4-FFF2-40B4-BE49-F238E27FC236}">
                <a16:creationId xmlns:a16="http://schemas.microsoft.com/office/drawing/2014/main" id="{B2AF417D-8444-4CE4-8BCF-ED6A1A1F0B1D}"/>
              </a:ext>
            </a:extLst>
          </p:cNvPr>
          <p:cNvSpPr txBox="1"/>
          <p:nvPr/>
        </p:nvSpPr>
        <p:spPr>
          <a:xfrm>
            <a:off x="7945311" y="5421868"/>
            <a:ext cx="3599062" cy="369332"/>
          </a:xfrm>
          <a:prstGeom prst="rect">
            <a:avLst/>
          </a:prstGeom>
          <a:noFill/>
        </p:spPr>
        <p:txBody>
          <a:bodyPr wrap="none" rtlCol="0">
            <a:spAutoFit/>
          </a:bodyPr>
          <a:lstStyle/>
          <a:p>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Fuente: </a:t>
            </a:r>
            <a:r>
              <a:rPr lang="es-ES" dirty="0" err="1">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Storyset</a:t>
            </a:r>
            <a:r>
              <a:rPr lang="es-ES"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rPr>
              <a:t>. Recuperado de https://storyset.com/</a:t>
            </a:r>
            <a:endParaRPr lang="es-CO" dirty="0">
              <a:solidFill>
                <a:schemeClr val="bg2">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20" name="CuadroTexto 19">
            <a:extLst>
              <a:ext uri="{FF2B5EF4-FFF2-40B4-BE49-F238E27FC236}">
                <a16:creationId xmlns:a16="http://schemas.microsoft.com/office/drawing/2014/main" id="{F1D469FA-F8B1-48AE-873F-46B87A4715FA}"/>
              </a:ext>
            </a:extLst>
          </p:cNvPr>
          <p:cNvSpPr txBox="1"/>
          <p:nvPr/>
        </p:nvSpPr>
        <p:spPr>
          <a:xfrm>
            <a:off x="1126435" y="4087793"/>
            <a:ext cx="6440556" cy="1631216"/>
          </a:xfrm>
          <a:prstGeom prst="rect">
            <a:avLst/>
          </a:prstGeom>
          <a:noFill/>
        </p:spPr>
        <p:txBody>
          <a:bodyPr wrap="square" rtlCol="0">
            <a:spAutoFit/>
          </a:bodyPr>
          <a:lstStyle/>
          <a:p>
            <a:pPr marL="342900" indent="-342900" algn="just">
              <a:buFont typeface="Wingdings" panose="05000000000000000000" pitchFamily="2" charset="2"/>
              <a:buChar char="ü"/>
            </a:pPr>
            <a:r>
              <a:rPr lang="es-ES" sz="2000" dirty="0" err="1">
                <a:latin typeface="Maleo" panose="02000006070000000000" pitchFamily="2" charset="0"/>
                <a:ea typeface="Maleo" panose="02000006070000000000" pitchFamily="2" charset="0"/>
                <a:cs typeface="Maleo" panose="02000006070000000000" pitchFamily="2" charset="0"/>
              </a:rPr>
              <a:t>EduFinanzas</a:t>
            </a:r>
            <a:r>
              <a:rPr lang="es-ES" sz="2000" dirty="0">
                <a:latin typeface="Maleo" panose="02000006070000000000" pitchFamily="2" charset="0"/>
                <a:ea typeface="Maleo" panose="02000006070000000000" pitchFamily="2" charset="0"/>
                <a:cs typeface="Maleo" panose="02000006070000000000" pitchFamily="2" charset="0"/>
              </a:rPr>
              <a:t> tiene potencial para fortalecer la educación financiera de estas comunidades mediante una plataforma inclusiva, con opciones de acceso con y sin suscripción. Además, busca contribuir a la transformación digital del sector financiero, convirtiendo el uso de datos en un mayor bienestar económico para la sociedad.</a:t>
            </a:r>
          </a:p>
        </p:txBody>
      </p:sp>
      <p:pic>
        <p:nvPicPr>
          <p:cNvPr id="7" name="Imagen 6">
            <a:extLst>
              <a:ext uri="{FF2B5EF4-FFF2-40B4-BE49-F238E27FC236}">
                <a16:creationId xmlns:a16="http://schemas.microsoft.com/office/drawing/2014/main" id="{6DFD318E-8A5E-422E-AC96-F6824E3E2541}"/>
              </a:ext>
            </a:extLst>
          </p:cNvPr>
          <p:cNvPicPr>
            <a:picLocks noChangeAspect="1"/>
          </p:cNvPicPr>
          <p:nvPr/>
        </p:nvPicPr>
        <p:blipFill rotWithShape="1">
          <a:blip r:embed="rId3">
            <a:extLst>
              <a:ext uri="{28A0092B-C50C-407E-A947-70E740481C1C}">
                <a14:useLocalDpi xmlns:a14="http://schemas.microsoft.com/office/drawing/2010/main" val="0"/>
              </a:ext>
            </a:extLst>
          </a:blip>
          <a:srcRect l="8077" t="6965" r="4958" b="9452"/>
          <a:stretch/>
        </p:blipFill>
        <p:spPr>
          <a:xfrm>
            <a:off x="7944385" y="1856229"/>
            <a:ext cx="3593100" cy="3453322"/>
          </a:xfrm>
          <a:prstGeom prst="rect">
            <a:avLst/>
          </a:prstGeom>
        </p:spPr>
      </p:pic>
    </p:spTree>
    <p:extLst>
      <p:ext uri="{BB962C8B-B14F-4D97-AF65-F5344CB8AC3E}">
        <p14:creationId xmlns:p14="http://schemas.microsoft.com/office/powerpoint/2010/main" val="22588880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37</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9744501" y="1066344"/>
            <a:ext cx="1959101"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08 BIBLIOGRAFÍA</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322594"/>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Bibliografía Relevante</a:t>
            </a:r>
          </a:p>
        </p:txBody>
      </p:sp>
      <p:sp>
        <p:nvSpPr>
          <p:cNvPr id="21" name="CuadroTexto 20">
            <a:extLst>
              <a:ext uri="{FF2B5EF4-FFF2-40B4-BE49-F238E27FC236}">
                <a16:creationId xmlns:a16="http://schemas.microsoft.com/office/drawing/2014/main" id="{723EFBE9-7F11-4CAD-A396-36FA08820C4B}"/>
              </a:ext>
            </a:extLst>
          </p:cNvPr>
          <p:cNvSpPr txBox="1"/>
          <p:nvPr/>
        </p:nvSpPr>
        <p:spPr>
          <a:xfrm>
            <a:off x="1098550" y="2037443"/>
            <a:ext cx="10521950" cy="3416320"/>
          </a:xfrm>
          <a:prstGeom prst="rect">
            <a:avLst/>
          </a:prstGeom>
          <a:noFill/>
        </p:spPr>
        <p:txBody>
          <a:bodyPr wrap="square" rtlCol="0">
            <a:spAutoFit/>
          </a:bodyPr>
          <a:lstStyle/>
          <a:p>
            <a:pPr marL="285750" indent="-285750">
              <a:buFont typeface="Arial" panose="020B0604020202020204" pitchFamily="34" charset="0"/>
              <a:buChar char="•"/>
            </a:pPr>
            <a:r>
              <a:rPr lang="es-ES" dirty="0">
                <a:latin typeface="Maleo" panose="02000006070000000000" pitchFamily="2" charset="0"/>
                <a:ea typeface="Maleo" panose="02000006070000000000" pitchFamily="2" charset="0"/>
                <a:cs typeface="Maleo" panose="02000006070000000000" pitchFamily="2" charset="0"/>
              </a:rPr>
              <a:t>Castellanos Rodríguez, L. E., Rodríguez-Pinilla, D., López-Rodríguez, A., &amp; Esguerra-Umaña, M. d. P. (2024). Educación financiera y bienestar financiero: Evidencia de Colombia en un entorno de alta inflación. Departamento Nacional de Planeación. https://colaboracion.dnp.gov.co/CDT/PublishingImages/Planeacion-y-desarrollo/2024/Septiembre/PDF/dnp-educacion-financiera.pdf</a:t>
            </a:r>
          </a:p>
          <a:p>
            <a:pPr marL="285750" indent="-285750">
              <a:buFont typeface="Arial" panose="020B0604020202020204" pitchFamily="34" charset="0"/>
              <a:buChar char="•"/>
            </a:pPr>
            <a:r>
              <a:rPr lang="es-ES" dirty="0">
                <a:latin typeface="Maleo" panose="02000006070000000000" pitchFamily="2" charset="0"/>
                <a:ea typeface="Maleo" panose="02000006070000000000" pitchFamily="2" charset="0"/>
                <a:cs typeface="Maleo" panose="02000006070000000000" pitchFamily="2" charset="0"/>
              </a:rPr>
              <a:t>Cifuentes, J. T., &amp; Hernández, J. B. (2025). Innovación y desarrollo de las </a:t>
            </a:r>
            <a:r>
              <a:rPr lang="es-ES" dirty="0" err="1">
                <a:latin typeface="Maleo" panose="02000006070000000000" pitchFamily="2" charset="0"/>
                <a:ea typeface="Maleo" panose="02000006070000000000" pitchFamily="2" charset="0"/>
                <a:cs typeface="Maleo" panose="02000006070000000000" pitchFamily="2" charset="0"/>
              </a:rPr>
              <a:t>fintech</a:t>
            </a:r>
            <a:r>
              <a:rPr lang="es-ES" dirty="0">
                <a:latin typeface="Maleo" panose="02000006070000000000" pitchFamily="2" charset="0"/>
                <a:ea typeface="Maleo" panose="02000006070000000000" pitchFamily="2" charset="0"/>
                <a:cs typeface="Maleo" panose="02000006070000000000" pitchFamily="2" charset="0"/>
              </a:rPr>
              <a:t> en Colombia: Un análisis de la literatura. Revista CIES, 16(1), 7-23. https://core.ac.uk/download/pdf/656057983.pdf</a:t>
            </a:r>
          </a:p>
          <a:p>
            <a:pPr marL="285750" indent="-285750">
              <a:buFont typeface="Arial" panose="020B0604020202020204" pitchFamily="34" charset="0"/>
              <a:buChar char="•"/>
            </a:pPr>
            <a:r>
              <a:rPr lang="es-ES" dirty="0" err="1">
                <a:latin typeface="Maleo" panose="02000006070000000000" pitchFamily="2" charset="0"/>
                <a:ea typeface="Maleo" panose="02000006070000000000" pitchFamily="2" charset="0"/>
                <a:cs typeface="Maleo" panose="02000006070000000000" pitchFamily="2" charset="0"/>
              </a:rPr>
              <a:t>ColombiaFintech</a:t>
            </a:r>
            <a:r>
              <a:rPr lang="es-ES" dirty="0">
                <a:latin typeface="Maleo" panose="02000006070000000000" pitchFamily="2" charset="0"/>
                <a:ea typeface="Maleo" panose="02000006070000000000" pitchFamily="2" charset="0"/>
                <a:cs typeface="Maleo" panose="02000006070000000000" pitchFamily="2" charset="0"/>
              </a:rPr>
              <a:t>. (2024). Mapeo nacional de educación económica y financiera 2024. https://colombiafintech.co/2024/11/29/mapeo-nacional-de-educacion-economica-y-financiera-2024/</a:t>
            </a:r>
          </a:p>
          <a:p>
            <a:pPr marL="285750" indent="-285750">
              <a:buFont typeface="Arial" panose="020B0604020202020204" pitchFamily="34" charset="0"/>
              <a:buChar char="•"/>
            </a:pPr>
            <a:r>
              <a:rPr lang="es-ES" dirty="0">
                <a:latin typeface="Maleo" panose="02000006070000000000" pitchFamily="2" charset="0"/>
                <a:ea typeface="Maleo" panose="02000006070000000000" pitchFamily="2" charset="0"/>
                <a:cs typeface="Maleo" panose="02000006070000000000" pitchFamily="2" charset="0"/>
              </a:rPr>
              <a:t>Comisión Intersectorial para la Educación Económica y Financiera. (2017). Capacidades financieras en Colombia: Resultados de la encuesta nacional sobre comportamientos, actitudes y conocimientos financieros. Banco de la República. https://www.banrep.gov.co/sites/default/files/ciones/archivos/estrategia_nacional_educacion_economica.pdf</a:t>
            </a:r>
          </a:p>
          <a:p>
            <a:pPr marL="285750" indent="-285750">
              <a:buFont typeface="Arial" panose="020B0604020202020204" pitchFamily="34" charset="0"/>
              <a:buChar char="•"/>
            </a:pPr>
            <a:r>
              <a:rPr lang="es-ES" dirty="0">
                <a:latin typeface="Maleo" panose="02000006070000000000" pitchFamily="2" charset="0"/>
                <a:ea typeface="Maleo" panose="02000006070000000000" pitchFamily="2" charset="0"/>
                <a:cs typeface="Maleo" panose="02000006070000000000" pitchFamily="2" charset="0"/>
              </a:rPr>
              <a:t>Departamento Administrativo Nacional de Estadística. (2025c). Ocupación informal. Trimestre móvil septiembre- noviembre 2025. Gobierno de Colombia. https://www.dane.gov.co/files/operaciones/GEIH/bol-GEIHEISS-sep-nov2025.pdf</a:t>
            </a:r>
          </a:p>
        </p:txBody>
      </p:sp>
    </p:spTree>
    <p:extLst>
      <p:ext uri="{BB962C8B-B14F-4D97-AF65-F5344CB8AC3E}">
        <p14:creationId xmlns:p14="http://schemas.microsoft.com/office/powerpoint/2010/main" val="2236621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38</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9744501" y="1066344"/>
            <a:ext cx="1959101"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08 BIBLIOGRAFÍA</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322594"/>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Bibliografía Relevante</a:t>
            </a:r>
          </a:p>
        </p:txBody>
      </p:sp>
      <p:sp>
        <p:nvSpPr>
          <p:cNvPr id="21" name="CuadroTexto 20">
            <a:extLst>
              <a:ext uri="{FF2B5EF4-FFF2-40B4-BE49-F238E27FC236}">
                <a16:creationId xmlns:a16="http://schemas.microsoft.com/office/drawing/2014/main" id="{723EFBE9-7F11-4CAD-A396-36FA08820C4B}"/>
              </a:ext>
            </a:extLst>
          </p:cNvPr>
          <p:cNvSpPr txBox="1"/>
          <p:nvPr/>
        </p:nvSpPr>
        <p:spPr>
          <a:xfrm>
            <a:off x="1098550" y="2037443"/>
            <a:ext cx="10521950" cy="2308324"/>
          </a:xfrm>
          <a:prstGeom prst="rect">
            <a:avLst/>
          </a:prstGeom>
          <a:noFill/>
        </p:spPr>
        <p:txBody>
          <a:bodyPr wrap="square" rtlCol="0">
            <a:spAutoFit/>
          </a:bodyPr>
          <a:lstStyle/>
          <a:p>
            <a:pPr marL="285750" indent="-285750">
              <a:buFont typeface="Arial" panose="020B0604020202020204" pitchFamily="34" charset="0"/>
              <a:buChar char="•"/>
            </a:pPr>
            <a:r>
              <a:rPr lang="es-ES" dirty="0">
                <a:latin typeface="Maleo" panose="02000006070000000000" pitchFamily="2" charset="0"/>
                <a:ea typeface="Maleo" panose="02000006070000000000" pitchFamily="2" charset="0"/>
                <a:cs typeface="Maleo" panose="02000006070000000000" pitchFamily="2" charset="0"/>
              </a:rPr>
              <a:t>Dirección de Impuestos y Aduanas Nacionales. (2021). Resolución 70 de 2021. https://normograma.dian.gov.co/dian/compilacion/docs/resolución_dian_0070_2021.htm/</a:t>
            </a:r>
          </a:p>
          <a:p>
            <a:pPr marL="285750" indent="-285750">
              <a:buFont typeface="Arial" panose="020B0604020202020204" pitchFamily="34" charset="0"/>
              <a:buChar char="•"/>
            </a:pPr>
            <a:r>
              <a:rPr lang="en-US" dirty="0">
                <a:latin typeface="Maleo" panose="02000006070000000000" pitchFamily="2" charset="0"/>
                <a:ea typeface="Maleo" panose="02000006070000000000" pitchFamily="2" charset="0"/>
                <a:cs typeface="Maleo" panose="02000006070000000000" pitchFamily="2" charset="0"/>
              </a:rPr>
              <a:t>Fernández, J. (2026). Financial literacy: What it is, and why it is so important to teach teens. https://www.investopedia.com/terms/f/financial-literacy.asp</a:t>
            </a:r>
          </a:p>
          <a:p>
            <a:pPr marL="285750" indent="-285750">
              <a:buFont typeface="Arial" panose="020B0604020202020204" pitchFamily="34" charset="0"/>
              <a:buChar char="•"/>
            </a:pPr>
            <a:r>
              <a:rPr lang="it-IT" dirty="0">
                <a:latin typeface="Maleo" panose="02000006070000000000" pitchFamily="2" charset="0"/>
                <a:ea typeface="Maleo" panose="02000006070000000000" pitchFamily="2" charset="0"/>
                <a:cs typeface="Maleo" panose="02000006070000000000" pitchFamily="2" charset="0"/>
              </a:rPr>
              <a:t>Finnovista. (2024). Fintech radar Colombia: VII edición. Finnosummit. https://www.finnovista.com/wp-content/uploads/2024/05/RADAR-COLOMBIA-ESPANOL-3.pdf</a:t>
            </a:r>
          </a:p>
          <a:p>
            <a:pPr marL="285750" indent="-285750">
              <a:buFont typeface="Arial" panose="020B0604020202020204" pitchFamily="34" charset="0"/>
              <a:buChar char="•"/>
            </a:pPr>
            <a:r>
              <a:rPr lang="en-US" dirty="0">
                <a:latin typeface="Maleo" panose="02000006070000000000" pitchFamily="2" charset="0"/>
                <a:ea typeface="Maleo" panose="02000006070000000000" pitchFamily="2" charset="0"/>
                <a:cs typeface="Maleo" panose="02000006070000000000" pitchFamily="2" charset="0"/>
              </a:rPr>
              <a:t>Lusardi, A., &amp; Mitchell, O. S. (2014). The economic importance of financial literacy: Theory and evidence. Journal of Economic Literature, 52(1), 5-44. https://doi.org/10.1257/jel.52.1.5</a:t>
            </a:r>
          </a:p>
          <a:p>
            <a:pPr marL="285750" indent="-285750">
              <a:buFont typeface="Arial" panose="020B0604020202020204" pitchFamily="34" charset="0"/>
              <a:buChar char="•"/>
            </a:pPr>
            <a:r>
              <a:rPr lang="es-ES" dirty="0">
                <a:latin typeface="Maleo" panose="02000006070000000000" pitchFamily="2" charset="0"/>
                <a:ea typeface="Maleo" panose="02000006070000000000" pitchFamily="2" charset="0"/>
                <a:cs typeface="Maleo" panose="02000006070000000000" pitchFamily="2" charset="0"/>
              </a:rPr>
              <a:t>Secretaría del Senado. (2008). Ley 1258 de 2008. http://www.secretariasenado.gov.co/senado/basedoc/ley12582008.html</a:t>
            </a:r>
          </a:p>
        </p:txBody>
      </p:sp>
    </p:spTree>
    <p:extLst>
      <p:ext uri="{BB962C8B-B14F-4D97-AF65-F5344CB8AC3E}">
        <p14:creationId xmlns:p14="http://schemas.microsoft.com/office/powerpoint/2010/main" val="37702376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cxnSp>
        <p:nvCxnSpPr>
          <p:cNvPr id="3" name="Conector recto 2">
            <a:extLst>
              <a:ext uri="{FF2B5EF4-FFF2-40B4-BE49-F238E27FC236}">
                <a16:creationId xmlns:a16="http://schemas.microsoft.com/office/drawing/2014/main" id="{4BC251E0-0C43-4120-BECE-871E7189AFA9}"/>
              </a:ext>
            </a:extLst>
          </p:cNvPr>
          <p:cNvCxnSpPr>
            <a:cxnSpLocks/>
          </p:cNvCxnSpPr>
          <p:nvPr/>
        </p:nvCxnSpPr>
        <p:spPr>
          <a:xfrm>
            <a:off x="1803400" y="1066800"/>
            <a:ext cx="9817100" cy="0"/>
          </a:xfrm>
          <a:prstGeom prst="line">
            <a:avLst/>
          </a:prstGeom>
          <a:ln w="19050">
            <a:solidFill>
              <a:srgbClr val="80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C82F7DC-F90A-4E54-B260-B9C633B851FE}"/>
              </a:ext>
            </a:extLst>
          </p:cNvPr>
          <p:cNvCxnSpPr>
            <a:cxnSpLocks/>
          </p:cNvCxnSpPr>
          <p:nvPr/>
        </p:nvCxnSpPr>
        <p:spPr>
          <a:xfrm>
            <a:off x="9982273" y="62731"/>
            <a:ext cx="0" cy="88616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38FBA47-5807-418D-9A20-F00180F1DD83}"/>
              </a:ext>
            </a:extLst>
          </p:cNvPr>
          <p:cNvSpPr txBox="1"/>
          <p:nvPr/>
        </p:nvSpPr>
        <p:spPr>
          <a:xfrm>
            <a:off x="10045846" y="263987"/>
            <a:ext cx="1498527" cy="707886"/>
          </a:xfrm>
          <a:prstGeom prst="rect">
            <a:avLst/>
          </a:prstGeom>
          <a:noFill/>
        </p:spPr>
        <p:txBody>
          <a:bodyPr wrap="square" rtlCol="0">
            <a:spAutoFit/>
          </a:bodyPr>
          <a:lstStyle/>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Opción de Grado:</a:t>
            </a:r>
          </a:p>
          <a:p>
            <a:pPr algn="ctr"/>
            <a:r>
              <a:rPr lang="es-ES"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rPr>
              <a:t>EMPRENDIMIENTO</a:t>
            </a:r>
            <a:endParaRPr lang="es-CO" sz="2000" dirty="0">
              <a:solidFill>
                <a:schemeClr val="bg1">
                  <a:lumMod val="50000"/>
                </a:schemeClr>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39</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3" name="CuadroTexto 12">
            <a:extLst>
              <a:ext uri="{FF2B5EF4-FFF2-40B4-BE49-F238E27FC236}">
                <a16:creationId xmlns:a16="http://schemas.microsoft.com/office/drawing/2014/main" id="{579F7479-2CC9-4253-BF81-B75811BC268F}"/>
              </a:ext>
            </a:extLst>
          </p:cNvPr>
          <p:cNvSpPr txBox="1"/>
          <p:nvPr/>
        </p:nvSpPr>
        <p:spPr>
          <a:xfrm>
            <a:off x="9744501" y="1066344"/>
            <a:ext cx="1959101" cy="338554"/>
          </a:xfrm>
          <a:prstGeom prst="rect">
            <a:avLst/>
          </a:prstGeom>
          <a:noFill/>
        </p:spPr>
        <p:txBody>
          <a:bodyPr wrap="square" rtlCol="0">
            <a:spAutoFit/>
          </a:bodyPr>
          <a:lstStyle/>
          <a:p>
            <a:pPr algn="r"/>
            <a:r>
              <a:rPr lang="es-ES" sz="1600" dirty="0">
                <a:solidFill>
                  <a:srgbClr val="8D2F3C"/>
                </a:solidFill>
                <a:latin typeface="Impact" panose="020B0806030902050204" pitchFamily="34" charset="0"/>
                <a:ea typeface="Iosevka" panose="02000509030000000004" pitchFamily="49" charset="0"/>
                <a:cs typeface="Iosevka" panose="02000509030000000004" pitchFamily="49" charset="0"/>
              </a:rPr>
              <a:t>09 AGRADECIMIENTOS</a:t>
            </a:r>
            <a:endParaRPr lang="es-CO" sz="1600" dirty="0">
              <a:solidFill>
                <a:srgbClr val="8D2F3C"/>
              </a:solidFill>
              <a:latin typeface="Impact" panose="020B0806030902050204" pitchFamily="34" charset="0"/>
              <a:ea typeface="Iosevka" panose="02000509030000000004" pitchFamily="49" charset="0"/>
              <a:cs typeface="Iosevka" panose="02000509030000000004" pitchFamily="49" charset="0"/>
            </a:endParaRPr>
          </a:p>
        </p:txBody>
      </p:sp>
      <p:sp>
        <p:nvSpPr>
          <p:cNvPr id="15" name="CuadroTexto 14">
            <a:extLst>
              <a:ext uri="{FF2B5EF4-FFF2-40B4-BE49-F238E27FC236}">
                <a16:creationId xmlns:a16="http://schemas.microsoft.com/office/drawing/2014/main" id="{6C037889-2CB9-4ECD-9D84-70F1BC95B31B}"/>
              </a:ext>
            </a:extLst>
          </p:cNvPr>
          <p:cNvSpPr txBox="1"/>
          <p:nvPr/>
        </p:nvSpPr>
        <p:spPr>
          <a:xfrm>
            <a:off x="1716552" y="1554610"/>
            <a:ext cx="9186988" cy="769441"/>
          </a:xfrm>
          <a:prstGeom prst="rect">
            <a:avLst/>
          </a:prstGeom>
          <a:noFill/>
        </p:spPr>
        <p:txBody>
          <a:bodyPr wrap="square" rtlCol="0">
            <a:spAutoFit/>
          </a:bodyPr>
          <a:lstStyle/>
          <a:p>
            <a:r>
              <a:rPr lang="es-ES" sz="4400" dirty="0">
                <a:solidFill>
                  <a:srgbClr val="8D2F3C"/>
                </a:solidFill>
                <a:latin typeface="Maleo" panose="02000006070000000000" pitchFamily="2" charset="0"/>
                <a:ea typeface="Maleo" panose="02000006070000000000" pitchFamily="2" charset="0"/>
                <a:cs typeface="Maleo" panose="02000006070000000000" pitchFamily="2" charset="0"/>
              </a:rPr>
              <a:t>Agradecimientos</a:t>
            </a:r>
          </a:p>
        </p:txBody>
      </p:sp>
      <p:sp>
        <p:nvSpPr>
          <p:cNvPr id="12" name="CuadroTexto 11">
            <a:extLst>
              <a:ext uri="{FF2B5EF4-FFF2-40B4-BE49-F238E27FC236}">
                <a16:creationId xmlns:a16="http://schemas.microsoft.com/office/drawing/2014/main" id="{ACE29CE4-C7E6-4BE5-A380-EFB3E4FA51FE}"/>
              </a:ext>
            </a:extLst>
          </p:cNvPr>
          <p:cNvSpPr txBox="1"/>
          <p:nvPr/>
        </p:nvSpPr>
        <p:spPr>
          <a:xfrm>
            <a:off x="1126435" y="2390314"/>
            <a:ext cx="10417938" cy="1938992"/>
          </a:xfrm>
          <a:prstGeom prst="rect">
            <a:avLst/>
          </a:prstGeom>
          <a:noFill/>
        </p:spPr>
        <p:txBody>
          <a:bodyPr wrap="square" rtlCol="0">
            <a:spAutoFit/>
          </a:bodyPr>
          <a:lstStyle/>
          <a:p>
            <a:pPr marL="457200" indent="-457200" algn="just">
              <a:buFont typeface="Arial" panose="020B0604020202020204" pitchFamily="34" charset="0"/>
              <a:buChar char="•"/>
            </a:pPr>
            <a:r>
              <a:rPr lang="es-ES" sz="3000" dirty="0">
                <a:latin typeface="Maleo" panose="02000006070000000000" pitchFamily="2" charset="0"/>
                <a:ea typeface="Maleo" panose="02000006070000000000" pitchFamily="2" charset="0"/>
                <a:cs typeface="Maleo" panose="02000006070000000000" pitchFamily="2" charset="0"/>
              </a:rPr>
              <a:t>Grupo de Emprendimiento</a:t>
            </a:r>
          </a:p>
          <a:p>
            <a:pPr marL="457200" indent="-457200" algn="just">
              <a:buFont typeface="Arial" panose="020B0604020202020204" pitchFamily="34" charset="0"/>
              <a:buChar char="•"/>
            </a:pPr>
            <a:r>
              <a:rPr lang="es-ES" sz="3000" dirty="0">
                <a:latin typeface="Maleo" panose="02000006070000000000" pitchFamily="2" charset="0"/>
                <a:ea typeface="Maleo" panose="02000006070000000000" pitchFamily="2" charset="0"/>
                <a:cs typeface="Maleo" panose="02000006070000000000" pitchFamily="2" charset="0"/>
              </a:rPr>
              <a:t>Ing. Abel Antonio Navarrete</a:t>
            </a:r>
          </a:p>
          <a:p>
            <a:pPr marL="457200" indent="-457200" algn="just">
              <a:buFont typeface="Arial" panose="020B0604020202020204" pitchFamily="34" charset="0"/>
              <a:buChar char="•"/>
            </a:pPr>
            <a:r>
              <a:rPr lang="es-ES" sz="3000" dirty="0">
                <a:latin typeface="Maleo" panose="02000006070000000000" pitchFamily="2" charset="0"/>
                <a:ea typeface="Maleo" panose="02000006070000000000" pitchFamily="2" charset="0"/>
                <a:cs typeface="Maleo" panose="02000006070000000000" pitchFamily="2" charset="0"/>
              </a:rPr>
              <a:t>Ing. José David Álvarez Plata</a:t>
            </a:r>
          </a:p>
          <a:p>
            <a:pPr marL="457200" indent="-457200" algn="just">
              <a:buFont typeface="Arial" panose="020B0604020202020204" pitchFamily="34" charset="0"/>
              <a:buChar char="•"/>
            </a:pPr>
            <a:r>
              <a:rPr lang="es-ES" sz="3000" dirty="0">
                <a:latin typeface="Maleo" panose="02000006070000000000" pitchFamily="2" charset="0"/>
                <a:ea typeface="Maleo" panose="02000006070000000000" pitchFamily="2" charset="0"/>
                <a:cs typeface="Maleo" panose="02000006070000000000" pitchFamily="2" charset="0"/>
              </a:rPr>
              <a:t>Docentes y compañeros que nos acompañaron durante el proceso de formación</a:t>
            </a:r>
          </a:p>
        </p:txBody>
      </p:sp>
    </p:spTree>
    <p:extLst>
      <p:ext uri="{BB962C8B-B14F-4D97-AF65-F5344CB8AC3E}">
        <p14:creationId xmlns:p14="http://schemas.microsoft.com/office/powerpoint/2010/main" val="2269887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1BEE19F-C932-49A5-9F81-8B0BF348C00A}"/>
              </a:ext>
            </a:extLst>
          </p:cNvPr>
          <p:cNvSpPr txBox="1"/>
          <p:nvPr/>
        </p:nvSpPr>
        <p:spPr>
          <a:xfrm>
            <a:off x="317501" y="0"/>
            <a:ext cx="2273300" cy="830997"/>
          </a:xfrm>
          <a:prstGeom prst="rect">
            <a:avLst/>
          </a:prstGeom>
          <a:noFill/>
        </p:spPr>
        <p:txBody>
          <a:bodyPr wrap="square" rtlCol="0">
            <a:spAutoFit/>
          </a:bodyPr>
          <a:lstStyle/>
          <a:p>
            <a:r>
              <a:rPr lang="es-ES" sz="4800" dirty="0">
                <a:solidFill>
                  <a:schemeClr val="bg1">
                    <a:lumMod val="50000"/>
                  </a:schemeClr>
                </a:solidFill>
                <a:latin typeface="BalboaW01-Bold" panose="02000506040000020003" pitchFamily="2" charset="0"/>
              </a:rPr>
              <a:t>Pregrado</a:t>
            </a:r>
            <a:endParaRPr lang="es-CO" sz="4800" dirty="0">
              <a:solidFill>
                <a:schemeClr val="bg1">
                  <a:lumMod val="50000"/>
                </a:schemeClr>
              </a:solidFill>
              <a:latin typeface="BalboaW01-Bold" panose="02000506040000020003" pitchFamily="2" charset="0"/>
            </a:endParaRPr>
          </a:p>
        </p:txBody>
      </p:sp>
      <p:sp>
        <p:nvSpPr>
          <p:cNvPr id="5" name="CuadroTexto 4">
            <a:extLst>
              <a:ext uri="{FF2B5EF4-FFF2-40B4-BE49-F238E27FC236}">
                <a16:creationId xmlns:a16="http://schemas.microsoft.com/office/drawing/2014/main" id="{18B54E9E-09F1-4774-B20A-43072D5A677C}"/>
              </a:ext>
            </a:extLst>
          </p:cNvPr>
          <p:cNvSpPr txBox="1"/>
          <p:nvPr/>
        </p:nvSpPr>
        <p:spPr>
          <a:xfrm>
            <a:off x="711200" y="378429"/>
            <a:ext cx="3124200" cy="830997"/>
          </a:xfrm>
          <a:prstGeom prst="rect">
            <a:avLst/>
          </a:prstGeom>
          <a:noFill/>
        </p:spPr>
        <p:txBody>
          <a:bodyPr wrap="square" rtlCol="0">
            <a:spAutoFit/>
          </a:bodyPr>
          <a:lstStyle/>
          <a:p>
            <a:r>
              <a:rPr lang="es-ES" sz="4800" dirty="0">
                <a:solidFill>
                  <a:srgbClr val="8D2F3C"/>
                </a:solidFill>
                <a:latin typeface="Maleo" panose="02000006070000000000" pitchFamily="2" charset="0"/>
                <a:ea typeface="Maleo" panose="02000006070000000000" pitchFamily="2" charset="0"/>
                <a:cs typeface="Maleo" panose="02000006070000000000" pitchFamily="2" charset="0"/>
              </a:rPr>
              <a:t>en Ingeniería</a:t>
            </a:r>
            <a:endParaRPr lang="es-CO" sz="48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sp>
        <p:nvSpPr>
          <p:cNvPr id="17" name="CuadroTexto 16">
            <a:extLst>
              <a:ext uri="{FF2B5EF4-FFF2-40B4-BE49-F238E27FC236}">
                <a16:creationId xmlns:a16="http://schemas.microsoft.com/office/drawing/2014/main" id="{450C147D-1F9F-4E64-A50B-A63CDD10CB42}"/>
              </a:ext>
            </a:extLst>
          </p:cNvPr>
          <p:cNvSpPr txBox="1"/>
          <p:nvPr/>
        </p:nvSpPr>
        <p:spPr>
          <a:xfrm>
            <a:off x="501650" y="6444758"/>
            <a:ext cx="11188700" cy="400110"/>
          </a:xfrm>
          <a:prstGeom prst="rect">
            <a:avLst/>
          </a:prstGeom>
          <a:noFill/>
        </p:spPr>
        <p:txBody>
          <a:bodyPr wrap="square" rtlCol="0">
            <a:spAutoFit/>
          </a:bodyPr>
          <a:lstStyle/>
          <a:p>
            <a:pPr algn="ctr"/>
            <a:r>
              <a:rPr lang="es-ES" sz="2000" spc="300" dirty="0">
                <a:solidFill>
                  <a:srgbClr val="800000"/>
                </a:solidFill>
                <a:latin typeface="Maleo" panose="02000006070000000000" pitchFamily="2" charset="0"/>
                <a:ea typeface="Maleo" panose="02000006070000000000" pitchFamily="2" charset="0"/>
                <a:cs typeface="Maleo" panose="02000006070000000000" pitchFamily="2" charset="0"/>
              </a:rPr>
              <a:t>UNIVERSIDAD DISTRITAL “FRANCISCO JOSÉ DE CALDAS”</a:t>
            </a:r>
          </a:p>
        </p:txBody>
      </p:sp>
      <p:sp>
        <p:nvSpPr>
          <p:cNvPr id="14" name="Rectángulo 13">
            <a:extLst>
              <a:ext uri="{FF2B5EF4-FFF2-40B4-BE49-F238E27FC236}">
                <a16:creationId xmlns:a16="http://schemas.microsoft.com/office/drawing/2014/main" id="{0FC89887-A7C8-46C9-984F-AAFE6CFF14D5}"/>
              </a:ext>
            </a:extLst>
          </p:cNvPr>
          <p:cNvSpPr/>
          <p:nvPr/>
        </p:nvSpPr>
        <p:spPr>
          <a:xfrm>
            <a:off x="0" y="6444758"/>
            <a:ext cx="596900" cy="413241"/>
          </a:xfrm>
          <a:prstGeom prst="rect">
            <a:avLst/>
          </a:prstGeom>
          <a:solidFill>
            <a:srgbClr val="8D2F3C"/>
          </a:solidFill>
          <a:ln>
            <a:solidFill>
              <a:srgbClr val="8D2F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latin typeface="Maleo" panose="02000006070000000000" pitchFamily="2" charset="0"/>
                <a:ea typeface="Maleo" panose="02000006070000000000" pitchFamily="2" charset="0"/>
                <a:cs typeface="Maleo" panose="02000006070000000000" pitchFamily="2" charset="0"/>
              </a:rPr>
              <a:t>40</a:t>
            </a:r>
            <a:endParaRPr lang="es-CO" sz="2400" dirty="0">
              <a:latin typeface="Maleo" panose="02000006070000000000" pitchFamily="2" charset="0"/>
              <a:ea typeface="Maleo" panose="02000006070000000000" pitchFamily="2" charset="0"/>
              <a:cs typeface="Maleo" panose="02000006070000000000" pitchFamily="2" charset="0"/>
            </a:endParaRPr>
          </a:p>
        </p:txBody>
      </p:sp>
      <p:pic>
        <p:nvPicPr>
          <p:cNvPr id="18" name="Imagen 17">
            <a:extLst>
              <a:ext uri="{FF2B5EF4-FFF2-40B4-BE49-F238E27FC236}">
                <a16:creationId xmlns:a16="http://schemas.microsoft.com/office/drawing/2014/main" id="{8D347DFD-1A51-448D-B580-42A3555A426E}"/>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0903540" y="5537074"/>
            <a:ext cx="1116182" cy="1151697"/>
          </a:xfrm>
          <a:prstGeom prst="rect">
            <a:avLst/>
          </a:prstGeom>
        </p:spPr>
      </p:pic>
      <p:sp>
        <p:nvSpPr>
          <p:cNvPr id="15" name="CuadroTexto 14">
            <a:extLst>
              <a:ext uri="{FF2B5EF4-FFF2-40B4-BE49-F238E27FC236}">
                <a16:creationId xmlns:a16="http://schemas.microsoft.com/office/drawing/2014/main" id="{6C037889-2CB9-4ECD-9D84-70F1BC95B31B}"/>
              </a:ext>
            </a:extLst>
          </p:cNvPr>
          <p:cNvSpPr txBox="1"/>
          <p:nvPr/>
        </p:nvSpPr>
        <p:spPr>
          <a:xfrm>
            <a:off x="1502506" y="1461890"/>
            <a:ext cx="9186988" cy="1862048"/>
          </a:xfrm>
          <a:prstGeom prst="rect">
            <a:avLst/>
          </a:prstGeom>
          <a:noFill/>
        </p:spPr>
        <p:txBody>
          <a:bodyPr wrap="square" rtlCol="0">
            <a:spAutoFit/>
          </a:bodyPr>
          <a:lstStyle/>
          <a:p>
            <a:pPr algn="ctr"/>
            <a:r>
              <a:rPr lang="es-ES" sz="11500" dirty="0">
                <a:solidFill>
                  <a:srgbClr val="8D2F3C"/>
                </a:solidFill>
                <a:latin typeface="Maleo" panose="02000006070000000000" pitchFamily="2" charset="0"/>
                <a:ea typeface="Maleo" panose="02000006070000000000" pitchFamily="2" charset="0"/>
                <a:cs typeface="Maleo" panose="02000006070000000000" pitchFamily="2" charset="0"/>
              </a:rPr>
              <a:t>Gracias</a:t>
            </a:r>
          </a:p>
        </p:txBody>
      </p:sp>
      <p:sp>
        <p:nvSpPr>
          <p:cNvPr id="9" name="CuadroTexto 8">
            <a:extLst>
              <a:ext uri="{FF2B5EF4-FFF2-40B4-BE49-F238E27FC236}">
                <a16:creationId xmlns:a16="http://schemas.microsoft.com/office/drawing/2014/main" id="{82ECE2CC-1206-4056-90AC-D895DDE533AF}"/>
              </a:ext>
            </a:extLst>
          </p:cNvPr>
          <p:cNvSpPr txBox="1"/>
          <p:nvPr/>
        </p:nvSpPr>
        <p:spPr>
          <a:xfrm>
            <a:off x="501650" y="5405302"/>
            <a:ext cx="11188700" cy="584775"/>
          </a:xfrm>
          <a:prstGeom prst="rect">
            <a:avLst/>
          </a:prstGeom>
          <a:noFill/>
        </p:spPr>
        <p:txBody>
          <a:bodyPr wrap="square" rtlCol="0">
            <a:spAutoFit/>
          </a:bodyPr>
          <a:lstStyle/>
          <a:p>
            <a:pPr algn="ctr"/>
            <a:r>
              <a:rPr lang="es-ES" sz="3200" dirty="0">
                <a:solidFill>
                  <a:srgbClr val="8D2F3C"/>
                </a:solidFill>
                <a:latin typeface="Maleo" panose="02000006070000000000" pitchFamily="2" charset="0"/>
                <a:ea typeface="Maleo" panose="02000006070000000000" pitchFamily="2" charset="0"/>
                <a:cs typeface="Maleo" panose="02000006070000000000" pitchFamily="2" charset="0"/>
              </a:rPr>
              <a:t>Ray </a:t>
            </a:r>
            <a:r>
              <a:rPr lang="es-ES" sz="3200" dirty="0" err="1">
                <a:solidFill>
                  <a:srgbClr val="8D2F3C"/>
                </a:solidFill>
                <a:latin typeface="Maleo" panose="02000006070000000000" pitchFamily="2" charset="0"/>
                <a:ea typeface="Maleo" panose="02000006070000000000" pitchFamily="2" charset="0"/>
                <a:cs typeface="Maleo" panose="02000006070000000000" pitchFamily="2" charset="0"/>
              </a:rPr>
              <a:t>Dalio</a:t>
            </a:r>
            <a:endParaRPr lang="es-ES" sz="3200" dirty="0">
              <a:solidFill>
                <a:srgbClr val="8D2F3C"/>
              </a:solidFill>
              <a:latin typeface="Maleo" panose="02000006070000000000" pitchFamily="2" charset="0"/>
              <a:ea typeface="Maleo" panose="02000006070000000000" pitchFamily="2" charset="0"/>
              <a:cs typeface="Maleo" panose="02000006070000000000" pitchFamily="2" charset="0"/>
            </a:endParaRPr>
          </a:p>
        </p:txBody>
      </p:sp>
      <p:sp>
        <p:nvSpPr>
          <p:cNvPr id="10" name="CuadroTexto 9">
            <a:extLst>
              <a:ext uri="{FF2B5EF4-FFF2-40B4-BE49-F238E27FC236}">
                <a16:creationId xmlns:a16="http://schemas.microsoft.com/office/drawing/2014/main" id="{E41EE431-E6DA-43FD-8DEE-609725CE6E54}"/>
              </a:ext>
            </a:extLst>
          </p:cNvPr>
          <p:cNvSpPr txBox="1"/>
          <p:nvPr/>
        </p:nvSpPr>
        <p:spPr>
          <a:xfrm>
            <a:off x="501650" y="3290790"/>
            <a:ext cx="11188700" cy="2123658"/>
          </a:xfrm>
          <a:prstGeom prst="rect">
            <a:avLst/>
          </a:prstGeom>
          <a:noFill/>
        </p:spPr>
        <p:txBody>
          <a:bodyPr wrap="square" rtlCol="0">
            <a:spAutoFit/>
          </a:bodyPr>
          <a:lstStyle/>
          <a:p>
            <a:pPr algn="ctr"/>
            <a:r>
              <a:rPr lang="es-ES" sz="4400" dirty="0">
                <a:solidFill>
                  <a:srgbClr val="8D2F3C"/>
                </a:solidFill>
                <a:latin typeface="Maleo Trials" panose="02000006070000000000" pitchFamily="50" charset="0"/>
                <a:ea typeface="Maleo Trials" panose="02000006070000000000" pitchFamily="50" charset="0"/>
                <a:cs typeface="Maleo Trials" panose="02000006070000000000" pitchFamily="50" charset="0"/>
              </a:rPr>
              <a:t>“</a:t>
            </a:r>
            <a:r>
              <a:rPr lang="es-ES" sz="4400" dirty="0">
                <a:latin typeface="Maleo" panose="02000006070000000000" pitchFamily="2" charset="0"/>
                <a:ea typeface="Maleo" panose="02000006070000000000" pitchFamily="2" charset="0"/>
                <a:cs typeface="Maleo" panose="02000006070000000000" pitchFamily="2" charset="0"/>
              </a:rPr>
              <a:t>La economía funciona como una máquina simple, pero mucha gente no la entiende o no se pone de acuerdo sobre cómo funciona, y esto ha provocado mucho sufrimiento económico innecesario</a:t>
            </a:r>
            <a:r>
              <a:rPr lang="es-ES" sz="4400" dirty="0">
                <a:solidFill>
                  <a:srgbClr val="8D2F3C"/>
                </a:solidFill>
                <a:latin typeface="Maleo Trials" panose="02000006070000000000" pitchFamily="50" charset="0"/>
                <a:ea typeface="Maleo Trials" panose="02000006070000000000" pitchFamily="50" charset="0"/>
                <a:cs typeface="Maleo Trials" panose="02000006070000000000" pitchFamily="50" charset="0"/>
              </a:rPr>
              <a:t>”</a:t>
            </a:r>
          </a:p>
        </p:txBody>
      </p:sp>
    </p:spTree>
    <p:extLst>
      <p:ext uri="{BB962C8B-B14F-4D97-AF65-F5344CB8AC3E}">
        <p14:creationId xmlns:p14="http://schemas.microsoft.com/office/powerpoint/2010/main" val="5203015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858</TotalTime>
  <Words>2418</Words>
  <Application>Microsoft Office PowerPoint</Application>
  <PresentationFormat>Panorámica</PresentationFormat>
  <Paragraphs>434</Paragraphs>
  <Slides>41</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41</vt:i4>
      </vt:variant>
    </vt:vector>
  </HeadingPairs>
  <TitlesOfParts>
    <vt:vector size="51" baseType="lpstr">
      <vt:lpstr>Arial</vt:lpstr>
      <vt:lpstr>BalboaW01-Bold</vt:lpstr>
      <vt:lpstr>Calibri</vt:lpstr>
      <vt:lpstr>Calibri Light</vt:lpstr>
      <vt:lpstr>Impact</vt:lpstr>
      <vt:lpstr>Iosevka</vt:lpstr>
      <vt:lpstr>Maleo</vt:lpstr>
      <vt:lpstr>Maleo Trials</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David Leonardo Rincon Ovalle</dc:creator>
  <cp:lastModifiedBy>David Leonardo Rincon Ovalle</cp:lastModifiedBy>
  <cp:revision>50</cp:revision>
  <dcterms:created xsi:type="dcterms:W3CDTF">2026-07-06T18:52:48Z</dcterms:created>
  <dcterms:modified xsi:type="dcterms:W3CDTF">2026-08-16T23:08:56Z</dcterms:modified>
</cp:coreProperties>
</file>