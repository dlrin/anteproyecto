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2" r:id="rId16"/>
    <p:sldId id="270" r:id="rId17"/>
    <p:sldId id="273" r:id="rId18"/>
    <p:sldId id="274" r:id="rId19"/>
    <p:sldId id="275" r:id="rId20"/>
    <p:sldId id="297" r:id="rId21"/>
    <p:sldId id="276" r:id="rId22"/>
    <p:sldId id="277" r:id="rId23"/>
    <p:sldId id="279" r:id="rId24"/>
    <p:sldId id="289" r:id="rId25"/>
    <p:sldId id="298" r:id="rId26"/>
    <p:sldId id="280" r:id="rId27"/>
    <p:sldId id="282" r:id="rId28"/>
    <p:sldId id="283" r:id="rId29"/>
    <p:sldId id="284" r:id="rId30"/>
    <p:sldId id="300" r:id="rId31"/>
    <p:sldId id="286" r:id="rId32"/>
    <p:sldId id="285" r:id="rId33"/>
    <p:sldId id="287" r:id="rId34"/>
    <p:sldId id="288" r:id="rId35"/>
    <p:sldId id="290" r:id="rId36"/>
    <p:sldId id="291" r:id="rId37"/>
    <p:sldId id="292" r:id="rId38"/>
    <p:sldId id="293" r:id="rId39"/>
    <p:sldId id="296" r:id="rId40"/>
    <p:sldId id="294" r:id="rId41"/>
    <p:sldId id="295" r:id="rId4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2F3C"/>
    <a:srgbClr val="800000"/>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80" autoAdjust="0"/>
    <p:restoredTop sz="94542" autoAdjust="0"/>
  </p:normalViewPr>
  <p:slideViewPr>
    <p:cSldViewPr snapToGrid="0">
      <p:cViewPr varScale="1">
        <p:scale>
          <a:sx n="74" d="100"/>
          <a:sy n="74" d="100"/>
        </p:scale>
        <p:origin x="36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fif"/><Relationship Id="rId7"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9" name="CuadroTexto 8">
            <a:extLst>
              <a:ext uri="{FF2B5EF4-FFF2-40B4-BE49-F238E27FC236}">
                <a16:creationId xmlns:a16="http://schemas.microsoft.com/office/drawing/2014/main" id="{FD85A0EB-D89F-47C4-AB42-64FFB929174A}"/>
              </a:ext>
            </a:extLst>
          </p:cNvPr>
          <p:cNvSpPr txBox="1"/>
          <p:nvPr/>
        </p:nvSpPr>
        <p:spPr>
          <a:xfrm>
            <a:off x="501650" y="435837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Bill Gates</a:t>
            </a:r>
          </a:p>
        </p:txBody>
      </p:sp>
      <p:sp>
        <p:nvSpPr>
          <p:cNvPr id="10" name="CuadroTexto 9">
            <a:extLst>
              <a:ext uri="{FF2B5EF4-FFF2-40B4-BE49-F238E27FC236}">
                <a16:creationId xmlns:a16="http://schemas.microsoft.com/office/drawing/2014/main" id="{EFFF0CF5-8CF1-40B5-8D04-B3DEB7C9DCFE}"/>
              </a:ext>
            </a:extLst>
          </p:cNvPr>
          <p:cNvSpPr txBox="1"/>
          <p:nvPr/>
        </p:nvSpPr>
        <p:spPr>
          <a:xfrm>
            <a:off x="501650" y="2243867"/>
            <a:ext cx="11188700" cy="2123658"/>
          </a:xfrm>
          <a:prstGeom prst="rect">
            <a:avLst/>
          </a:prstGeom>
          <a:noFill/>
        </p:spPr>
        <p:txBody>
          <a:bodyPr wrap="square" rtlCol="0">
            <a:spAutoFit/>
          </a:bodyPr>
          <a:lstStyle/>
          <a:p>
            <a:pPr algn="ct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r>
              <a:rPr lang="es-ES" sz="4400" dirty="0">
                <a:latin typeface="Maleo" panose="02000006070000000000" pitchFamily="2" charset="0"/>
                <a:ea typeface="Maleo" panose="02000006070000000000" pitchFamily="2" charset="0"/>
                <a:cs typeface="Maleo" panose="02000006070000000000" pitchFamily="2" charset="0"/>
              </a:rPr>
              <a:t>Las tecnologías de la información y la empresa se están entrelazando inextricablemente. No creo que nadie pueda hablar con sentido de una sin hablar de la otra</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los usuarios a mejorar sus hábitos económicos mediante orientación personalizada, accesible y confiable, manteniendo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862322"/>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507786" y="4137723"/>
            <a:ext cx="1516779" cy="1580378"/>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83537" y="3102754"/>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78766" y="3097733"/>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81788" y="2260798"/>
            <a:ext cx="1768777" cy="1768777"/>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71184ECB-D251-41FA-BF8B-47A5C14FCC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200" y="2410304"/>
            <a:ext cx="2525507" cy="1159168"/>
          </a:xfrm>
          <a:prstGeom prst="rect">
            <a:avLst/>
          </a:prstGeom>
        </p:spPr>
      </p:pic>
      <p:pic>
        <p:nvPicPr>
          <p:cNvPr id="20" name="Imagen 19">
            <a:extLst>
              <a:ext uri="{FF2B5EF4-FFF2-40B4-BE49-F238E27FC236}">
                <a16:creationId xmlns:a16="http://schemas.microsoft.com/office/drawing/2014/main" id="{FC0009C5-7D25-41BC-9D37-B37C0B90A5E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435" y="3697510"/>
            <a:ext cx="2020334" cy="2084985"/>
          </a:xfrm>
          <a:prstGeom prst="rect">
            <a:avLst/>
          </a:prstGeom>
        </p:spPr>
      </p:pic>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8562" y="2360790"/>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2775822"/>
            <a:ext cx="4876800" cy="1938992"/>
          </a:xfrm>
          <a:prstGeom prst="rect">
            <a:avLst/>
          </a:prstGeom>
          <a:noFill/>
        </p:spPr>
        <p:txBody>
          <a:bodyPr wrap="square" rtlCol="0">
            <a:spAutoFit/>
          </a:bodyPr>
          <a:lstStyle/>
          <a:p>
            <a:pPr marL="457200" indent="-457200">
              <a:buAutoNum type="arabicParenR"/>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457200" indent="-457200">
              <a:buFont typeface="+mj-lt"/>
              <a:buAutoNum type="arabicParenR" startAt="2"/>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457200" indent="-457200">
              <a:buFont typeface="+mj-lt"/>
              <a:buAutoNum type="arabicParenR" startAt="3"/>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457200" indent="-457200">
              <a:buFont typeface="+mj-lt"/>
              <a:buAutoNum type="arabicParenR" startAt="4"/>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457200" indent="-457200">
              <a:buFont typeface="+mj-lt"/>
              <a:buAutoNum type="arabicParenR" startAt="5"/>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(Baja)</a:t>
            </a: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rotWithShape="1">
          <a:blip r:embed="rId3">
            <a:extLst>
              <a:ext uri="{28A0092B-C50C-407E-A947-70E740481C1C}">
                <a14:useLocalDpi xmlns:a14="http://schemas.microsoft.com/office/drawing/2010/main" val="0"/>
              </a:ext>
            </a:extLst>
          </a:blip>
          <a:srcRect t="13572" b="2895"/>
          <a:stretch/>
        </p:blipFill>
        <p:spPr>
          <a:xfrm>
            <a:off x="2314938" y="1755172"/>
            <a:ext cx="7464043" cy="437829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120590"/>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transformando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5964" y="2394361"/>
            <a:ext cx="2458871"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Directora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9" name="CuadroTexto 8">
            <a:extLst>
              <a:ext uri="{FF2B5EF4-FFF2-40B4-BE49-F238E27FC236}">
                <a16:creationId xmlns:a16="http://schemas.microsoft.com/office/drawing/2014/main" id="{7C716853-C0F6-4AB1-A08F-4EE7735A54B1}"/>
              </a:ext>
            </a:extLst>
          </p:cNvPr>
          <p:cNvSpPr txBox="1"/>
          <p:nvPr/>
        </p:nvSpPr>
        <p:spPr>
          <a:xfrm>
            <a:off x="7410734" y="3116376"/>
            <a:ext cx="2003241" cy="369332"/>
          </a:xfrm>
          <a:prstGeom prst="rect">
            <a:avLst/>
          </a:prstGeom>
          <a:noFill/>
        </p:spPr>
        <p:txBody>
          <a:bodyPr wrap="none" rtlCol="0">
            <a:spAutoFit/>
          </a:bodyPr>
          <a:lstStyle/>
          <a:p>
            <a:r>
              <a:rPr lang="es-ES" dirty="0"/>
              <a:t>Pon una foto acá </a:t>
            </a:r>
            <a:r>
              <a:rPr lang="es-ES" dirty="0">
                <a:sym typeface="Wingdings" panose="05000000000000000000" pitchFamily="2" charset="2"/>
              </a:rPr>
              <a:t></a:t>
            </a:r>
            <a:endParaRPr lang="es-CO" dirty="0"/>
          </a:p>
        </p:txBody>
      </p:sp>
    </p:spTree>
    <p:extLst>
      <p:ext uri="{BB962C8B-B14F-4D97-AF65-F5344CB8AC3E}">
        <p14:creationId xmlns:p14="http://schemas.microsoft.com/office/powerpoint/2010/main" val="4250664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Producción de contenido interactivo.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 correspondientes al préstamo bancario.</a:t>
            </a:r>
          </a:p>
        </p:txBody>
      </p:sp>
    </p:spTree>
    <p:extLst>
      <p:ext uri="{BB962C8B-B14F-4D97-AF65-F5344CB8AC3E}">
        <p14:creationId xmlns:p14="http://schemas.microsoft.com/office/powerpoint/2010/main" val="3311918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Amortización y Préstamo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0FD49E3-1342-4D47-8840-E7190203E2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3577" y="1681613"/>
            <a:ext cx="3924845" cy="1781423"/>
          </a:xfrm>
          <a:prstGeom prst="rect">
            <a:avLst/>
          </a:prstGeom>
        </p:spPr>
      </p:pic>
      <p:pic>
        <p:nvPicPr>
          <p:cNvPr id="8" name="Imagen 7">
            <a:extLst>
              <a:ext uri="{FF2B5EF4-FFF2-40B4-BE49-F238E27FC236}">
                <a16:creationId xmlns:a16="http://schemas.microsoft.com/office/drawing/2014/main" id="{5D8E3E43-6E6B-48F3-A3AB-2B6A2D2A67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66494" y="3911544"/>
            <a:ext cx="7059010" cy="1781424"/>
          </a:xfrm>
          <a:prstGeom prst="rect">
            <a:avLst/>
          </a:prstGeom>
        </p:spPr>
      </p:pic>
    </p:spTree>
    <p:extLst>
      <p:ext uri="{BB962C8B-B14F-4D97-AF65-F5344CB8AC3E}">
        <p14:creationId xmlns:p14="http://schemas.microsoft.com/office/powerpoint/2010/main" val="478684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err="1">
                <a:solidFill>
                  <a:srgbClr val="8D2F3C"/>
                </a:solidFill>
                <a:latin typeface="Maleo" panose="02000006070000000000" pitchFamily="2" charset="0"/>
                <a:ea typeface="Maleo" panose="02000006070000000000" pitchFamily="2" charset="0"/>
                <a:cs typeface="Maleo" panose="02000006070000000000" pitchFamily="2" charset="0"/>
              </a:rPr>
              <a:t>Analisís</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 de Proyecciones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Imagen 11">
            <a:extLst>
              <a:ext uri="{FF2B5EF4-FFF2-40B4-BE49-F238E27FC236}">
                <a16:creationId xmlns:a16="http://schemas.microsoft.com/office/drawing/2014/main" id="{983B816C-43E8-4591-8A4D-1ED94E2DF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0546" y="1862589"/>
            <a:ext cx="8830907" cy="3553321"/>
          </a:xfrm>
          <a:prstGeom prst="rect">
            <a:avLst/>
          </a:prstGeom>
        </p:spPr>
      </p:pic>
    </p:spTree>
    <p:extLst>
      <p:ext uri="{BB962C8B-B14F-4D97-AF65-F5344CB8AC3E}">
        <p14:creationId xmlns:p14="http://schemas.microsoft.com/office/powerpoint/2010/main" val="17845536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7" name="Imagen 26">
            <a:extLst>
              <a:ext uri="{FF2B5EF4-FFF2-40B4-BE49-F238E27FC236}">
                <a16:creationId xmlns:a16="http://schemas.microsoft.com/office/drawing/2014/main" id="{86BC0795-D58B-4BBF-9DF3-30AA8D59D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6954" y="2149098"/>
            <a:ext cx="6228316" cy="1283087"/>
          </a:xfrm>
          <a:prstGeom prst="rect">
            <a:avLst/>
          </a:prstGeom>
        </p:spPr>
      </p:pic>
      <p:pic>
        <p:nvPicPr>
          <p:cNvPr id="29" name="Imagen 28">
            <a:extLst>
              <a:ext uri="{FF2B5EF4-FFF2-40B4-BE49-F238E27FC236}">
                <a16:creationId xmlns:a16="http://schemas.microsoft.com/office/drawing/2014/main" id="{FDB099C7-A071-477C-9C98-8479DE0348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35319" y="4189562"/>
            <a:ext cx="6321362" cy="1048158"/>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9" name="Imagen 8">
            <a:extLst>
              <a:ext uri="{FF2B5EF4-FFF2-40B4-BE49-F238E27FC236}">
                <a16:creationId xmlns:a16="http://schemas.microsoft.com/office/drawing/2014/main" id="{A7B7F693-96BF-4C3E-862D-C6514D3DC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8806" y="3092064"/>
            <a:ext cx="4264899" cy="951746"/>
          </a:xfrm>
          <a:prstGeom prst="rect">
            <a:avLst/>
          </a:prstGeom>
        </p:spPr>
      </p:pic>
      <p:pic>
        <p:nvPicPr>
          <p:cNvPr id="20" name="Imagen 19">
            <a:extLst>
              <a:ext uri="{FF2B5EF4-FFF2-40B4-BE49-F238E27FC236}">
                <a16:creationId xmlns:a16="http://schemas.microsoft.com/office/drawing/2014/main" id="{5BA8891D-F007-4598-9A13-6033274F6A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4151" y="2035517"/>
            <a:ext cx="6095999" cy="3350091"/>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propone una plataforma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educación financiera, que permite a estudiantes, personas de bajos recursos y nómadas digitales acceder a un aprendizaje intuitivo y personalizado. El análisis identifica sus oportunidades y riesgos, mostrando la viabilidad del modelo en 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para fortalecer la educación financiera de estas comunidades mediante una plataforma inclusiva, con opciones de acceso con y sin suscripción. Además, busca contribuir a la transformación digital del sector financiero, convirtiendo el uso de datos en un mayor bienestar económico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1938992"/>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p:txBody>
      </p:sp>
    </p:spTree>
    <p:extLst>
      <p:ext uri="{BB962C8B-B14F-4D97-AF65-F5344CB8AC3E}">
        <p14:creationId xmlns:p14="http://schemas.microsoft.com/office/powerpoint/2010/main" val="226988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502506" y="146189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9" name="CuadroTexto 8">
            <a:extLst>
              <a:ext uri="{FF2B5EF4-FFF2-40B4-BE49-F238E27FC236}">
                <a16:creationId xmlns:a16="http://schemas.microsoft.com/office/drawing/2014/main" id="{82ECE2CC-1206-4056-90AC-D895DDE533AF}"/>
              </a:ext>
            </a:extLst>
          </p:cNvPr>
          <p:cNvSpPr txBox="1"/>
          <p:nvPr/>
        </p:nvSpPr>
        <p:spPr>
          <a:xfrm>
            <a:off x="501650" y="5405302"/>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Ray </a:t>
            </a:r>
            <a:r>
              <a:rPr lang="es-ES" sz="3200" dirty="0" err="1">
                <a:solidFill>
                  <a:srgbClr val="8D2F3C"/>
                </a:solidFill>
                <a:latin typeface="Maleo" panose="02000006070000000000" pitchFamily="2" charset="0"/>
                <a:ea typeface="Maleo" panose="02000006070000000000" pitchFamily="2" charset="0"/>
                <a:cs typeface="Maleo" panose="02000006070000000000" pitchFamily="2" charset="0"/>
              </a:rPr>
              <a:t>Dalio</a:t>
            </a:r>
            <a:endParaRPr lang="es-ES" sz="32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0" name="CuadroTexto 9">
            <a:extLst>
              <a:ext uri="{FF2B5EF4-FFF2-40B4-BE49-F238E27FC236}">
                <a16:creationId xmlns:a16="http://schemas.microsoft.com/office/drawing/2014/main" id="{E41EE431-E6DA-43FD-8DEE-609725CE6E54}"/>
              </a:ext>
            </a:extLst>
          </p:cNvPr>
          <p:cNvSpPr txBox="1"/>
          <p:nvPr/>
        </p:nvSpPr>
        <p:spPr>
          <a:xfrm>
            <a:off x="501650" y="3290790"/>
            <a:ext cx="11188700" cy="2123658"/>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r>
              <a:rPr lang="es-ES" sz="4400" dirty="0">
                <a:latin typeface="Maleo" panose="02000006070000000000" pitchFamily="2" charset="0"/>
                <a:ea typeface="Maleo" panose="02000006070000000000" pitchFamily="2" charset="0"/>
                <a:cs typeface="Maleo" panose="02000006070000000000" pitchFamily="2" charset="0"/>
              </a:rPr>
              <a:t>La economía funciona como una máquina simple, pero mucha gente no la entiende o no se pone de acuerdo sobre cómo funciona, y esto ha provocado mucho sufrimiento económico innecesario</a:t>
            </a: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859</TotalTime>
  <Words>2418</Words>
  <Application>Microsoft Office PowerPoint</Application>
  <PresentationFormat>Panorámica</PresentationFormat>
  <Paragraphs>434</Paragraphs>
  <Slides>41</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41</vt:i4>
      </vt:variant>
    </vt:vector>
  </HeadingPairs>
  <TitlesOfParts>
    <vt:vector size="51"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David Leonardo Rincon Ovalle</cp:lastModifiedBy>
  <cp:revision>52</cp:revision>
  <dcterms:created xsi:type="dcterms:W3CDTF">2026-07-06T18:52:48Z</dcterms:created>
  <dcterms:modified xsi:type="dcterms:W3CDTF">2026-08-17T00:24:25Z</dcterms:modified>
</cp:coreProperties>
</file>