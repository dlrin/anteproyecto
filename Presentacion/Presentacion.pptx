
<file path=[Content_Types].xml><?xml version="1.0" encoding="utf-8"?>
<Types xmlns="http://schemas.openxmlformats.org/package/2006/content-types">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7" r:id="rId8"/>
    <p:sldId id="262" r:id="rId9"/>
    <p:sldId id="263" r:id="rId10"/>
    <p:sldId id="265" r:id="rId11"/>
    <p:sldId id="266" r:id="rId12"/>
    <p:sldId id="268" r:id="rId13"/>
    <p:sldId id="269" r:id="rId14"/>
    <p:sldId id="271" r:id="rId15"/>
    <p:sldId id="272" r:id="rId16"/>
    <p:sldId id="270" r:id="rId17"/>
    <p:sldId id="273" r:id="rId18"/>
    <p:sldId id="274" r:id="rId19"/>
    <p:sldId id="275" r:id="rId20"/>
    <p:sldId id="297" r:id="rId21"/>
    <p:sldId id="276" r:id="rId22"/>
    <p:sldId id="277" r:id="rId23"/>
    <p:sldId id="279" r:id="rId24"/>
    <p:sldId id="289" r:id="rId25"/>
    <p:sldId id="298" r:id="rId26"/>
    <p:sldId id="280" r:id="rId27"/>
    <p:sldId id="282" r:id="rId28"/>
    <p:sldId id="283" r:id="rId29"/>
    <p:sldId id="284" r:id="rId30"/>
    <p:sldId id="300" r:id="rId31"/>
    <p:sldId id="286" r:id="rId32"/>
    <p:sldId id="285" r:id="rId33"/>
    <p:sldId id="287" r:id="rId34"/>
    <p:sldId id="288" r:id="rId35"/>
    <p:sldId id="290" r:id="rId36"/>
    <p:sldId id="291" r:id="rId37"/>
    <p:sldId id="292" r:id="rId38"/>
    <p:sldId id="293" r:id="rId39"/>
    <p:sldId id="296" r:id="rId40"/>
    <p:sldId id="294" r:id="rId41"/>
    <p:sldId id="295" r:id="rId42"/>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00000"/>
    <a:srgbClr val="8D2F3C"/>
    <a:srgbClr val="FFFFFF"/>
    <a:srgbClr val="8D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180" autoAdjust="0"/>
    <p:restoredTop sz="94542" autoAdjust="0"/>
  </p:normalViewPr>
  <p:slideViewPr>
    <p:cSldViewPr snapToGrid="0">
      <p:cViewPr varScale="1">
        <p:scale>
          <a:sx n="90" d="100"/>
          <a:sy n="90" d="100"/>
        </p:scale>
        <p:origin x="389"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idy Morales" userId="2e5e610fb8cf79f0" providerId="LiveId" clId="{0C37776C-0FCF-4AC4-A1B6-ED408C733DFD}"/>
    <pc:docChg chg="custSel modSld">
      <pc:chgData name="Leidy Morales" userId="2e5e610fb8cf79f0" providerId="LiveId" clId="{0C37776C-0FCF-4AC4-A1B6-ED408C733DFD}" dt="2026-08-17T20:26:57.797" v="31" actId="1076"/>
      <pc:docMkLst>
        <pc:docMk/>
      </pc:docMkLst>
      <pc:sldChg chg="addSp delSp modSp mod">
        <pc:chgData name="Leidy Morales" userId="2e5e610fb8cf79f0" providerId="LiveId" clId="{0C37776C-0FCF-4AC4-A1B6-ED408C733DFD}" dt="2026-08-17T20:26:57.797" v="31" actId="1076"/>
        <pc:sldMkLst>
          <pc:docMk/>
          <pc:sldMk cId="4250664177" sldId="297"/>
        </pc:sldMkLst>
        <pc:spChg chg="del">
          <ac:chgData name="Leidy Morales" userId="2e5e610fb8cf79f0" providerId="LiveId" clId="{0C37776C-0FCF-4AC4-A1B6-ED408C733DFD}" dt="2026-08-17T20:24:24.911" v="17" actId="478"/>
          <ac:spMkLst>
            <pc:docMk/>
            <pc:sldMk cId="4250664177" sldId="297"/>
            <ac:spMk id="9" creationId="{7C716853-C0F6-4AB1-A08F-4EE7735A54B1}"/>
          </ac:spMkLst>
        </pc:spChg>
        <pc:picChg chg="mod">
          <ac:chgData name="Leidy Morales" userId="2e5e610fb8cf79f0" providerId="LiveId" clId="{0C37776C-0FCF-4AC4-A1B6-ED408C733DFD}" dt="2026-08-17T20:26:49.723" v="30" actId="1076"/>
          <ac:picMkLst>
            <pc:docMk/>
            <pc:sldMk cId="4250664177" sldId="297"/>
            <ac:picMk id="6" creationId="{88CEB84E-B5D2-4034-8280-2E23752F7AC0}"/>
          </ac:picMkLst>
        </pc:picChg>
        <pc:picChg chg="add del mod">
          <ac:chgData name="Leidy Morales" userId="2e5e610fb8cf79f0" providerId="LiveId" clId="{0C37776C-0FCF-4AC4-A1B6-ED408C733DFD}" dt="2026-08-17T20:23:24.910" v="8" actId="478"/>
          <ac:picMkLst>
            <pc:docMk/>
            <pc:sldMk cId="4250664177" sldId="297"/>
            <ac:picMk id="7" creationId="{74175429-BFB8-9A1C-FECB-6ED89A9DA317}"/>
          </ac:picMkLst>
        </pc:picChg>
        <pc:picChg chg="add mod modCrop">
          <ac:chgData name="Leidy Morales" userId="2e5e610fb8cf79f0" providerId="LiveId" clId="{0C37776C-0FCF-4AC4-A1B6-ED408C733DFD}" dt="2026-08-17T20:26:57.797" v="31" actId="1076"/>
          <ac:picMkLst>
            <pc:docMk/>
            <pc:sldMk cId="4250664177" sldId="297"/>
            <ac:picMk id="12" creationId="{796221D0-D52E-6363-4B49-F6CBF1D2317B}"/>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EE4494-83EF-45AA-A5FA-4D9BFC6D540B}"/>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9FCF8396-6439-4056-A927-D884515DB9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E8A80E34-BA82-4B71-9F21-5CD59FEB5B1D}"/>
              </a:ext>
            </a:extLst>
          </p:cNvPr>
          <p:cNvSpPr>
            <a:spLocks noGrp="1"/>
          </p:cNvSpPr>
          <p:nvPr>
            <p:ph type="dt" sz="half" idx="10"/>
          </p:nvPr>
        </p:nvSpPr>
        <p:spPr/>
        <p:txBody>
          <a:bodyPr/>
          <a:lstStyle/>
          <a:p>
            <a:fld id="{0CB1CD98-E1E1-447B-94EB-7CB62D4ECEDF}" type="datetimeFigureOut">
              <a:rPr lang="es-CO" smtClean="0"/>
              <a:t>17/08/2026</a:t>
            </a:fld>
            <a:endParaRPr lang="es-CO"/>
          </a:p>
        </p:txBody>
      </p:sp>
      <p:sp>
        <p:nvSpPr>
          <p:cNvPr id="5" name="Marcador de pie de página 4">
            <a:extLst>
              <a:ext uri="{FF2B5EF4-FFF2-40B4-BE49-F238E27FC236}">
                <a16:creationId xmlns:a16="http://schemas.microsoft.com/office/drawing/2014/main" id="{B7D6AE46-864A-4291-A122-167EB818E08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6C22D63-66E9-4257-A35E-8B95851E00C4}"/>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4138295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97D7DF9-D573-46BA-A5CF-FC07FC79B1A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529ECF5-3EB1-4EC3-97DE-F2B1E949B841}"/>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29C823E-85F5-4D99-83D1-B3D5E5F800F8}"/>
              </a:ext>
            </a:extLst>
          </p:cNvPr>
          <p:cNvSpPr>
            <a:spLocks noGrp="1"/>
          </p:cNvSpPr>
          <p:nvPr>
            <p:ph type="dt" sz="half" idx="10"/>
          </p:nvPr>
        </p:nvSpPr>
        <p:spPr/>
        <p:txBody>
          <a:bodyPr/>
          <a:lstStyle/>
          <a:p>
            <a:fld id="{0CB1CD98-E1E1-447B-94EB-7CB62D4ECEDF}" type="datetimeFigureOut">
              <a:rPr lang="es-CO" smtClean="0"/>
              <a:t>17/08/2026</a:t>
            </a:fld>
            <a:endParaRPr lang="es-CO"/>
          </a:p>
        </p:txBody>
      </p:sp>
      <p:sp>
        <p:nvSpPr>
          <p:cNvPr id="5" name="Marcador de pie de página 4">
            <a:extLst>
              <a:ext uri="{FF2B5EF4-FFF2-40B4-BE49-F238E27FC236}">
                <a16:creationId xmlns:a16="http://schemas.microsoft.com/office/drawing/2014/main" id="{399F4C00-450A-44D9-B6EC-893861F0682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784DDB9-F9A9-4264-9832-9221CDBC95E8}"/>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92447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52CF89-E3DA-4536-9CF0-203D87A6A1E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9AD620-7508-4863-A794-B759D62A468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AA9E2F0E-62E2-4A26-A444-8F6F68EDC8EE}"/>
              </a:ext>
            </a:extLst>
          </p:cNvPr>
          <p:cNvSpPr>
            <a:spLocks noGrp="1"/>
          </p:cNvSpPr>
          <p:nvPr>
            <p:ph type="dt" sz="half" idx="10"/>
          </p:nvPr>
        </p:nvSpPr>
        <p:spPr/>
        <p:txBody>
          <a:bodyPr/>
          <a:lstStyle/>
          <a:p>
            <a:fld id="{0CB1CD98-E1E1-447B-94EB-7CB62D4ECEDF}" type="datetimeFigureOut">
              <a:rPr lang="es-CO" smtClean="0"/>
              <a:t>17/08/2026</a:t>
            </a:fld>
            <a:endParaRPr lang="es-CO"/>
          </a:p>
        </p:txBody>
      </p:sp>
      <p:sp>
        <p:nvSpPr>
          <p:cNvPr id="5" name="Marcador de pie de página 4">
            <a:extLst>
              <a:ext uri="{FF2B5EF4-FFF2-40B4-BE49-F238E27FC236}">
                <a16:creationId xmlns:a16="http://schemas.microsoft.com/office/drawing/2014/main" id="{D6552E37-01CC-43AB-B9A7-E3B25994DF4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0A7B1E-FD8F-4EE7-9F41-67E1464A01EC}"/>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3903727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D326C7-5AE4-438B-B39E-EA7A60DDE7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2806DB9-D182-4387-AE4F-A10277D447D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E28AD407-BC4D-46FF-B8B5-5A5887F59AC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9C497602-5E19-4701-83AF-7AF5023F4197}"/>
              </a:ext>
            </a:extLst>
          </p:cNvPr>
          <p:cNvSpPr>
            <a:spLocks noGrp="1"/>
          </p:cNvSpPr>
          <p:nvPr>
            <p:ph type="dt" sz="half" idx="10"/>
          </p:nvPr>
        </p:nvSpPr>
        <p:spPr/>
        <p:txBody>
          <a:bodyPr/>
          <a:lstStyle/>
          <a:p>
            <a:fld id="{0CB1CD98-E1E1-447B-94EB-7CB62D4ECEDF}" type="datetimeFigureOut">
              <a:rPr lang="es-CO" smtClean="0"/>
              <a:t>17/08/2026</a:t>
            </a:fld>
            <a:endParaRPr lang="es-CO"/>
          </a:p>
        </p:txBody>
      </p:sp>
      <p:sp>
        <p:nvSpPr>
          <p:cNvPr id="6" name="Marcador de pie de página 5">
            <a:extLst>
              <a:ext uri="{FF2B5EF4-FFF2-40B4-BE49-F238E27FC236}">
                <a16:creationId xmlns:a16="http://schemas.microsoft.com/office/drawing/2014/main" id="{DCBF0AA4-25C1-4452-BE94-7615E65725B7}"/>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4D996CA-E4B5-4386-9331-2D2F66B9D64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19386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9F5265-1E60-40B2-A3D5-362A9E77C1D6}"/>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5201D827-0AEC-4281-AC43-8C73B564EC6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9F2744F-FBC8-4F22-B911-A0AC2CDC7B6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77795157-C7D6-45B1-A2D1-C64EC193C7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D80E77-DBAF-44CF-932F-617D590FF08D}"/>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D3BD64F1-06E3-4C35-B726-F90245D8EFF4}"/>
              </a:ext>
            </a:extLst>
          </p:cNvPr>
          <p:cNvSpPr>
            <a:spLocks noGrp="1"/>
          </p:cNvSpPr>
          <p:nvPr>
            <p:ph type="dt" sz="half" idx="10"/>
          </p:nvPr>
        </p:nvSpPr>
        <p:spPr/>
        <p:txBody>
          <a:bodyPr/>
          <a:lstStyle/>
          <a:p>
            <a:fld id="{0CB1CD98-E1E1-447B-94EB-7CB62D4ECEDF}" type="datetimeFigureOut">
              <a:rPr lang="es-CO" smtClean="0"/>
              <a:t>17/08/2026</a:t>
            </a:fld>
            <a:endParaRPr lang="es-CO"/>
          </a:p>
        </p:txBody>
      </p:sp>
      <p:sp>
        <p:nvSpPr>
          <p:cNvPr id="8" name="Marcador de pie de página 7">
            <a:extLst>
              <a:ext uri="{FF2B5EF4-FFF2-40B4-BE49-F238E27FC236}">
                <a16:creationId xmlns:a16="http://schemas.microsoft.com/office/drawing/2014/main" id="{07A268E4-5A5E-4F9A-BB94-9A9037A2034B}"/>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63BD01A0-8FA1-4E86-BA22-0B094540C595}"/>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580008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3E505C-63B1-4493-9D73-53B305FB83D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67A2CECE-55F9-4337-856A-7A89240CE68B}"/>
              </a:ext>
            </a:extLst>
          </p:cNvPr>
          <p:cNvSpPr>
            <a:spLocks noGrp="1"/>
          </p:cNvSpPr>
          <p:nvPr>
            <p:ph type="dt" sz="half" idx="10"/>
          </p:nvPr>
        </p:nvSpPr>
        <p:spPr/>
        <p:txBody>
          <a:bodyPr/>
          <a:lstStyle/>
          <a:p>
            <a:fld id="{0CB1CD98-E1E1-447B-94EB-7CB62D4ECEDF}" type="datetimeFigureOut">
              <a:rPr lang="es-CO" smtClean="0"/>
              <a:t>17/08/2026</a:t>
            </a:fld>
            <a:endParaRPr lang="es-CO"/>
          </a:p>
        </p:txBody>
      </p:sp>
      <p:sp>
        <p:nvSpPr>
          <p:cNvPr id="4" name="Marcador de pie de página 3">
            <a:extLst>
              <a:ext uri="{FF2B5EF4-FFF2-40B4-BE49-F238E27FC236}">
                <a16:creationId xmlns:a16="http://schemas.microsoft.com/office/drawing/2014/main" id="{137581E0-F342-4876-9974-49B169ABD2D7}"/>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14369F71-A86A-42E9-9548-1B469D8FEE2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365326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A6A74DB-92AA-4742-9D2C-981773BD1A49}"/>
              </a:ext>
            </a:extLst>
          </p:cNvPr>
          <p:cNvSpPr>
            <a:spLocks noGrp="1"/>
          </p:cNvSpPr>
          <p:nvPr>
            <p:ph type="dt" sz="half" idx="10"/>
          </p:nvPr>
        </p:nvSpPr>
        <p:spPr/>
        <p:txBody>
          <a:bodyPr/>
          <a:lstStyle/>
          <a:p>
            <a:fld id="{0CB1CD98-E1E1-447B-94EB-7CB62D4ECEDF}" type="datetimeFigureOut">
              <a:rPr lang="es-CO" smtClean="0"/>
              <a:t>17/08/2026</a:t>
            </a:fld>
            <a:endParaRPr lang="es-CO"/>
          </a:p>
        </p:txBody>
      </p:sp>
      <p:sp>
        <p:nvSpPr>
          <p:cNvPr id="3" name="Marcador de pie de página 2">
            <a:extLst>
              <a:ext uri="{FF2B5EF4-FFF2-40B4-BE49-F238E27FC236}">
                <a16:creationId xmlns:a16="http://schemas.microsoft.com/office/drawing/2014/main" id="{9EC7E8C1-D2F2-447F-A33A-7B401E3FDB29}"/>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F0034762-28C0-49FF-AB65-A45AB4C944C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107906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C2E193-8936-446B-B327-C8DCD89C4BA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CA1B73D-0D87-41EA-A8DC-0FA5A63096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73A881C2-7A4F-4D5E-AA73-C1C38B983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55C96B6-8F1B-4537-9507-5F848E1B86AA}"/>
              </a:ext>
            </a:extLst>
          </p:cNvPr>
          <p:cNvSpPr>
            <a:spLocks noGrp="1"/>
          </p:cNvSpPr>
          <p:nvPr>
            <p:ph type="dt" sz="half" idx="10"/>
          </p:nvPr>
        </p:nvSpPr>
        <p:spPr/>
        <p:txBody>
          <a:bodyPr/>
          <a:lstStyle/>
          <a:p>
            <a:fld id="{0CB1CD98-E1E1-447B-94EB-7CB62D4ECEDF}" type="datetimeFigureOut">
              <a:rPr lang="es-CO" smtClean="0"/>
              <a:t>17/08/2026</a:t>
            </a:fld>
            <a:endParaRPr lang="es-CO"/>
          </a:p>
        </p:txBody>
      </p:sp>
      <p:sp>
        <p:nvSpPr>
          <p:cNvPr id="6" name="Marcador de pie de página 5">
            <a:extLst>
              <a:ext uri="{FF2B5EF4-FFF2-40B4-BE49-F238E27FC236}">
                <a16:creationId xmlns:a16="http://schemas.microsoft.com/office/drawing/2014/main" id="{AEF83158-B883-473D-A115-CD1DB102919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9AD95800-E83B-4626-BA66-7149E672FB8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25387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9AF0A-6AD7-4365-92B9-0CABFBD5FB2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AF6ABC7B-B3A8-411E-9987-DCF153E756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E4ADFB18-BB23-4211-B427-8ACE6D3BC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614A1E4-1119-4FE8-9164-49500D8A520F}"/>
              </a:ext>
            </a:extLst>
          </p:cNvPr>
          <p:cNvSpPr>
            <a:spLocks noGrp="1"/>
          </p:cNvSpPr>
          <p:nvPr>
            <p:ph type="dt" sz="half" idx="10"/>
          </p:nvPr>
        </p:nvSpPr>
        <p:spPr/>
        <p:txBody>
          <a:bodyPr/>
          <a:lstStyle/>
          <a:p>
            <a:fld id="{0CB1CD98-E1E1-447B-94EB-7CB62D4ECEDF}" type="datetimeFigureOut">
              <a:rPr lang="es-CO" smtClean="0"/>
              <a:t>17/08/2026</a:t>
            </a:fld>
            <a:endParaRPr lang="es-CO"/>
          </a:p>
        </p:txBody>
      </p:sp>
      <p:sp>
        <p:nvSpPr>
          <p:cNvPr id="6" name="Marcador de pie de página 5">
            <a:extLst>
              <a:ext uri="{FF2B5EF4-FFF2-40B4-BE49-F238E27FC236}">
                <a16:creationId xmlns:a16="http://schemas.microsoft.com/office/drawing/2014/main" id="{63E0F0BC-09FE-47C2-B123-93CB6D3DB75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0B93CB0-FD38-4FF6-9DF2-A5613747840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911046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25A6C6-094E-48FD-8A72-A733AFA737F1}"/>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031DD89-03B6-4EF7-8795-E1B662C3DA4A}"/>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28E4491-8301-48AA-AB2C-8B62B77CC276}"/>
              </a:ext>
            </a:extLst>
          </p:cNvPr>
          <p:cNvSpPr>
            <a:spLocks noGrp="1"/>
          </p:cNvSpPr>
          <p:nvPr>
            <p:ph type="dt" sz="half" idx="10"/>
          </p:nvPr>
        </p:nvSpPr>
        <p:spPr/>
        <p:txBody>
          <a:bodyPr/>
          <a:lstStyle/>
          <a:p>
            <a:fld id="{0CB1CD98-E1E1-447B-94EB-7CB62D4ECEDF}" type="datetimeFigureOut">
              <a:rPr lang="es-CO" smtClean="0"/>
              <a:t>17/08/2026</a:t>
            </a:fld>
            <a:endParaRPr lang="es-CO"/>
          </a:p>
        </p:txBody>
      </p:sp>
      <p:sp>
        <p:nvSpPr>
          <p:cNvPr id="5" name="Marcador de pie de página 4">
            <a:extLst>
              <a:ext uri="{FF2B5EF4-FFF2-40B4-BE49-F238E27FC236}">
                <a16:creationId xmlns:a16="http://schemas.microsoft.com/office/drawing/2014/main" id="{D941A9CF-D46A-4166-8CED-E30EC6BA966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BABCAB2-947A-457E-9127-FF6DD2D0389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85151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4E131D6-3ACE-46CD-ADE4-E8163FA760A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675F7E0-4E24-4953-90D0-62226AE04273}"/>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DDD872B7-9B0A-41F9-8D8A-0DAF9BB2EA7D}"/>
              </a:ext>
            </a:extLst>
          </p:cNvPr>
          <p:cNvSpPr>
            <a:spLocks noGrp="1"/>
          </p:cNvSpPr>
          <p:nvPr>
            <p:ph type="dt" sz="half" idx="10"/>
          </p:nvPr>
        </p:nvSpPr>
        <p:spPr/>
        <p:txBody>
          <a:bodyPr/>
          <a:lstStyle/>
          <a:p>
            <a:fld id="{0CB1CD98-E1E1-447B-94EB-7CB62D4ECEDF}" type="datetimeFigureOut">
              <a:rPr lang="es-CO" smtClean="0"/>
              <a:t>17/08/2026</a:t>
            </a:fld>
            <a:endParaRPr lang="es-CO"/>
          </a:p>
        </p:txBody>
      </p:sp>
      <p:sp>
        <p:nvSpPr>
          <p:cNvPr id="5" name="Marcador de pie de página 4">
            <a:extLst>
              <a:ext uri="{FF2B5EF4-FFF2-40B4-BE49-F238E27FC236}">
                <a16:creationId xmlns:a16="http://schemas.microsoft.com/office/drawing/2014/main" id="{40DF9252-A5E5-46C4-B415-22A28907C81E}"/>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5045FC0-0E4E-42E9-AD37-825F531701BA}"/>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24287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AC5AF3E-1AE6-46F5-B7E8-FD8532510DB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C141CB7-F557-4260-AFAB-AA1F6C0F90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7C736BC-CF1E-49E0-81D3-8E03E7AF05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CB1CD98-E1E1-447B-94EB-7CB62D4ECEDF}" type="datetimeFigureOut">
              <a:rPr lang="es-CO" smtClean="0"/>
              <a:t>17/08/2026</a:t>
            </a:fld>
            <a:endParaRPr lang="es-CO"/>
          </a:p>
        </p:txBody>
      </p:sp>
      <p:sp>
        <p:nvSpPr>
          <p:cNvPr id="5" name="Marcador de pie de página 4">
            <a:extLst>
              <a:ext uri="{FF2B5EF4-FFF2-40B4-BE49-F238E27FC236}">
                <a16:creationId xmlns:a16="http://schemas.microsoft.com/office/drawing/2014/main" id="{4B7B28BE-AC75-4DCA-8ADB-5CB8463833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B8704D9F-FAF3-4D28-BC29-2801484D19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9FC309-C041-434C-9C05-3FACAF077AF9}" type="slidenum">
              <a:rPr lang="es-CO" smtClean="0"/>
              <a:t>‹Nº›</a:t>
            </a:fld>
            <a:endParaRPr lang="es-CO"/>
          </a:p>
        </p:txBody>
      </p:sp>
    </p:spTree>
    <p:extLst>
      <p:ext uri="{BB962C8B-B14F-4D97-AF65-F5344CB8AC3E}">
        <p14:creationId xmlns:p14="http://schemas.microsoft.com/office/powerpoint/2010/main" val="39293583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jfif"/><Relationship Id="rId7"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28.jpeg"/></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sp>
        <p:nvSpPr>
          <p:cNvPr id="7" name="CuadroTexto 6">
            <a:extLst>
              <a:ext uri="{FF2B5EF4-FFF2-40B4-BE49-F238E27FC236}">
                <a16:creationId xmlns:a16="http://schemas.microsoft.com/office/drawing/2014/main" id="{C8E03B1C-38F7-4C25-A806-1B211250D147}"/>
              </a:ext>
            </a:extLst>
          </p:cNvPr>
          <p:cNvSpPr txBox="1"/>
          <p:nvPr/>
        </p:nvSpPr>
        <p:spPr>
          <a:xfrm>
            <a:off x="501650" y="1448592"/>
            <a:ext cx="11188700" cy="1446550"/>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Plan de Negocios para Plataforma Educativa Financiera para</a:t>
            </a:r>
          </a:p>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Usuarios Inexpertos con Machine </a:t>
            </a:r>
            <a:r>
              <a:rPr lang="es-ES" sz="4400" dirty="0" err="1">
                <a:solidFill>
                  <a:srgbClr val="8D2F3C"/>
                </a:solidFill>
                <a:latin typeface="Maleo Trials" panose="02000006070000000000" pitchFamily="50" charset="0"/>
                <a:ea typeface="Maleo Trials" panose="02000006070000000000" pitchFamily="50" charset="0"/>
                <a:cs typeface="Maleo Trials" panose="02000006070000000000" pitchFamily="50" charset="0"/>
              </a:rPr>
              <a:t>Learning</a:t>
            </a:r>
            <a:endPar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endParaRPr>
          </a:p>
        </p:txBody>
      </p: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2" name="CuadroTexto 11">
            <a:extLst>
              <a:ext uri="{FF2B5EF4-FFF2-40B4-BE49-F238E27FC236}">
                <a16:creationId xmlns:a16="http://schemas.microsoft.com/office/drawing/2014/main" id="{93EE4815-E8D0-4806-AA61-D4854E2D82DD}"/>
              </a:ext>
            </a:extLst>
          </p:cNvPr>
          <p:cNvSpPr txBox="1"/>
          <p:nvPr/>
        </p:nvSpPr>
        <p:spPr>
          <a:xfrm>
            <a:off x="501650" y="295258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CASO DE ESTUDIO: Nómadas Digitales</a:t>
            </a:r>
          </a:p>
        </p:txBody>
      </p:sp>
      <p:sp>
        <p:nvSpPr>
          <p:cNvPr id="13" name="CuadroTexto 12">
            <a:extLst>
              <a:ext uri="{FF2B5EF4-FFF2-40B4-BE49-F238E27FC236}">
                <a16:creationId xmlns:a16="http://schemas.microsoft.com/office/drawing/2014/main" id="{2E15050D-DA0E-464C-B485-2D4DCC77B9E8}"/>
              </a:ext>
            </a:extLst>
          </p:cNvPr>
          <p:cNvSpPr txBox="1"/>
          <p:nvPr/>
        </p:nvSpPr>
        <p:spPr>
          <a:xfrm>
            <a:off x="501650" y="3663574"/>
            <a:ext cx="11188700" cy="400110"/>
          </a:xfrm>
          <a:prstGeom prst="rect">
            <a:avLst/>
          </a:prstGeom>
          <a:noFill/>
        </p:spPr>
        <p:txBody>
          <a:bodyPr wrap="square" rtlCol="0">
            <a:spAutoFit/>
          </a:bodyPr>
          <a:lstStyle/>
          <a:p>
            <a:pPr algn="ct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Autores:</a:t>
            </a:r>
          </a:p>
        </p:txBody>
      </p:sp>
      <p:sp>
        <p:nvSpPr>
          <p:cNvPr id="15" name="CuadroTexto 14">
            <a:extLst>
              <a:ext uri="{FF2B5EF4-FFF2-40B4-BE49-F238E27FC236}">
                <a16:creationId xmlns:a16="http://schemas.microsoft.com/office/drawing/2014/main" id="{BEDA7D46-6A0C-4586-831F-B8F5BEEF7E28}"/>
              </a:ext>
            </a:extLst>
          </p:cNvPr>
          <p:cNvSpPr txBox="1"/>
          <p:nvPr/>
        </p:nvSpPr>
        <p:spPr>
          <a:xfrm>
            <a:off x="501650" y="4023928"/>
            <a:ext cx="11188700" cy="707886"/>
          </a:xfrm>
          <a:prstGeom prst="rect">
            <a:avLst/>
          </a:prstGeom>
          <a:noFill/>
        </p:spPr>
        <p:txBody>
          <a:bodyPr wrap="square" rtlCol="0">
            <a:spAutoFit/>
          </a:bodyPr>
          <a:lstStyle/>
          <a:p>
            <a:pPr algn="ctr"/>
            <a:r>
              <a:rPr lang="es-ES" sz="2000" dirty="0">
                <a:latin typeface="Maleo" panose="02000006070000000000" pitchFamily="2" charset="0"/>
                <a:ea typeface="Maleo" panose="02000006070000000000" pitchFamily="2" charset="0"/>
                <a:cs typeface="Maleo" panose="02000006070000000000" pitchFamily="2" charset="0"/>
              </a:rPr>
              <a:t>David Leonardo Rincón Ovalle (20201020075)</a:t>
            </a:r>
          </a:p>
          <a:p>
            <a:pPr algn="ctr"/>
            <a:r>
              <a:rPr lang="es-ES" sz="2000" dirty="0">
                <a:latin typeface="Maleo" panose="02000006070000000000" pitchFamily="2" charset="0"/>
                <a:ea typeface="Maleo" panose="02000006070000000000" pitchFamily="2" charset="0"/>
                <a:cs typeface="Maleo" panose="02000006070000000000" pitchFamily="2" charset="0"/>
              </a:rPr>
              <a:t>Leidy Marcela Morales Segura (20112020052)</a:t>
            </a:r>
          </a:p>
        </p:txBody>
      </p:sp>
      <p:sp>
        <p:nvSpPr>
          <p:cNvPr id="16" name="CuadroTexto 15">
            <a:extLst>
              <a:ext uri="{FF2B5EF4-FFF2-40B4-BE49-F238E27FC236}">
                <a16:creationId xmlns:a16="http://schemas.microsoft.com/office/drawing/2014/main" id="{958312DC-2C9C-4A85-A69E-D5F56E4A2682}"/>
              </a:ext>
            </a:extLst>
          </p:cNvPr>
          <p:cNvSpPr txBox="1"/>
          <p:nvPr/>
        </p:nvSpPr>
        <p:spPr>
          <a:xfrm>
            <a:off x="501650" y="5001828"/>
            <a:ext cx="11188700" cy="1200329"/>
          </a:xfrm>
          <a:prstGeom prst="rect">
            <a:avLst/>
          </a:prstGeom>
          <a:noFill/>
        </p:spPr>
        <p:txBody>
          <a:bodyPr wrap="square" rtlCol="0">
            <a:spAutoFit/>
          </a:bodyPr>
          <a:lstStyle/>
          <a:p>
            <a:pPr algn="ctr"/>
            <a:r>
              <a:rPr lang="es-ES" sz="2400" dirty="0">
                <a:latin typeface="Maleo" panose="02000006070000000000" pitchFamily="2" charset="0"/>
                <a:ea typeface="Maleo" panose="02000006070000000000" pitchFamily="2" charset="0"/>
                <a:cs typeface="Maleo" panose="02000006070000000000" pitchFamily="2" charset="0"/>
              </a:rPr>
              <a:t>Ingeniero Abel Antonio Navarrete López</a:t>
            </a:r>
          </a:p>
          <a:p>
            <a:pPr algn="ctr"/>
            <a:r>
              <a:rPr lang="es-ES" sz="2400" dirty="0">
                <a:latin typeface="Maleo" panose="02000006070000000000" pitchFamily="2" charset="0"/>
                <a:ea typeface="Maleo" panose="02000006070000000000" pitchFamily="2" charset="0"/>
                <a:cs typeface="Maleo" panose="02000006070000000000" pitchFamily="2" charset="0"/>
              </a:rPr>
              <a:t>Director del trabajo de grado</a:t>
            </a:r>
          </a:p>
          <a:p>
            <a:pPr algn="ctr"/>
            <a:r>
              <a:rPr lang="es-ES" sz="2400" dirty="0">
                <a:latin typeface="Maleo" panose="02000006070000000000" pitchFamily="2" charset="0"/>
                <a:ea typeface="Maleo" panose="02000006070000000000" pitchFamily="2" charset="0"/>
                <a:cs typeface="Maleo" panose="02000006070000000000" pitchFamily="2" charset="0"/>
              </a:rPr>
              <a:t>2026</a:t>
            </a: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Tree>
    <p:extLst>
      <p:ext uri="{BB962C8B-B14F-4D97-AF65-F5344CB8AC3E}">
        <p14:creationId xmlns:p14="http://schemas.microsoft.com/office/powerpoint/2010/main" val="15120805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8" name="CuadroTexto 17">
            <a:extLst>
              <a:ext uri="{FF2B5EF4-FFF2-40B4-BE49-F238E27FC236}">
                <a16:creationId xmlns:a16="http://schemas.microsoft.com/office/drawing/2014/main" id="{7FAA8449-A570-42AD-8C2F-D981935E6810}"/>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8" name="Rectángulo 7">
            <a:extLst>
              <a:ext uri="{FF2B5EF4-FFF2-40B4-BE49-F238E27FC236}">
                <a16:creationId xmlns:a16="http://schemas.microsoft.com/office/drawing/2014/main" id="{F7EC561B-3B8E-405B-A524-17A0A3E46A40}"/>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4" name="Imagen 13">
            <a:extLst>
              <a:ext uri="{FF2B5EF4-FFF2-40B4-BE49-F238E27FC236}">
                <a16:creationId xmlns:a16="http://schemas.microsoft.com/office/drawing/2014/main" id="{D2C1097E-EE83-4B0A-98CB-6EC9F9236A70}"/>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9" name="CuadroTexto 8">
            <a:extLst>
              <a:ext uri="{FF2B5EF4-FFF2-40B4-BE49-F238E27FC236}">
                <a16:creationId xmlns:a16="http://schemas.microsoft.com/office/drawing/2014/main" id="{FD85A0EB-D89F-47C4-AB42-64FFB929174A}"/>
              </a:ext>
            </a:extLst>
          </p:cNvPr>
          <p:cNvSpPr txBox="1"/>
          <p:nvPr/>
        </p:nvSpPr>
        <p:spPr>
          <a:xfrm>
            <a:off x="501650" y="435837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Bill Gates</a:t>
            </a:r>
          </a:p>
        </p:txBody>
      </p:sp>
      <p:sp>
        <p:nvSpPr>
          <p:cNvPr id="10" name="CuadroTexto 9">
            <a:extLst>
              <a:ext uri="{FF2B5EF4-FFF2-40B4-BE49-F238E27FC236}">
                <a16:creationId xmlns:a16="http://schemas.microsoft.com/office/drawing/2014/main" id="{EFFF0CF5-8CF1-40B5-8D04-B3DEB7C9DCFE}"/>
              </a:ext>
            </a:extLst>
          </p:cNvPr>
          <p:cNvSpPr txBox="1"/>
          <p:nvPr/>
        </p:nvSpPr>
        <p:spPr>
          <a:xfrm>
            <a:off x="501650" y="2243867"/>
            <a:ext cx="11188700" cy="2123658"/>
          </a:xfrm>
          <a:prstGeom prst="rect">
            <a:avLst/>
          </a:prstGeom>
          <a:noFill/>
        </p:spPr>
        <p:txBody>
          <a:bodyPr wrap="square" rtlCol="0">
            <a:spAutoFit/>
          </a:bodyPr>
          <a:lstStyle/>
          <a:p>
            <a:pPr algn="ct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r>
              <a:rPr lang="es-ES" sz="4400" dirty="0">
                <a:latin typeface="Maleo" panose="02000006070000000000" pitchFamily="2" charset="0"/>
                <a:ea typeface="Maleo" panose="02000006070000000000" pitchFamily="2" charset="0"/>
                <a:cs typeface="Maleo" panose="02000006070000000000" pitchFamily="2" charset="0"/>
              </a:rPr>
              <a:t>Las tecnologías de la información y la empresa se están entrelazando inextricablemente. No creo que nadie pueda hablar con sentido de una sin hablar de la otra</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p>
        </p:txBody>
      </p:sp>
    </p:spTree>
    <p:extLst>
      <p:ext uri="{BB962C8B-B14F-4D97-AF65-F5344CB8AC3E}">
        <p14:creationId xmlns:p14="http://schemas.microsoft.com/office/powerpoint/2010/main" val="96759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9" name="CuadroTexto 18">
            <a:extLst>
              <a:ext uri="{FF2B5EF4-FFF2-40B4-BE49-F238E27FC236}">
                <a16:creationId xmlns:a16="http://schemas.microsoft.com/office/drawing/2014/main" id="{1A17BD2D-2122-4D42-A2D3-B0728B584AEE}"/>
              </a:ext>
            </a:extLst>
          </p:cNvPr>
          <p:cNvSpPr txBox="1"/>
          <p:nvPr/>
        </p:nvSpPr>
        <p:spPr>
          <a:xfrm>
            <a:off x="1245704" y="1448592"/>
            <a:ext cx="9657836"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Agenda</a:t>
            </a:r>
          </a:p>
        </p:txBody>
      </p:sp>
      <p:sp>
        <p:nvSpPr>
          <p:cNvPr id="20" name="CuadroTexto 19">
            <a:extLst>
              <a:ext uri="{FF2B5EF4-FFF2-40B4-BE49-F238E27FC236}">
                <a16:creationId xmlns:a16="http://schemas.microsoft.com/office/drawing/2014/main" id="{49E16D74-28D3-4D5C-896B-9D7514BC63FE}"/>
              </a:ext>
            </a:extLst>
          </p:cNvPr>
          <p:cNvSpPr txBox="1"/>
          <p:nvPr/>
        </p:nvSpPr>
        <p:spPr>
          <a:xfrm>
            <a:off x="1716552" y="2457199"/>
            <a:ext cx="4379448" cy="2246769"/>
          </a:xfrm>
          <a:prstGeom prst="rect">
            <a:avLst/>
          </a:prstGeom>
          <a:noFill/>
        </p:spPr>
        <p:txBody>
          <a:bodyPr wrap="square" rtlCol="0">
            <a:spAutoFit/>
          </a:bodyPr>
          <a:lstStyle/>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Problema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Propuesta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Estudio de mercado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Modelo de negocio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Estados financieros</a:t>
            </a:r>
          </a:p>
        </p:txBody>
      </p:sp>
      <p:sp>
        <p:nvSpPr>
          <p:cNvPr id="21" name="CuadroTexto 20">
            <a:extLst>
              <a:ext uri="{FF2B5EF4-FFF2-40B4-BE49-F238E27FC236}">
                <a16:creationId xmlns:a16="http://schemas.microsoft.com/office/drawing/2014/main" id="{543EFA96-7749-4E6E-9679-70626198223C}"/>
              </a:ext>
            </a:extLst>
          </p:cNvPr>
          <p:cNvSpPr txBox="1"/>
          <p:nvPr/>
        </p:nvSpPr>
        <p:spPr>
          <a:xfrm>
            <a:off x="6415661" y="2457198"/>
            <a:ext cx="4379448" cy="1815882"/>
          </a:xfrm>
          <a:prstGeom prst="rect">
            <a:avLst/>
          </a:prstGeom>
          <a:noFill/>
        </p:spPr>
        <p:txBody>
          <a:bodyPr wrap="square" rtlCol="0">
            <a:spAutoFit/>
          </a:bodyPr>
          <a:lstStyle/>
          <a:p>
            <a:pPr marL="514350" indent="-514350">
              <a:buFont typeface="+mj-lt"/>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Análisis financiero</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Conclusiones</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Bibliografía</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Agradecimientos</a:t>
            </a:r>
          </a:p>
        </p:txBody>
      </p:sp>
    </p:spTree>
    <p:extLst>
      <p:ext uri="{BB962C8B-B14F-4D97-AF65-F5344CB8AC3E}">
        <p14:creationId xmlns:p14="http://schemas.microsoft.com/office/powerpoint/2010/main" val="4151442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7409620" y="3605670"/>
            <a:ext cx="3124200"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Problema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0181DB30-34A7-472C-8357-5EAA224F2786}"/>
              </a:ext>
            </a:extLst>
          </p:cNvPr>
          <p:cNvPicPr>
            <a:picLocks noChangeAspect="1"/>
          </p:cNvPicPr>
          <p:nvPr/>
        </p:nvPicPr>
        <p:blipFill rotWithShape="1">
          <a:blip r:embed="rId3">
            <a:extLst>
              <a:ext uri="{28A0092B-C50C-407E-A947-70E740481C1C}">
                <a14:useLocalDpi xmlns:a14="http://schemas.microsoft.com/office/drawing/2010/main" val="0"/>
              </a:ext>
            </a:extLst>
          </a:blip>
          <a:srcRect t="8742" r="8420" b="9541"/>
          <a:stretch/>
        </p:blipFill>
        <p:spPr>
          <a:xfrm>
            <a:off x="1282562" y="1237998"/>
            <a:ext cx="5105675" cy="4555765"/>
          </a:xfrm>
          <a:prstGeom prst="rect">
            <a:avLst/>
          </a:prstGeom>
        </p:spPr>
      </p:pic>
      <p:sp>
        <p:nvSpPr>
          <p:cNvPr id="15" name="CuadroTexto 14">
            <a:extLst>
              <a:ext uri="{FF2B5EF4-FFF2-40B4-BE49-F238E27FC236}">
                <a16:creationId xmlns:a16="http://schemas.microsoft.com/office/drawing/2014/main" id="{49419FEE-E3B1-427D-B245-6FB3A2306DC3}"/>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6655165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Pregunta</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2400657"/>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¿Cómo puede una plataforma digital de asesoramiento financiero ayudar a los usuarios a mejorar sus hábitos económicos mediante orientación personalizada, accesible y confiable, manteniendo un impacto social y un modelo de negocio sostenible?</a:t>
            </a:r>
          </a:p>
        </p:txBody>
      </p:sp>
      <p:pic>
        <p:nvPicPr>
          <p:cNvPr id="7" name="Imagen 6">
            <a:extLst>
              <a:ext uri="{FF2B5EF4-FFF2-40B4-BE49-F238E27FC236}">
                <a16:creationId xmlns:a16="http://schemas.microsoft.com/office/drawing/2014/main" id="{2C92DD39-822B-4B48-B6D3-B9531A7C9AF3}"/>
              </a:ext>
            </a:extLst>
          </p:cNvPr>
          <p:cNvPicPr>
            <a:picLocks noChangeAspect="1"/>
          </p:cNvPicPr>
          <p:nvPr/>
        </p:nvPicPr>
        <p:blipFill rotWithShape="1">
          <a:blip r:embed="rId3">
            <a:extLst>
              <a:ext uri="{28A0092B-C50C-407E-A947-70E740481C1C}">
                <a14:useLocalDpi xmlns:a14="http://schemas.microsoft.com/office/drawing/2010/main" val="0"/>
              </a:ext>
            </a:extLst>
          </a:blip>
          <a:srcRect b="2950"/>
          <a:stretch/>
        </p:blipFill>
        <p:spPr>
          <a:xfrm>
            <a:off x="7628559" y="1583638"/>
            <a:ext cx="4061791" cy="3941970"/>
          </a:xfrm>
          <a:prstGeom prst="rect">
            <a:avLst/>
          </a:prstGeom>
        </p:spPr>
      </p:pic>
      <p:sp>
        <p:nvSpPr>
          <p:cNvPr id="19" name="CuadroTexto 18">
            <a:extLst>
              <a:ext uri="{FF2B5EF4-FFF2-40B4-BE49-F238E27FC236}">
                <a16:creationId xmlns:a16="http://schemas.microsoft.com/office/drawing/2014/main" id="{52DD0B70-44BB-4D15-BA49-6C58AB648883}"/>
              </a:ext>
            </a:extLst>
          </p:cNvPr>
          <p:cNvSpPr txBox="1"/>
          <p:nvPr/>
        </p:nvSpPr>
        <p:spPr>
          <a:xfrm>
            <a:off x="7862569" y="4907914"/>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305012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Objetivo General</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2862322"/>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Diseñar un plan de negocios y un prototipo de una plataforma digital de planificación financiera para jóvenes, trabajadores independientes y nómadas digitales en Bogotá, basada en microservicios y algoritmos de personalización (Machine </a:t>
            </a:r>
            <a:r>
              <a:rPr lang="es-ES" sz="3000" dirty="0" err="1">
                <a:latin typeface="Maleo" panose="02000006070000000000" pitchFamily="2" charset="0"/>
                <a:ea typeface="Maleo" panose="02000006070000000000" pitchFamily="2" charset="0"/>
                <a:cs typeface="Maleo" panose="02000006070000000000" pitchFamily="2" charset="0"/>
              </a:rPr>
              <a:t>Learning</a:t>
            </a:r>
            <a:r>
              <a:rPr lang="es-ES" sz="3000" dirty="0">
                <a:latin typeface="Maleo" panose="02000006070000000000" pitchFamily="2" charset="0"/>
                <a:ea typeface="Maleo" panose="02000006070000000000" pitchFamily="2" charset="0"/>
                <a:cs typeface="Maleo" panose="02000006070000000000" pitchFamily="2" charset="0"/>
              </a:rPr>
              <a:t>), que facilite la toma de decisiones económicas y mejore el bienestar financiero de sus usuarios.</a:t>
            </a:r>
          </a:p>
        </p:txBody>
      </p:sp>
      <p:pic>
        <p:nvPicPr>
          <p:cNvPr id="6" name="Imagen 5">
            <a:extLst>
              <a:ext uri="{FF2B5EF4-FFF2-40B4-BE49-F238E27FC236}">
                <a16:creationId xmlns:a16="http://schemas.microsoft.com/office/drawing/2014/main" id="{97389079-2FC3-4907-946D-A35CDF9652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092" y="1831898"/>
            <a:ext cx="3823409" cy="3823409"/>
          </a:xfrm>
          <a:prstGeom prst="rect">
            <a:avLst/>
          </a:prstGeom>
        </p:spPr>
      </p:pic>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071587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970643" y="3605670"/>
            <a:ext cx="3563177"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Propuesta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15E9461F-CCEA-433A-8977-71F5BE993D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58180" y="1519368"/>
            <a:ext cx="4348503" cy="4348503"/>
          </a:xfrm>
          <a:prstGeom prst="rect">
            <a:avLst/>
          </a:prstGeom>
        </p:spPr>
      </p:pic>
      <p:sp>
        <p:nvSpPr>
          <p:cNvPr id="13" name="CuadroTexto 12">
            <a:extLst>
              <a:ext uri="{FF2B5EF4-FFF2-40B4-BE49-F238E27FC236}">
                <a16:creationId xmlns:a16="http://schemas.microsoft.com/office/drawing/2014/main" id="{6B7185EA-5617-4827-8406-A8C8D7E2493E}"/>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233728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41358"/>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a:t>
            </a:r>
          </a:p>
        </p:txBody>
      </p:sp>
      <p:pic>
        <p:nvPicPr>
          <p:cNvPr id="7" name="Imagen 6">
            <a:extLst>
              <a:ext uri="{FF2B5EF4-FFF2-40B4-BE49-F238E27FC236}">
                <a16:creationId xmlns:a16="http://schemas.microsoft.com/office/drawing/2014/main" id="{D7A8EC08-5495-4964-B242-DC6DDF62E3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9991" y="2367029"/>
            <a:ext cx="2073965" cy="2073965"/>
          </a:xfrm>
          <a:prstGeom prst="rect">
            <a:avLst/>
          </a:prstGeom>
        </p:spPr>
      </p:pic>
      <p:sp>
        <p:nvSpPr>
          <p:cNvPr id="19" name="CuadroTexto 18">
            <a:extLst>
              <a:ext uri="{FF2B5EF4-FFF2-40B4-BE49-F238E27FC236}">
                <a16:creationId xmlns:a16="http://schemas.microsoft.com/office/drawing/2014/main" id="{8D7A7E61-9115-44A8-836C-045E7C9E335A}"/>
              </a:ext>
            </a:extLst>
          </p:cNvPr>
          <p:cNvSpPr txBox="1"/>
          <p:nvPr/>
        </p:nvSpPr>
        <p:spPr>
          <a:xfrm>
            <a:off x="1089990"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Gamificación</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Ligera</a:t>
            </a:r>
          </a:p>
        </p:txBody>
      </p:sp>
      <p:pic>
        <p:nvPicPr>
          <p:cNvPr id="9" name="Imagen 8">
            <a:extLst>
              <a:ext uri="{FF2B5EF4-FFF2-40B4-BE49-F238E27FC236}">
                <a16:creationId xmlns:a16="http://schemas.microsoft.com/office/drawing/2014/main" id="{BA9566DB-7BA1-4C4C-A3C9-FF81498FE2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95646" y="2533040"/>
            <a:ext cx="1973187" cy="1973187"/>
          </a:xfrm>
          <a:prstGeom prst="rect">
            <a:avLst/>
          </a:prstGeom>
        </p:spPr>
      </p:pic>
      <p:sp>
        <p:nvSpPr>
          <p:cNvPr id="20" name="CuadroTexto 19">
            <a:extLst>
              <a:ext uri="{FF2B5EF4-FFF2-40B4-BE49-F238E27FC236}">
                <a16:creationId xmlns:a16="http://schemas.microsoft.com/office/drawing/2014/main" id="{C8E59627-9A0A-44D0-9D04-BBED61F700AE}"/>
              </a:ext>
            </a:extLst>
          </p:cNvPr>
          <p:cNvSpPr txBox="1"/>
          <p:nvPr/>
        </p:nvSpPr>
        <p:spPr>
          <a:xfrm>
            <a:off x="3736014"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Interfaz</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Intuitiva</a:t>
            </a:r>
          </a:p>
        </p:txBody>
      </p:sp>
      <p:pic>
        <p:nvPicPr>
          <p:cNvPr id="21" name="Imagen 20">
            <a:extLst>
              <a:ext uri="{FF2B5EF4-FFF2-40B4-BE49-F238E27FC236}">
                <a16:creationId xmlns:a16="http://schemas.microsoft.com/office/drawing/2014/main" id="{34F6CACA-BDBA-4E97-9BDC-95F0A17AF21A}"/>
              </a:ext>
            </a:extLst>
          </p:cNvPr>
          <p:cNvPicPr>
            <a:picLocks noChangeAspect="1"/>
          </p:cNvPicPr>
          <p:nvPr/>
        </p:nvPicPr>
        <p:blipFill rotWithShape="1">
          <a:blip r:embed="rId5">
            <a:extLst>
              <a:ext uri="{28A0092B-C50C-407E-A947-70E740481C1C}">
                <a14:useLocalDpi xmlns:a14="http://schemas.microsoft.com/office/drawing/2010/main" val="0"/>
              </a:ext>
            </a:extLst>
          </a:blip>
          <a:srcRect l="1345" t="17895" r="3182" b="20840"/>
          <a:stretch/>
        </p:blipFill>
        <p:spPr>
          <a:xfrm>
            <a:off x="6111265" y="2535537"/>
            <a:ext cx="2919497" cy="1873440"/>
          </a:xfrm>
          <a:prstGeom prst="rect">
            <a:avLst/>
          </a:prstGeom>
        </p:spPr>
      </p:pic>
      <p:sp>
        <p:nvSpPr>
          <p:cNvPr id="22" name="CuadroTexto 21">
            <a:extLst>
              <a:ext uri="{FF2B5EF4-FFF2-40B4-BE49-F238E27FC236}">
                <a16:creationId xmlns:a16="http://schemas.microsoft.com/office/drawing/2014/main" id="{AFF082EC-7911-4F99-AD70-5127506066E6}"/>
              </a:ext>
            </a:extLst>
          </p:cNvPr>
          <p:cNvSpPr txBox="1"/>
          <p:nvPr/>
        </p:nvSpPr>
        <p:spPr>
          <a:xfrm>
            <a:off x="6501496" y="434602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Lecciones para Aprendizaje Financiero</a:t>
            </a:r>
          </a:p>
        </p:txBody>
      </p:sp>
      <p:pic>
        <p:nvPicPr>
          <p:cNvPr id="24" name="Imagen 23">
            <a:extLst>
              <a:ext uri="{FF2B5EF4-FFF2-40B4-BE49-F238E27FC236}">
                <a16:creationId xmlns:a16="http://schemas.microsoft.com/office/drawing/2014/main" id="{0C70120B-C9EC-4E41-9C5B-AA0EFEDDCD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47521" y="2343886"/>
            <a:ext cx="2207024" cy="2207024"/>
          </a:xfrm>
          <a:prstGeom prst="rect">
            <a:avLst/>
          </a:prstGeom>
        </p:spPr>
      </p:pic>
      <p:sp>
        <p:nvSpPr>
          <p:cNvPr id="25" name="CuadroTexto 24">
            <a:extLst>
              <a:ext uri="{FF2B5EF4-FFF2-40B4-BE49-F238E27FC236}">
                <a16:creationId xmlns:a16="http://schemas.microsoft.com/office/drawing/2014/main" id="{609DFB9B-F7F6-48DE-8E7B-3ADB8E9DB58F}"/>
              </a:ext>
            </a:extLst>
          </p:cNvPr>
          <p:cNvSpPr txBox="1"/>
          <p:nvPr/>
        </p:nvSpPr>
        <p:spPr>
          <a:xfrm>
            <a:off x="9280580" y="433576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Costo cero con Suscripción Opcional</a:t>
            </a:r>
          </a:p>
        </p:txBody>
      </p:sp>
      <p:sp>
        <p:nvSpPr>
          <p:cNvPr id="23" name="CuadroTexto 22">
            <a:extLst>
              <a:ext uri="{FF2B5EF4-FFF2-40B4-BE49-F238E27FC236}">
                <a16:creationId xmlns:a16="http://schemas.microsoft.com/office/drawing/2014/main" id="{DEF38978-D537-4076-89D8-9A091D130D54}"/>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96425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445229"/>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Producto</a:t>
            </a:r>
          </a:p>
        </p:txBody>
      </p:sp>
    </p:spTree>
    <p:extLst>
      <p:ext uri="{BB962C8B-B14F-4D97-AF65-F5344CB8AC3E}">
        <p14:creationId xmlns:p14="http://schemas.microsoft.com/office/powerpoint/2010/main" val="1602931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14854"/>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Herramientas Tecnológicas:</a:t>
            </a:r>
          </a:p>
        </p:txBody>
      </p:sp>
      <p:pic>
        <p:nvPicPr>
          <p:cNvPr id="6" name="Imagen 5">
            <a:extLst>
              <a:ext uri="{FF2B5EF4-FFF2-40B4-BE49-F238E27FC236}">
                <a16:creationId xmlns:a16="http://schemas.microsoft.com/office/drawing/2014/main" id="{90559C7B-22AB-421B-B261-BEEC3BC0F061}"/>
              </a:ext>
            </a:extLst>
          </p:cNvPr>
          <p:cNvPicPr>
            <a:picLocks noChangeAspect="1"/>
          </p:cNvPicPr>
          <p:nvPr/>
        </p:nvPicPr>
        <p:blipFill rotWithShape="1">
          <a:blip r:embed="rId3">
            <a:extLst>
              <a:ext uri="{28A0092B-C50C-407E-A947-70E740481C1C}">
                <a14:useLocalDpi xmlns:a14="http://schemas.microsoft.com/office/drawing/2010/main" val="0"/>
              </a:ext>
            </a:extLst>
          </a:blip>
          <a:srcRect l="13713" t="10257" r="12227" b="12578"/>
          <a:stretch/>
        </p:blipFill>
        <p:spPr>
          <a:xfrm>
            <a:off x="9507786" y="4137723"/>
            <a:ext cx="1516779" cy="1580378"/>
          </a:xfrm>
          <a:prstGeom prst="rect">
            <a:avLst/>
          </a:prstGeom>
        </p:spPr>
      </p:pic>
      <p:pic>
        <p:nvPicPr>
          <p:cNvPr id="8" name="Imagen 7">
            <a:extLst>
              <a:ext uri="{FF2B5EF4-FFF2-40B4-BE49-F238E27FC236}">
                <a16:creationId xmlns:a16="http://schemas.microsoft.com/office/drawing/2014/main" id="{ACBFBEA9-3A83-4DF4-83F8-9BFAB07F39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83537" y="3102754"/>
            <a:ext cx="3175724" cy="1956246"/>
          </a:xfrm>
          <a:prstGeom prst="rect">
            <a:avLst/>
          </a:prstGeom>
        </p:spPr>
      </p:pic>
      <p:pic>
        <p:nvPicPr>
          <p:cNvPr id="12" name="Imagen 11">
            <a:extLst>
              <a:ext uri="{FF2B5EF4-FFF2-40B4-BE49-F238E27FC236}">
                <a16:creationId xmlns:a16="http://schemas.microsoft.com/office/drawing/2014/main" id="{3D149849-2A1C-40E4-9724-ED720A7513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78766" y="3097733"/>
            <a:ext cx="1956246" cy="1956246"/>
          </a:xfrm>
          <a:prstGeom prst="rect">
            <a:avLst/>
          </a:prstGeom>
        </p:spPr>
      </p:pic>
      <p:pic>
        <p:nvPicPr>
          <p:cNvPr id="19" name="Imagen 18">
            <a:extLst>
              <a:ext uri="{FF2B5EF4-FFF2-40B4-BE49-F238E27FC236}">
                <a16:creationId xmlns:a16="http://schemas.microsoft.com/office/drawing/2014/main" id="{2EC0C547-1EAA-49B0-BA5B-41A0652C14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81788" y="2260798"/>
            <a:ext cx="1768777" cy="1768777"/>
          </a:xfrm>
          <a:prstGeom prst="rect">
            <a:avLst/>
          </a:prstGeom>
        </p:spPr>
      </p:pic>
      <p:sp>
        <p:nvSpPr>
          <p:cNvPr id="16" name="CuadroTexto 15">
            <a:extLst>
              <a:ext uri="{FF2B5EF4-FFF2-40B4-BE49-F238E27FC236}">
                <a16:creationId xmlns:a16="http://schemas.microsoft.com/office/drawing/2014/main" id="{11B8132B-52B5-4492-BB88-A3DFEFC429CE}"/>
              </a:ext>
            </a:extLst>
          </p:cNvPr>
          <p:cNvSpPr txBox="1"/>
          <p:nvPr/>
        </p:nvSpPr>
        <p:spPr>
          <a:xfrm>
            <a:off x="0" y="6060909"/>
            <a:ext cx="12191999"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Wikipedia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Commons</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https://commons.wikimedia.org/wiki/</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71184ECB-D251-41FA-BF8B-47A5C14FCC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1200" y="2410304"/>
            <a:ext cx="2525507" cy="1159168"/>
          </a:xfrm>
          <a:prstGeom prst="rect">
            <a:avLst/>
          </a:prstGeom>
        </p:spPr>
      </p:pic>
      <p:pic>
        <p:nvPicPr>
          <p:cNvPr id="20" name="Imagen 19">
            <a:extLst>
              <a:ext uri="{FF2B5EF4-FFF2-40B4-BE49-F238E27FC236}">
                <a16:creationId xmlns:a16="http://schemas.microsoft.com/office/drawing/2014/main" id="{FC0009C5-7D25-41BC-9D37-B37C0B90A5E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1435" y="3697510"/>
            <a:ext cx="2020334" cy="2084985"/>
          </a:xfrm>
          <a:prstGeom prst="rect">
            <a:avLst/>
          </a:prstGeom>
        </p:spPr>
      </p:pic>
    </p:spTree>
    <p:extLst>
      <p:ext uri="{BB962C8B-B14F-4D97-AF65-F5344CB8AC3E}">
        <p14:creationId xmlns:p14="http://schemas.microsoft.com/office/powerpoint/2010/main" val="4264045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10</a:t>
            </a:r>
            <a:endParaRPr lang="es-CO" sz="2400" dirty="0">
              <a:latin typeface="Maleo" panose="02000006070000000000" pitchFamily="2" charset="0"/>
              <a:ea typeface="Maleo" panose="02000006070000000000" pitchFamily="2" charset="0"/>
              <a:cs typeface="Maleo" panose="02000006070000000000" pitchFamily="2" charset="0"/>
            </a:endParaRPr>
          </a:p>
        </p:txBody>
      </p:sp>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Arquitectura</a:t>
            </a:r>
          </a:p>
        </p:txBody>
      </p:sp>
      <p:pic>
        <p:nvPicPr>
          <p:cNvPr id="16" name="Imagen 15">
            <a:extLst>
              <a:ext uri="{FF2B5EF4-FFF2-40B4-BE49-F238E27FC236}">
                <a16:creationId xmlns:a16="http://schemas.microsoft.com/office/drawing/2014/main" id="{BFD73A03-7BDF-4F01-A684-05037E5A58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8562" y="2360790"/>
            <a:ext cx="4714875" cy="3143250"/>
          </a:xfrm>
          <a:prstGeom prst="rect">
            <a:avLst/>
          </a:prstGeom>
        </p:spPr>
      </p:pic>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3">
            <a:duotone>
              <a:srgbClr val="A5A5A5">
                <a:shade val="45000"/>
                <a:satMod val="135000"/>
              </a:srgb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9" name="CuadroTexto 18">
            <a:extLst>
              <a:ext uri="{FF2B5EF4-FFF2-40B4-BE49-F238E27FC236}">
                <a16:creationId xmlns:a16="http://schemas.microsoft.com/office/drawing/2014/main" id="{07912B02-AD56-447C-9AF8-DE57542E301D}"/>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1229622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9"/>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Estudio de Mercado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68A79749-7559-45DD-99FF-7C464C10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8522" y="1302604"/>
            <a:ext cx="4960203" cy="4960203"/>
          </a:xfrm>
          <a:prstGeom prst="rect">
            <a:avLst/>
          </a:prstGeom>
        </p:spPr>
      </p:pic>
      <p:sp>
        <p:nvSpPr>
          <p:cNvPr id="13" name="CuadroTexto 12">
            <a:extLst>
              <a:ext uri="{FF2B5EF4-FFF2-40B4-BE49-F238E27FC236}">
                <a16:creationId xmlns:a16="http://schemas.microsoft.com/office/drawing/2014/main" id="{780B02E3-8987-48D0-869A-0C7B19C207C6}"/>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9209966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Competencia</a:t>
            </a:r>
          </a:p>
        </p:txBody>
      </p:sp>
      <p:pic>
        <p:nvPicPr>
          <p:cNvPr id="6" name="Imagen 5">
            <a:extLst>
              <a:ext uri="{FF2B5EF4-FFF2-40B4-BE49-F238E27FC236}">
                <a16:creationId xmlns:a16="http://schemas.microsoft.com/office/drawing/2014/main" id="{DF9C93E4-284A-43E5-BA96-14974DAB9C17}"/>
              </a:ext>
            </a:extLst>
          </p:cNvPr>
          <p:cNvPicPr>
            <a:picLocks noChangeAspect="1"/>
          </p:cNvPicPr>
          <p:nvPr/>
        </p:nvPicPr>
        <p:blipFill rotWithShape="1">
          <a:blip r:embed="rId3">
            <a:extLst>
              <a:ext uri="{28A0092B-C50C-407E-A947-70E740481C1C}">
                <a14:useLocalDpi xmlns:a14="http://schemas.microsoft.com/office/drawing/2010/main" val="0"/>
              </a:ext>
            </a:extLst>
          </a:blip>
          <a:srcRect l="11432" r="40925"/>
          <a:stretch/>
        </p:blipFill>
        <p:spPr>
          <a:xfrm>
            <a:off x="1590260" y="2410560"/>
            <a:ext cx="2955236" cy="1827900"/>
          </a:xfrm>
          <a:prstGeom prst="rect">
            <a:avLst/>
          </a:prstGeom>
        </p:spPr>
      </p:pic>
      <p:pic>
        <p:nvPicPr>
          <p:cNvPr id="9" name="Imagen 8">
            <a:extLst>
              <a:ext uri="{FF2B5EF4-FFF2-40B4-BE49-F238E27FC236}">
                <a16:creationId xmlns:a16="http://schemas.microsoft.com/office/drawing/2014/main" id="{373F27D9-EA49-479C-B57C-32738DFEEA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95987" y="3558157"/>
            <a:ext cx="3235732" cy="1812010"/>
          </a:xfrm>
          <a:prstGeom prst="rect">
            <a:avLst/>
          </a:prstGeom>
        </p:spPr>
      </p:pic>
      <p:pic>
        <p:nvPicPr>
          <p:cNvPr id="19" name="Imagen 18">
            <a:extLst>
              <a:ext uri="{FF2B5EF4-FFF2-40B4-BE49-F238E27FC236}">
                <a16:creationId xmlns:a16="http://schemas.microsoft.com/office/drawing/2014/main" id="{226C1705-EF40-4FCF-82B6-25F64E179A5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882211" y="2410560"/>
            <a:ext cx="3235732" cy="1820099"/>
          </a:xfrm>
          <a:prstGeom prst="rect">
            <a:avLst/>
          </a:prstGeom>
        </p:spPr>
      </p:pic>
      <p:sp>
        <p:nvSpPr>
          <p:cNvPr id="16" name="CuadroTexto 15">
            <a:extLst>
              <a:ext uri="{FF2B5EF4-FFF2-40B4-BE49-F238E27FC236}">
                <a16:creationId xmlns:a16="http://schemas.microsoft.com/office/drawing/2014/main" id="{927A3D74-B421-4DBB-A711-2B796F935EB1}"/>
              </a:ext>
            </a:extLst>
          </p:cNvPr>
          <p:cNvSpPr txBox="1"/>
          <p:nvPr/>
        </p:nvSpPr>
        <p:spPr>
          <a:xfrm>
            <a:off x="1387615" y="4337500"/>
            <a:ext cx="3327640" cy="83099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Entre nosotros, BBVA, 2024, Origen:</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https://view.ceros.com/avalon/bbva-entre-nosotros-13/p/4</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0E7FB5C1-ECAB-447C-B665-F18103CFD80E}"/>
              </a:ext>
            </a:extLst>
          </p:cNvPr>
          <p:cNvSpPr txBox="1"/>
          <p:nvPr/>
        </p:nvSpPr>
        <p:spPr>
          <a:xfrm>
            <a:off x="7616304" y="4298779"/>
            <a:ext cx="3981282" cy="135421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Nequi</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renueva su imagen: cuenta con más de 17,5 millones de clientes en Colombia, Neira J. G., Valora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Analitik</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2023, Recuperado de: https://www.valoraanalitik.com/nequi-renueva-su-imagen-cuenta-con-mas-de-17-5-millones-de</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clientes-en-</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colombia</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1" name="CuadroTexto 20">
            <a:extLst>
              <a:ext uri="{FF2B5EF4-FFF2-40B4-BE49-F238E27FC236}">
                <a16:creationId xmlns:a16="http://schemas.microsoft.com/office/drawing/2014/main" id="{20ADE094-E39D-4975-8BA0-68FFAC5E121A}"/>
              </a:ext>
            </a:extLst>
          </p:cNvPr>
          <p:cNvSpPr txBox="1"/>
          <p:nvPr/>
        </p:nvSpPr>
        <p:spPr>
          <a:xfrm>
            <a:off x="3167270" y="5504040"/>
            <a:ext cx="5751443" cy="1107996"/>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Qué es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Fintonic</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y cómo nos puede ayudar en el</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control financiero, Ruiz R., 2019, Recuperado de: https://eiposgrados.com/blog-direccion-financiera/que-es-fintonic-y-como-nos-puede-ayudar-en-el-control-financiero/</a:t>
            </a:r>
          </a:p>
          <a:p>
            <a:pPr algn="ct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710599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637040" y="1115416"/>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Las 5 Fuerzas de Porter</a:t>
            </a:r>
          </a:p>
        </p:txBody>
      </p:sp>
      <p:pic>
        <p:nvPicPr>
          <p:cNvPr id="6" name="Imagen 5">
            <a:extLst>
              <a:ext uri="{FF2B5EF4-FFF2-40B4-BE49-F238E27FC236}">
                <a16:creationId xmlns:a16="http://schemas.microsoft.com/office/drawing/2014/main" id="{D2360408-F8BC-40D5-AAC7-E2464BFA34D5}"/>
              </a:ext>
            </a:extLst>
          </p:cNvPr>
          <p:cNvPicPr>
            <a:picLocks noChangeAspect="1"/>
          </p:cNvPicPr>
          <p:nvPr/>
        </p:nvPicPr>
        <p:blipFill rotWithShape="1">
          <a:blip r:embed="rId3">
            <a:extLst>
              <a:ext uri="{28A0092B-C50C-407E-A947-70E740481C1C}">
                <a14:useLocalDpi xmlns:a14="http://schemas.microsoft.com/office/drawing/2010/main" val="0"/>
              </a:ext>
            </a:extLst>
          </a:blip>
          <a:srcRect t="28083" b="10415"/>
          <a:stretch/>
        </p:blipFill>
        <p:spPr>
          <a:xfrm>
            <a:off x="122018" y="2723161"/>
            <a:ext cx="5457148" cy="1514962"/>
          </a:xfrm>
          <a:prstGeom prst="rect">
            <a:avLst/>
          </a:prstGeom>
        </p:spPr>
      </p:pic>
      <p:sp>
        <p:nvSpPr>
          <p:cNvPr id="16" name="CuadroTexto 15">
            <a:extLst>
              <a:ext uri="{FF2B5EF4-FFF2-40B4-BE49-F238E27FC236}">
                <a16:creationId xmlns:a16="http://schemas.microsoft.com/office/drawing/2014/main" id="{A9B4A806-31EA-496A-8444-DCB429C9987C}"/>
              </a:ext>
            </a:extLst>
          </p:cNvPr>
          <p:cNvSpPr txBox="1"/>
          <p:nvPr/>
        </p:nvSpPr>
        <p:spPr>
          <a:xfrm>
            <a:off x="5486400" y="2775822"/>
            <a:ext cx="4876800" cy="1938992"/>
          </a:xfrm>
          <a:prstGeom prst="rect">
            <a:avLst/>
          </a:prstGeom>
          <a:noFill/>
        </p:spPr>
        <p:txBody>
          <a:bodyPr wrap="square" rtlCol="0">
            <a:spAutoFit/>
          </a:bodyPr>
          <a:lstStyle/>
          <a:p>
            <a:pPr marL="457200" indent="-457200">
              <a:buAutoNum type="arabicParenR"/>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Poder del cliente (Baja)</a:t>
            </a:r>
          </a:p>
          <a:p>
            <a:pPr marL="457200" indent="-457200">
              <a:buFont typeface="+mj-lt"/>
              <a:buAutoNum type="arabicParenR" startAt="2"/>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Poder del proveedor (Alta)</a:t>
            </a:r>
          </a:p>
          <a:p>
            <a:pPr marL="457200" indent="-457200">
              <a:buFont typeface="+mj-lt"/>
              <a:buAutoNum type="arabicParenR" startAt="3"/>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Nuevos competidores entrantes (Moderada)</a:t>
            </a:r>
          </a:p>
          <a:p>
            <a:pPr marL="457200" indent="-457200">
              <a:buFont typeface="+mj-lt"/>
              <a:buAutoNum type="arabicParenR" startAt="4"/>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Amenazas de sustitutivos (Moderada)</a:t>
            </a:r>
          </a:p>
          <a:p>
            <a:pPr marL="457200" indent="-457200">
              <a:buFont typeface="+mj-lt"/>
              <a:buAutoNum type="arabicParenR" startAt="5"/>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Naturaleza de rivalidad (Baja)</a:t>
            </a:r>
          </a:p>
        </p:txBody>
      </p:sp>
      <p:sp>
        <p:nvSpPr>
          <p:cNvPr id="20" name="CuadroTexto 19">
            <a:extLst>
              <a:ext uri="{FF2B5EF4-FFF2-40B4-BE49-F238E27FC236}">
                <a16:creationId xmlns:a16="http://schemas.microsoft.com/office/drawing/2014/main" id="{7C5D1148-E23E-4C13-9F8C-F10E627FB931}"/>
              </a:ext>
            </a:extLst>
          </p:cNvPr>
          <p:cNvSpPr txBox="1"/>
          <p:nvPr/>
        </p:nvSpPr>
        <p:spPr>
          <a:xfrm>
            <a:off x="265043" y="4316288"/>
            <a:ext cx="5192105" cy="584775"/>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5 fuerzas de Porter: análisis de las fuerzas competitivas de una empresa, 2025, Recuperado de: https://thepower.education/blog/business/las-5-fuerzas-de-porter</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2521162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Modelo de Negocio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6306F7AD-9F8A-43FD-A5FC-B7D23300FBBC}"/>
              </a:ext>
            </a:extLst>
          </p:cNvPr>
          <p:cNvPicPr>
            <a:picLocks noChangeAspect="1"/>
          </p:cNvPicPr>
          <p:nvPr/>
        </p:nvPicPr>
        <p:blipFill rotWithShape="1">
          <a:blip r:embed="rId3">
            <a:extLst>
              <a:ext uri="{28A0092B-C50C-407E-A947-70E740481C1C}">
                <a14:useLocalDpi xmlns:a14="http://schemas.microsoft.com/office/drawing/2010/main" val="0"/>
              </a:ext>
            </a:extLst>
          </a:blip>
          <a:srcRect t="21073" b="17581"/>
          <a:stretch/>
        </p:blipFill>
        <p:spPr>
          <a:xfrm>
            <a:off x="1109621" y="1804491"/>
            <a:ext cx="5764340" cy="3536131"/>
          </a:xfrm>
          <a:prstGeom prst="rect">
            <a:avLst/>
          </a:prstGeom>
        </p:spPr>
      </p:pic>
    </p:spTree>
    <p:extLst>
      <p:ext uri="{BB962C8B-B14F-4D97-AF65-F5344CB8AC3E}">
        <p14:creationId xmlns:p14="http://schemas.microsoft.com/office/powerpoint/2010/main" val="28593999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0" y="1115416"/>
            <a:ext cx="12192000"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Modelo </a:t>
            </a:r>
            <a:r>
              <a:rPr lang="es-ES" sz="4400" dirty="0" err="1">
                <a:solidFill>
                  <a:srgbClr val="8D2F3C"/>
                </a:solidFill>
                <a:latin typeface="Iosevka" panose="02000509030000000004" pitchFamily="49" charset="0"/>
                <a:ea typeface="Iosevka" panose="02000509030000000004" pitchFamily="49" charset="0"/>
                <a:cs typeface="Iosevka" panose="02000509030000000004" pitchFamily="49" charset="0"/>
              </a:rPr>
              <a:t>Canvas</a:t>
            </a:r>
            <a:endPar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828F54BC-09FD-499B-BA40-2DEDB1609B73}"/>
              </a:ext>
            </a:extLst>
          </p:cNvPr>
          <p:cNvPicPr>
            <a:picLocks noChangeAspect="1"/>
          </p:cNvPicPr>
          <p:nvPr/>
        </p:nvPicPr>
        <p:blipFill rotWithShape="1">
          <a:blip r:embed="rId3">
            <a:extLst>
              <a:ext uri="{28A0092B-C50C-407E-A947-70E740481C1C}">
                <a14:useLocalDpi xmlns:a14="http://schemas.microsoft.com/office/drawing/2010/main" val="0"/>
              </a:ext>
            </a:extLst>
          </a:blip>
          <a:srcRect t="13572" b="2895"/>
          <a:stretch/>
        </p:blipFill>
        <p:spPr>
          <a:xfrm>
            <a:off x="2314938" y="1755172"/>
            <a:ext cx="7464043" cy="4378297"/>
          </a:xfrm>
          <a:prstGeom prst="rect">
            <a:avLst/>
          </a:prstGeom>
        </p:spPr>
      </p:pic>
      <p:sp>
        <p:nvSpPr>
          <p:cNvPr id="16" name="CuadroTexto 15">
            <a:extLst>
              <a:ext uri="{FF2B5EF4-FFF2-40B4-BE49-F238E27FC236}">
                <a16:creationId xmlns:a16="http://schemas.microsoft.com/office/drawing/2014/main" id="{5B053B76-1B6C-442A-BDFA-3C4ACF9B4733}"/>
              </a:ext>
            </a:extLst>
          </p:cNvPr>
          <p:cNvSpPr txBox="1"/>
          <p:nvPr/>
        </p:nvSpPr>
        <p:spPr>
          <a:xfrm>
            <a:off x="0" y="6120590"/>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2936957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 del Modelo de Negocio</a:t>
            </a:r>
          </a:p>
        </p:txBody>
      </p:sp>
      <p:sp>
        <p:nvSpPr>
          <p:cNvPr id="12" name="CuadroTexto 11">
            <a:extLst>
              <a:ext uri="{FF2B5EF4-FFF2-40B4-BE49-F238E27FC236}">
                <a16:creationId xmlns:a16="http://schemas.microsoft.com/office/drawing/2014/main" id="{7748A24D-0A2D-4262-AB86-37FBF30FDF46}"/>
              </a:ext>
            </a:extLst>
          </p:cNvPr>
          <p:cNvSpPr txBox="1"/>
          <p:nvPr/>
        </p:nvSpPr>
        <p:spPr>
          <a:xfrm>
            <a:off x="869276"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6" name="CuadroTexto 15">
            <a:extLst>
              <a:ext uri="{FF2B5EF4-FFF2-40B4-BE49-F238E27FC236}">
                <a16:creationId xmlns:a16="http://schemas.microsoft.com/office/drawing/2014/main" id="{6BCCD204-6785-4C4E-86C5-3500C846390E}"/>
              </a:ext>
            </a:extLst>
          </p:cNvPr>
          <p:cNvSpPr txBox="1"/>
          <p:nvPr/>
        </p:nvSpPr>
        <p:spPr>
          <a:xfrm>
            <a:off x="869276"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9" name="CuadroTexto 18">
            <a:extLst>
              <a:ext uri="{FF2B5EF4-FFF2-40B4-BE49-F238E27FC236}">
                <a16:creationId xmlns:a16="http://schemas.microsoft.com/office/drawing/2014/main" id="{00D2631A-8E4C-44E4-9649-F46301566DCB}"/>
              </a:ext>
            </a:extLst>
          </p:cNvPr>
          <p:cNvSpPr txBox="1"/>
          <p:nvPr/>
        </p:nvSpPr>
        <p:spPr>
          <a:xfrm>
            <a:off x="6289712"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0" name="CuadroTexto 19">
            <a:extLst>
              <a:ext uri="{FF2B5EF4-FFF2-40B4-BE49-F238E27FC236}">
                <a16:creationId xmlns:a16="http://schemas.microsoft.com/office/drawing/2014/main" id="{75D2E2E0-844C-4007-A842-5A23562853A4}"/>
              </a:ext>
            </a:extLst>
          </p:cNvPr>
          <p:cNvSpPr txBox="1"/>
          <p:nvPr/>
        </p:nvSpPr>
        <p:spPr>
          <a:xfrm>
            <a:off x="6289712"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1" name="CuadroTexto 20">
            <a:extLst>
              <a:ext uri="{FF2B5EF4-FFF2-40B4-BE49-F238E27FC236}">
                <a16:creationId xmlns:a16="http://schemas.microsoft.com/office/drawing/2014/main" id="{D807682A-4B79-4150-BDBA-78B64B7D706F}"/>
              </a:ext>
            </a:extLst>
          </p:cNvPr>
          <p:cNvSpPr txBox="1"/>
          <p:nvPr/>
        </p:nvSpPr>
        <p:spPr>
          <a:xfrm>
            <a:off x="1716552" y="2576047"/>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Accesibilidad</a:t>
            </a:r>
          </a:p>
          <a:p>
            <a:pPr algn="just"/>
            <a:r>
              <a:rPr lang="es-ES" sz="2000" dirty="0">
                <a:latin typeface="Maleo" panose="02000006070000000000" pitchFamily="2" charset="0"/>
                <a:ea typeface="Maleo" panose="02000006070000000000" pitchFamily="2" charset="0"/>
                <a:cs typeface="Maleo" panose="02000006070000000000" pitchFamily="2" charset="0"/>
              </a:rPr>
              <a:t>Garantizar el acceso a la plataforma al público objetivo mediante cualquier navegador con conexión a internet, facilitando su uso sin barreras técnicas.</a:t>
            </a:r>
          </a:p>
        </p:txBody>
      </p:sp>
      <p:sp>
        <p:nvSpPr>
          <p:cNvPr id="22" name="CuadroTexto 21">
            <a:extLst>
              <a:ext uri="{FF2B5EF4-FFF2-40B4-BE49-F238E27FC236}">
                <a16:creationId xmlns:a16="http://schemas.microsoft.com/office/drawing/2014/main" id="{D6BAEED8-B7B9-45FF-BDA6-566EAB188AEC}"/>
              </a:ext>
            </a:extLst>
          </p:cNvPr>
          <p:cNvSpPr txBox="1"/>
          <p:nvPr/>
        </p:nvSpPr>
        <p:spPr>
          <a:xfrm>
            <a:off x="1716552" y="4510402"/>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Escalabilidad</a:t>
            </a:r>
          </a:p>
          <a:p>
            <a:pPr algn="just"/>
            <a:r>
              <a:rPr lang="es-ES" sz="2000" dirty="0">
                <a:latin typeface="Maleo" panose="02000006070000000000" pitchFamily="2" charset="0"/>
                <a:ea typeface="Maleo" panose="02000006070000000000" pitchFamily="2" charset="0"/>
                <a:cs typeface="Maleo" panose="02000006070000000000" pitchFamily="2" charset="0"/>
              </a:rPr>
              <a:t>Innovación contante del producto con el objetivo de ofrecer nuevas capacidades y servicios. Sin perder calidad en el servicios ni en el rendimiento del sistema.</a:t>
            </a:r>
          </a:p>
        </p:txBody>
      </p:sp>
      <p:sp>
        <p:nvSpPr>
          <p:cNvPr id="23" name="CuadroTexto 22">
            <a:extLst>
              <a:ext uri="{FF2B5EF4-FFF2-40B4-BE49-F238E27FC236}">
                <a16:creationId xmlns:a16="http://schemas.microsoft.com/office/drawing/2014/main" id="{0A8A16F0-3BEE-4C72-8162-F69048F3B8BB}"/>
              </a:ext>
            </a:extLst>
          </p:cNvPr>
          <p:cNvSpPr txBox="1"/>
          <p:nvPr/>
        </p:nvSpPr>
        <p:spPr>
          <a:xfrm>
            <a:off x="7213756" y="2576047"/>
            <a:ext cx="4379448" cy="1138773"/>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Personalización</a:t>
            </a:r>
          </a:p>
          <a:p>
            <a:pPr algn="just"/>
            <a:r>
              <a:rPr lang="es-ES" sz="2000" dirty="0">
                <a:latin typeface="Maleo" panose="02000006070000000000" pitchFamily="2" charset="0"/>
                <a:ea typeface="Maleo" panose="02000006070000000000" pitchFamily="2" charset="0"/>
                <a:cs typeface="Maleo" panose="02000006070000000000" pitchFamily="2" charset="0"/>
              </a:rPr>
              <a:t>Adaptar el contenido, recomendaciones y rutas de aprendizaje en base al perfil de cada usuario.</a:t>
            </a:r>
          </a:p>
        </p:txBody>
      </p:sp>
      <p:sp>
        <p:nvSpPr>
          <p:cNvPr id="24" name="CuadroTexto 23">
            <a:extLst>
              <a:ext uri="{FF2B5EF4-FFF2-40B4-BE49-F238E27FC236}">
                <a16:creationId xmlns:a16="http://schemas.microsoft.com/office/drawing/2014/main" id="{1685B384-0821-4ED0-B3D7-B9F784468DEB}"/>
              </a:ext>
            </a:extLst>
          </p:cNvPr>
          <p:cNvSpPr txBox="1"/>
          <p:nvPr/>
        </p:nvSpPr>
        <p:spPr>
          <a:xfrm>
            <a:off x="7213756" y="4471931"/>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Interactividad</a:t>
            </a:r>
          </a:p>
          <a:p>
            <a:pPr algn="just"/>
            <a:r>
              <a:rPr lang="es-ES" sz="2000" dirty="0">
                <a:latin typeface="Maleo" panose="02000006070000000000" pitchFamily="2" charset="0"/>
                <a:ea typeface="Maleo" panose="02000006070000000000" pitchFamily="2" charset="0"/>
                <a:cs typeface="Maleo" panose="02000006070000000000" pitchFamily="2" charset="0"/>
              </a:rPr>
              <a:t>Ofrecimiento de contenidos prácticos, simulaciones y herramientas dinámicas que permitan al usuario comprender sobre finanzas de forma sencilla y aplicada.</a:t>
            </a:r>
          </a:p>
        </p:txBody>
      </p:sp>
    </p:spTree>
    <p:extLst>
      <p:ext uri="{BB962C8B-B14F-4D97-AF65-F5344CB8AC3E}">
        <p14:creationId xmlns:p14="http://schemas.microsoft.com/office/powerpoint/2010/main" val="3734233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Misión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6440556"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Empoderar a jóvenes, trabajadores informales y nómadas digitales en Bogotá mediante un eco sistema tecnológico de planificación financiera personalizado y accesible. A través de algoritmos de análisis de datos y herramientas interactivas, transformando conceptos financieros complejos en estrategias prácticas de ahorro, inversión y gestión de seguridad social, promoviendo la resiliencia económica y la bancarización efectiva en un entorno laboral digital y dinámico.</a:t>
            </a:r>
          </a:p>
        </p:txBody>
      </p:sp>
      <p:pic>
        <p:nvPicPr>
          <p:cNvPr id="6" name="Imagen 5">
            <a:extLst>
              <a:ext uri="{FF2B5EF4-FFF2-40B4-BE49-F238E27FC236}">
                <a16:creationId xmlns:a16="http://schemas.microsoft.com/office/drawing/2014/main" id="{9A6EB319-C153-4152-9E45-0A2EC138EF60}"/>
              </a:ext>
            </a:extLst>
          </p:cNvPr>
          <p:cNvPicPr>
            <a:picLocks noChangeAspect="1"/>
          </p:cNvPicPr>
          <p:nvPr/>
        </p:nvPicPr>
        <p:blipFill rotWithShape="1">
          <a:blip r:embed="rId3">
            <a:extLst>
              <a:ext uri="{28A0092B-C50C-407E-A947-70E740481C1C}">
                <a14:useLocalDpi xmlns:a14="http://schemas.microsoft.com/office/drawing/2010/main" val="0"/>
              </a:ext>
            </a:extLst>
          </a:blip>
          <a:srcRect l="5279" t="10482" r="11711" b="8659"/>
          <a:stretch/>
        </p:blipFill>
        <p:spPr>
          <a:xfrm>
            <a:off x="7566991" y="1637270"/>
            <a:ext cx="3763618" cy="3666120"/>
          </a:xfrm>
          <a:prstGeom prst="rect">
            <a:avLst/>
          </a:prstGeom>
        </p:spPr>
      </p:pic>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368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5314122"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Para el año 2030, consolidarnos como la plataforma tecnológica líder en la ciudad de Bogotá para la gestión financiera inteligente de trabajadores independientes, reconocida por nuestra capacidad de integrar la realidad del mercado laboral digital con soluciones de analítica avanzada que garanticen la seguridad socioeconómica de nuestros usuarios.</a:t>
            </a:r>
          </a:p>
        </p:txBody>
      </p:sp>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86AD596D-45DC-4DA5-A2AF-6A84594B7E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0414" y="1335069"/>
            <a:ext cx="3968321" cy="3968321"/>
          </a:xfrm>
          <a:prstGeom prst="rect">
            <a:avLst/>
          </a:prstGeom>
        </p:spPr>
      </p:pic>
    </p:spTree>
    <p:extLst>
      <p:ext uri="{BB962C8B-B14F-4D97-AF65-F5344CB8AC3E}">
        <p14:creationId xmlns:p14="http://schemas.microsoft.com/office/powerpoint/2010/main" val="28208280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803400" y="1555799"/>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Equipo</a:t>
            </a:r>
          </a:p>
        </p:txBody>
      </p:sp>
      <p:pic>
        <p:nvPicPr>
          <p:cNvPr id="6" name="Imagen 5">
            <a:extLst>
              <a:ext uri="{FF2B5EF4-FFF2-40B4-BE49-F238E27FC236}">
                <a16:creationId xmlns:a16="http://schemas.microsoft.com/office/drawing/2014/main" id="{88CEB84E-B5D2-4034-8280-2E23752F7A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9990" y="2284728"/>
            <a:ext cx="2302765" cy="2536056"/>
          </a:xfrm>
          <a:prstGeom prst="rect">
            <a:avLst/>
          </a:prstGeom>
          <a:ln w="38100">
            <a:solidFill>
              <a:srgbClr val="8D2F3C"/>
            </a:solidFill>
          </a:ln>
        </p:spPr>
      </p:pic>
      <p:sp>
        <p:nvSpPr>
          <p:cNvPr id="19" name="CuadroTexto 18">
            <a:extLst>
              <a:ext uri="{FF2B5EF4-FFF2-40B4-BE49-F238E27FC236}">
                <a16:creationId xmlns:a16="http://schemas.microsoft.com/office/drawing/2014/main" id="{E4C97890-18F8-43D7-AA41-94AA66B05265}"/>
              </a:ext>
            </a:extLst>
          </p:cNvPr>
          <p:cNvSpPr txBox="1"/>
          <p:nvPr/>
        </p:nvSpPr>
        <p:spPr>
          <a:xfrm>
            <a:off x="2279176" y="509725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David Leonardo Rincón Ovalle</a:t>
            </a:r>
          </a:p>
          <a:p>
            <a:pPr algn="ctr"/>
            <a:r>
              <a:rPr lang="es-ES" sz="2000" dirty="0">
                <a:latin typeface="Maleo" panose="02000006070000000000" pitchFamily="2" charset="0"/>
                <a:ea typeface="Maleo" panose="02000006070000000000" pitchFamily="2" charset="0"/>
                <a:cs typeface="Maleo" panose="02000006070000000000" pitchFamily="2" charset="0"/>
              </a:rPr>
              <a:t>Gerente general</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89EDACD4-0F80-41A9-BDC4-89D8B3B370E6}"/>
              </a:ext>
            </a:extLst>
          </p:cNvPr>
          <p:cNvSpPr txBox="1"/>
          <p:nvPr/>
        </p:nvSpPr>
        <p:spPr>
          <a:xfrm>
            <a:off x="7017223" y="510063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Leidy Marcela Morales Segura</a:t>
            </a:r>
          </a:p>
          <a:p>
            <a:pPr algn="ctr"/>
            <a:r>
              <a:rPr lang="es-ES" sz="2000" dirty="0">
                <a:latin typeface="Maleo" panose="02000006070000000000" pitchFamily="2" charset="0"/>
                <a:ea typeface="Maleo" panose="02000006070000000000" pitchFamily="2" charset="0"/>
                <a:cs typeface="Maleo" panose="02000006070000000000" pitchFamily="2" charset="0"/>
              </a:rPr>
              <a:t>Directora del departamento de I+D+I</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pic>
        <p:nvPicPr>
          <p:cNvPr id="12" name="Imagen 11">
            <a:extLst>
              <a:ext uri="{FF2B5EF4-FFF2-40B4-BE49-F238E27FC236}">
                <a16:creationId xmlns:a16="http://schemas.microsoft.com/office/drawing/2014/main" id="{796221D0-D52E-6363-4B49-F6CBF1D2317B}"/>
              </a:ext>
            </a:extLst>
          </p:cNvPr>
          <p:cNvPicPr>
            <a:picLocks noChangeAspect="1"/>
          </p:cNvPicPr>
          <p:nvPr/>
        </p:nvPicPr>
        <p:blipFill>
          <a:blip r:embed="rId4">
            <a:extLst>
              <a:ext uri="{28A0092B-C50C-407E-A947-70E740481C1C}">
                <a14:useLocalDpi xmlns:a14="http://schemas.microsoft.com/office/drawing/2010/main" val="0"/>
              </a:ext>
            </a:extLst>
          </a:blip>
          <a:srcRect l="9041" t="7303" r="7901" b="3043"/>
          <a:stretch>
            <a:fillRect/>
          </a:stretch>
        </p:blipFill>
        <p:spPr>
          <a:xfrm>
            <a:off x="7395246" y="2322143"/>
            <a:ext cx="2328347" cy="2501738"/>
          </a:xfrm>
          <a:prstGeom prst="rect">
            <a:avLst/>
          </a:prstGeom>
          <a:ln w="38100">
            <a:solidFill>
              <a:srgbClr val="800000"/>
            </a:solidFill>
          </a:ln>
        </p:spPr>
      </p:pic>
    </p:spTree>
    <p:extLst>
      <p:ext uri="{BB962C8B-B14F-4D97-AF65-F5344CB8AC3E}">
        <p14:creationId xmlns:p14="http://schemas.microsoft.com/office/powerpoint/2010/main" val="42506641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Estados Financieros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05</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AAA66D0E-2791-4F43-BF93-957DDB893721}"/>
              </a:ext>
            </a:extLst>
          </p:cNvPr>
          <p:cNvPicPr>
            <a:picLocks noChangeAspect="1"/>
          </p:cNvPicPr>
          <p:nvPr/>
        </p:nvPicPr>
        <p:blipFill rotWithShape="1">
          <a:blip r:embed="rId3">
            <a:extLst>
              <a:ext uri="{28A0092B-C50C-407E-A947-70E740481C1C}">
                <a14:useLocalDpi xmlns:a14="http://schemas.microsoft.com/office/drawing/2010/main" val="0"/>
              </a:ext>
            </a:extLst>
          </a:blip>
          <a:srcRect t="17130" b="20723"/>
          <a:stretch/>
        </p:blipFill>
        <p:spPr>
          <a:xfrm>
            <a:off x="1573561" y="2023894"/>
            <a:ext cx="4814676" cy="2992162"/>
          </a:xfrm>
          <a:prstGeom prst="rect">
            <a:avLst/>
          </a:prstGeom>
        </p:spPr>
      </p:pic>
    </p:spTree>
    <p:extLst>
      <p:ext uri="{BB962C8B-B14F-4D97-AF65-F5344CB8AC3E}">
        <p14:creationId xmlns:p14="http://schemas.microsoft.com/office/powerpoint/2010/main" val="21476020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pic>
        <p:nvPicPr>
          <p:cNvPr id="7" name="Imagen 6">
            <a:extLst>
              <a:ext uri="{FF2B5EF4-FFF2-40B4-BE49-F238E27FC236}">
                <a16:creationId xmlns:a16="http://schemas.microsoft.com/office/drawing/2014/main" id="{C5FE88CA-8239-4525-BEF1-986ED5577C38}"/>
              </a:ext>
            </a:extLst>
          </p:cNvPr>
          <p:cNvPicPr>
            <a:picLocks noChangeAspect="1"/>
          </p:cNvPicPr>
          <p:nvPr/>
        </p:nvPicPr>
        <p:blipFill rotWithShape="1">
          <a:blip r:embed="rId3">
            <a:extLst>
              <a:ext uri="{28A0092B-C50C-407E-A947-70E740481C1C}">
                <a14:useLocalDpi xmlns:a14="http://schemas.microsoft.com/office/drawing/2010/main" val="0"/>
              </a:ext>
            </a:extLst>
          </a:blip>
          <a:srcRect l="6045" t="10338" r="9519" b="11206"/>
          <a:stretch/>
        </p:blipFill>
        <p:spPr>
          <a:xfrm>
            <a:off x="801511" y="2221349"/>
            <a:ext cx="4188178" cy="3891573"/>
          </a:xfrm>
          <a:prstGeom prst="rect">
            <a:avLst/>
          </a:prstGeom>
        </p:spPr>
      </p:pic>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Capital Inicial</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1938992"/>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Se estima un total de $33’640.000 COP para capital inicial, dividido entre:</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Capital de trabajo.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Producción de contenido interactivo.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Equipos de trabajo.</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4734600"/>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Pasivos</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2932" y="5435048"/>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empresa tendrá $15’790.950 COP en pasivos correspondientes al préstamo bancario.</a:t>
            </a:r>
          </a:p>
        </p:txBody>
      </p:sp>
    </p:spTree>
    <p:extLst>
      <p:ext uri="{BB962C8B-B14F-4D97-AF65-F5344CB8AC3E}">
        <p14:creationId xmlns:p14="http://schemas.microsoft.com/office/powerpoint/2010/main" val="33119184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7E70618-AD73-4193-AE29-982C2DB51F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6517" y="2881907"/>
            <a:ext cx="9078592" cy="1514686"/>
          </a:xfrm>
          <a:prstGeom prst="rect">
            <a:avLst/>
          </a:prstGeom>
        </p:spPr>
      </p:pic>
    </p:spTree>
    <p:extLst>
      <p:ext uri="{BB962C8B-B14F-4D97-AF65-F5344CB8AC3E}">
        <p14:creationId xmlns:p14="http://schemas.microsoft.com/office/powerpoint/2010/main" val="15512060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Incremento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9" name="Imagen 8">
            <a:extLst>
              <a:ext uri="{FF2B5EF4-FFF2-40B4-BE49-F238E27FC236}">
                <a16:creationId xmlns:a16="http://schemas.microsoft.com/office/drawing/2014/main" id="{56DA8706-CEBB-4B1F-8439-B6BFC1E936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3400" y="2867089"/>
            <a:ext cx="9218231" cy="1423550"/>
          </a:xfrm>
          <a:prstGeom prst="rect">
            <a:avLst/>
          </a:prstGeom>
        </p:spPr>
      </p:pic>
    </p:spTree>
    <p:extLst>
      <p:ext uri="{BB962C8B-B14F-4D97-AF65-F5344CB8AC3E}">
        <p14:creationId xmlns:p14="http://schemas.microsoft.com/office/powerpoint/2010/main" val="35324273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Amortización y Préstamo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0FD49E3-1342-4D47-8840-E7190203E2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3577" y="1681613"/>
            <a:ext cx="3924845" cy="1781423"/>
          </a:xfrm>
          <a:prstGeom prst="rect">
            <a:avLst/>
          </a:prstGeom>
        </p:spPr>
      </p:pic>
      <p:pic>
        <p:nvPicPr>
          <p:cNvPr id="8" name="Imagen 7">
            <a:extLst>
              <a:ext uri="{FF2B5EF4-FFF2-40B4-BE49-F238E27FC236}">
                <a16:creationId xmlns:a16="http://schemas.microsoft.com/office/drawing/2014/main" id="{5D8E3E43-6E6B-48F3-A3AB-2B6A2D2A67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66494" y="3911544"/>
            <a:ext cx="7059010" cy="1781424"/>
          </a:xfrm>
          <a:prstGeom prst="rect">
            <a:avLst/>
          </a:prstGeom>
        </p:spPr>
      </p:pic>
    </p:spTree>
    <p:extLst>
      <p:ext uri="{BB962C8B-B14F-4D97-AF65-F5344CB8AC3E}">
        <p14:creationId xmlns:p14="http://schemas.microsoft.com/office/powerpoint/2010/main" val="4786849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Balance General</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97523D34-38B0-4B3E-82E6-BA2420F5F8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6834" y="1522343"/>
            <a:ext cx="5498332" cy="4584106"/>
          </a:xfrm>
          <a:prstGeom prst="rect">
            <a:avLst/>
          </a:prstGeom>
        </p:spPr>
      </p:pic>
    </p:spTree>
    <p:extLst>
      <p:ext uri="{BB962C8B-B14F-4D97-AF65-F5344CB8AC3E}">
        <p14:creationId xmlns:p14="http://schemas.microsoft.com/office/powerpoint/2010/main" val="41942720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Estado de Resultados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8C287B1D-CD2D-4D11-A72C-A9E0D7D80E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260" y="1521679"/>
            <a:ext cx="8727480" cy="4452467"/>
          </a:xfrm>
          <a:prstGeom prst="rect">
            <a:avLst/>
          </a:prstGeom>
        </p:spPr>
      </p:pic>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5919186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Flujo de Caja</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7" name="Imagen 6">
            <a:extLst>
              <a:ext uri="{FF2B5EF4-FFF2-40B4-BE49-F238E27FC236}">
                <a16:creationId xmlns:a16="http://schemas.microsoft.com/office/drawing/2014/main" id="{EF7D76DA-366E-44CF-B395-FEA7DCB02D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93714" y="1479037"/>
            <a:ext cx="7404572" cy="4549706"/>
          </a:xfrm>
          <a:prstGeom prst="rect">
            <a:avLst/>
          </a:prstGeom>
        </p:spPr>
      </p:pic>
    </p:spTree>
    <p:extLst>
      <p:ext uri="{BB962C8B-B14F-4D97-AF65-F5344CB8AC3E}">
        <p14:creationId xmlns:p14="http://schemas.microsoft.com/office/powerpoint/2010/main" val="3653158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a:extLst>
              <a:ext uri="{FF2B5EF4-FFF2-40B4-BE49-F238E27FC236}">
                <a16:creationId xmlns:a16="http://schemas.microsoft.com/office/drawing/2014/main" id="{71B4E341-A9EA-41A1-A939-2FA0246642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7315" y="2505566"/>
            <a:ext cx="7317370" cy="2474218"/>
          </a:xfrm>
          <a:prstGeom prst="rect">
            <a:avLst/>
          </a:prstGeom>
        </p:spPr>
      </p:pic>
    </p:spTree>
    <p:extLst>
      <p:ext uri="{BB962C8B-B14F-4D97-AF65-F5344CB8AC3E}">
        <p14:creationId xmlns:p14="http://schemas.microsoft.com/office/powerpoint/2010/main" val="17986007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err="1">
                <a:solidFill>
                  <a:srgbClr val="8D2F3C"/>
                </a:solidFill>
                <a:latin typeface="Maleo" panose="02000006070000000000" pitchFamily="2" charset="0"/>
                <a:ea typeface="Maleo" panose="02000006070000000000" pitchFamily="2" charset="0"/>
                <a:cs typeface="Maleo" panose="02000006070000000000" pitchFamily="2" charset="0"/>
              </a:rPr>
              <a:t>Analisís</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 de Proyecciones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2" name="Imagen 11">
            <a:extLst>
              <a:ext uri="{FF2B5EF4-FFF2-40B4-BE49-F238E27FC236}">
                <a16:creationId xmlns:a16="http://schemas.microsoft.com/office/drawing/2014/main" id="{983B816C-43E8-4591-8A4D-1ED94E2DFD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80546" y="1862589"/>
            <a:ext cx="8830907" cy="3553321"/>
          </a:xfrm>
          <a:prstGeom prst="rect">
            <a:avLst/>
          </a:prstGeom>
        </p:spPr>
      </p:pic>
    </p:spTree>
    <p:extLst>
      <p:ext uri="{BB962C8B-B14F-4D97-AF65-F5344CB8AC3E}">
        <p14:creationId xmlns:p14="http://schemas.microsoft.com/office/powerpoint/2010/main" val="17845536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7" name="Imagen 26">
            <a:extLst>
              <a:ext uri="{FF2B5EF4-FFF2-40B4-BE49-F238E27FC236}">
                <a16:creationId xmlns:a16="http://schemas.microsoft.com/office/drawing/2014/main" id="{86BC0795-D58B-4BBF-9DF3-30AA8D59DE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36954" y="2149098"/>
            <a:ext cx="6228316" cy="1283087"/>
          </a:xfrm>
          <a:prstGeom prst="rect">
            <a:avLst/>
          </a:prstGeom>
        </p:spPr>
      </p:pic>
      <p:pic>
        <p:nvPicPr>
          <p:cNvPr id="29" name="Imagen 28">
            <a:extLst>
              <a:ext uri="{FF2B5EF4-FFF2-40B4-BE49-F238E27FC236}">
                <a16:creationId xmlns:a16="http://schemas.microsoft.com/office/drawing/2014/main" id="{FDB099C7-A071-477C-9C98-8479DE0348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35319" y="4189562"/>
            <a:ext cx="6321362" cy="1048158"/>
          </a:xfrm>
          <a:prstGeom prst="rect">
            <a:avLst/>
          </a:prstGeom>
        </p:spPr>
      </p:pic>
    </p:spTree>
    <p:extLst>
      <p:ext uri="{BB962C8B-B14F-4D97-AF65-F5344CB8AC3E}">
        <p14:creationId xmlns:p14="http://schemas.microsoft.com/office/powerpoint/2010/main" val="624211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9" name="Imagen 8">
            <a:extLst>
              <a:ext uri="{FF2B5EF4-FFF2-40B4-BE49-F238E27FC236}">
                <a16:creationId xmlns:a16="http://schemas.microsoft.com/office/drawing/2014/main" id="{A7B7F693-96BF-4C3E-862D-C6514D3DC3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48806" y="3092064"/>
            <a:ext cx="4264899" cy="951746"/>
          </a:xfrm>
          <a:prstGeom prst="rect">
            <a:avLst/>
          </a:prstGeom>
        </p:spPr>
      </p:pic>
      <p:pic>
        <p:nvPicPr>
          <p:cNvPr id="20" name="Imagen 19">
            <a:extLst>
              <a:ext uri="{FF2B5EF4-FFF2-40B4-BE49-F238E27FC236}">
                <a16:creationId xmlns:a16="http://schemas.microsoft.com/office/drawing/2014/main" id="{5BA8891D-F007-4598-9A13-6033274F6A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54151" y="2035517"/>
            <a:ext cx="6095999" cy="3350091"/>
          </a:xfrm>
          <a:prstGeom prst="rect">
            <a:avLst/>
          </a:prstGeom>
        </p:spPr>
      </p:pic>
    </p:spTree>
    <p:extLst>
      <p:ext uri="{BB962C8B-B14F-4D97-AF65-F5344CB8AC3E}">
        <p14:creationId xmlns:p14="http://schemas.microsoft.com/office/powerpoint/2010/main" val="38464324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434973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Valor actual neto (VAN)</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El valor actual neto presentado por el proyecto es de $219’867.225 COP</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3779224"/>
            <a:ext cx="49622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Tasa interna de retorno (TIR)</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9553" y="4649668"/>
            <a:ext cx="5314122" cy="461665"/>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tasa interna es de 94,95% E.A.</a:t>
            </a:r>
          </a:p>
        </p:txBody>
      </p:sp>
      <p:pic>
        <p:nvPicPr>
          <p:cNvPr id="6" name="Imagen 5">
            <a:extLst>
              <a:ext uri="{FF2B5EF4-FFF2-40B4-BE49-F238E27FC236}">
                <a16:creationId xmlns:a16="http://schemas.microsoft.com/office/drawing/2014/main" id="{966FDDD2-CEEF-492B-ABBA-1D1C9B20E8F9}"/>
              </a:ext>
            </a:extLst>
          </p:cNvPr>
          <p:cNvPicPr>
            <a:picLocks noChangeAspect="1"/>
          </p:cNvPicPr>
          <p:nvPr/>
        </p:nvPicPr>
        <p:blipFill rotWithShape="1">
          <a:blip r:embed="rId3">
            <a:extLst>
              <a:ext uri="{28A0092B-C50C-407E-A947-70E740481C1C}">
                <a14:useLocalDpi xmlns:a14="http://schemas.microsoft.com/office/drawing/2010/main" val="0"/>
              </a:ext>
            </a:extLst>
          </a:blip>
          <a:srcRect l="6204" t="8446" r="4072" b="13830"/>
          <a:stretch/>
        </p:blipFill>
        <p:spPr>
          <a:xfrm>
            <a:off x="748034" y="1928903"/>
            <a:ext cx="4272006" cy="3700641"/>
          </a:xfrm>
          <a:prstGeom prst="rect">
            <a:avLst/>
          </a:prstGeom>
        </p:spPr>
      </p:pic>
    </p:spTree>
    <p:extLst>
      <p:ext uri="{BB962C8B-B14F-4D97-AF65-F5344CB8AC3E}">
        <p14:creationId xmlns:p14="http://schemas.microsoft.com/office/powerpoint/2010/main" val="18586976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Análisis Financiero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06</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DE1E7441-71B7-49FA-A4C1-DF8ECC6414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84308" y="1637525"/>
            <a:ext cx="3783330" cy="3783330"/>
          </a:xfrm>
          <a:prstGeom prst="rect">
            <a:avLst/>
          </a:prstGeom>
        </p:spPr>
      </p:pic>
    </p:spTree>
    <p:extLst>
      <p:ext uri="{BB962C8B-B14F-4D97-AF65-F5344CB8AC3E}">
        <p14:creationId xmlns:p14="http://schemas.microsoft.com/office/powerpoint/2010/main" val="2162313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06 ANÁLISIS FINANCIERO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801511" y="1353960"/>
            <a:ext cx="10634133" cy="769441"/>
          </a:xfrm>
          <a:prstGeom prst="rect">
            <a:avLst/>
          </a:prstGeom>
          <a:noFill/>
        </p:spPr>
        <p:txBody>
          <a:bodyPr wrap="square" rtlCol="0">
            <a:spAutoFit/>
          </a:bodyPr>
          <a:lstStyle/>
          <a:p>
            <a:pPr algn="ctr"/>
            <a:r>
              <a:rPr lang="es-ES" sz="4400" spc="-300" dirty="0">
                <a:solidFill>
                  <a:srgbClr val="8D2F3C"/>
                </a:solidFill>
                <a:latin typeface="Iosevka" panose="02000509030000000004" pitchFamily="49" charset="0"/>
                <a:ea typeface="Iosevka" panose="02000509030000000004" pitchFamily="49" charset="0"/>
                <a:cs typeface="Iosevka" panose="02000509030000000004" pitchFamily="49" charset="0"/>
              </a:rPr>
              <a:t>Indicadores Financieros y Endeudamiento</a:t>
            </a:r>
          </a:p>
        </p:txBody>
      </p:sp>
      <p:sp>
        <p:nvSpPr>
          <p:cNvPr id="19" name="CuadroTexto 18">
            <a:extLst>
              <a:ext uri="{FF2B5EF4-FFF2-40B4-BE49-F238E27FC236}">
                <a16:creationId xmlns:a16="http://schemas.microsoft.com/office/drawing/2014/main" id="{5BDBD48B-4E6C-4203-999C-EE4390A79185}"/>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B1B0A3E3-E00A-4130-9E32-659BDBB933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075" y="2989502"/>
            <a:ext cx="8749850" cy="2075285"/>
          </a:xfrm>
          <a:prstGeom prst="rect">
            <a:avLst/>
          </a:prstGeom>
        </p:spPr>
      </p:pic>
    </p:spTree>
    <p:extLst>
      <p:ext uri="{BB962C8B-B14F-4D97-AF65-F5344CB8AC3E}">
        <p14:creationId xmlns:p14="http://schemas.microsoft.com/office/powerpoint/2010/main" val="30708857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151907" y="3605670"/>
            <a:ext cx="4381914"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Conclusiones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07</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7088EEF8-4BB7-46CC-81B1-DF2C464FCF76}"/>
              </a:ext>
            </a:extLst>
          </p:cNvPr>
          <p:cNvPicPr>
            <a:picLocks noChangeAspect="1"/>
          </p:cNvPicPr>
          <p:nvPr/>
        </p:nvPicPr>
        <p:blipFill rotWithShape="1">
          <a:blip r:embed="rId3">
            <a:extLst>
              <a:ext uri="{28A0092B-C50C-407E-A947-70E740481C1C}">
                <a14:useLocalDpi xmlns:a14="http://schemas.microsoft.com/office/drawing/2010/main" val="0"/>
              </a:ext>
            </a:extLst>
          </a:blip>
          <a:srcRect l="4629" t="10206" r="7696" b="12921"/>
          <a:stretch/>
        </p:blipFill>
        <p:spPr>
          <a:xfrm>
            <a:off x="1550043" y="1298159"/>
            <a:ext cx="4570714" cy="4007556"/>
          </a:xfrm>
          <a:prstGeom prst="rect">
            <a:avLst/>
          </a:prstGeom>
        </p:spPr>
      </p:pic>
    </p:spTree>
    <p:extLst>
      <p:ext uri="{BB962C8B-B14F-4D97-AF65-F5344CB8AC3E}">
        <p14:creationId xmlns:p14="http://schemas.microsoft.com/office/powerpoint/2010/main" val="41172346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07 CONCLUSIONES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Conclusiones</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a:latin typeface="Maleo" panose="02000006070000000000" pitchFamily="2" charset="0"/>
                <a:ea typeface="Maleo" panose="02000006070000000000" pitchFamily="2" charset="0"/>
                <a:cs typeface="Maleo" panose="02000006070000000000" pitchFamily="2" charset="0"/>
              </a:rPr>
              <a:t>El plan de negocio de </a:t>
            </a: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propone una plataforma </a:t>
            </a:r>
            <a:r>
              <a:rPr lang="es-ES" sz="2000" dirty="0" err="1">
                <a:latin typeface="Maleo" panose="02000006070000000000" pitchFamily="2" charset="0"/>
                <a:ea typeface="Maleo" panose="02000006070000000000" pitchFamily="2" charset="0"/>
                <a:cs typeface="Maleo" panose="02000006070000000000" pitchFamily="2" charset="0"/>
              </a:rPr>
              <a:t>EdTech</a:t>
            </a:r>
            <a:r>
              <a:rPr lang="es-ES" sz="2000" dirty="0">
                <a:latin typeface="Maleo" panose="02000006070000000000" pitchFamily="2" charset="0"/>
                <a:ea typeface="Maleo" panose="02000006070000000000" pitchFamily="2" charset="0"/>
                <a:cs typeface="Maleo" panose="02000006070000000000" pitchFamily="2" charset="0"/>
              </a:rPr>
              <a:t> centrada en educación financiera, que permite a estudiantes, personas de bajos recursos y nómadas digitales acceder a un aprendizaje intuitivo y personalizado. El análisis identifica sus oportunidades y riesgos, mostrando la viabilidad del modelo en el mercado actual.</a:t>
            </a:r>
          </a:p>
        </p:txBody>
      </p:sp>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F1D469FA-F8B1-48AE-873F-46B87A4715FA}"/>
              </a:ext>
            </a:extLst>
          </p:cNvPr>
          <p:cNvSpPr txBox="1"/>
          <p:nvPr/>
        </p:nvSpPr>
        <p:spPr>
          <a:xfrm>
            <a:off x="1126435" y="4087793"/>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tiene potencial para fortalecer la educación financiera de estas comunidades mediante una plataforma inclusiva, con opciones de acceso con y sin suscripción. Además, busca contribuir a la transformación digital del sector financiero, convirtiendo el uso de datos en un mayor bienestar económico para la sociedad.</a:t>
            </a:r>
          </a:p>
        </p:txBody>
      </p:sp>
      <p:pic>
        <p:nvPicPr>
          <p:cNvPr id="7" name="Imagen 6">
            <a:extLst>
              <a:ext uri="{FF2B5EF4-FFF2-40B4-BE49-F238E27FC236}">
                <a16:creationId xmlns:a16="http://schemas.microsoft.com/office/drawing/2014/main" id="{6DFD318E-8A5E-422E-AC96-F6824E3E2541}"/>
              </a:ext>
            </a:extLst>
          </p:cNvPr>
          <p:cNvPicPr>
            <a:picLocks noChangeAspect="1"/>
          </p:cNvPicPr>
          <p:nvPr/>
        </p:nvPicPr>
        <p:blipFill rotWithShape="1">
          <a:blip r:embed="rId3">
            <a:extLst>
              <a:ext uri="{28A0092B-C50C-407E-A947-70E740481C1C}">
                <a14:useLocalDpi xmlns:a14="http://schemas.microsoft.com/office/drawing/2010/main" val="0"/>
              </a:ext>
            </a:extLst>
          </a:blip>
          <a:srcRect l="8077" t="6965" r="4958" b="9452"/>
          <a:stretch/>
        </p:blipFill>
        <p:spPr>
          <a:xfrm>
            <a:off x="7944385" y="1856229"/>
            <a:ext cx="3593100" cy="3453322"/>
          </a:xfrm>
          <a:prstGeom prst="rect">
            <a:avLst/>
          </a:prstGeom>
        </p:spPr>
      </p:pic>
    </p:spTree>
    <p:extLst>
      <p:ext uri="{BB962C8B-B14F-4D97-AF65-F5344CB8AC3E}">
        <p14:creationId xmlns:p14="http://schemas.microsoft.com/office/powerpoint/2010/main" val="22588880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3416320"/>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Castellanos Rodríguez, L. E., Rodríguez-Pinilla, D., López-Rodríguez, A., &amp; Esguerra-Umaña, M. d. P. (2024). Educación financiera y bienestar financiero: Evidencia de Colombia en un entorno de alta inflación. Departamento Nacional de Planeación. https://colaboracion.dnp.gov.co/CDT/PublishingImages/Planeacion-y-desarrollo/2024/Septiembre/PDF/dnp-educacion-financiera.pdf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Cifuentes, J. T., &amp; Hernández, J. B. (2025). Innovación y desarrollo de las </a:t>
            </a:r>
            <a:r>
              <a:rPr lang="es-ES" dirty="0" err="1">
                <a:latin typeface="Maleo" panose="02000006070000000000" pitchFamily="2" charset="0"/>
                <a:ea typeface="Maleo" panose="02000006070000000000" pitchFamily="2" charset="0"/>
                <a:cs typeface="Maleo" panose="02000006070000000000" pitchFamily="2" charset="0"/>
              </a:rPr>
              <a:t>fintech</a:t>
            </a:r>
            <a:r>
              <a:rPr lang="es-ES" dirty="0">
                <a:latin typeface="Maleo" panose="02000006070000000000" pitchFamily="2" charset="0"/>
                <a:ea typeface="Maleo" panose="02000006070000000000" pitchFamily="2" charset="0"/>
                <a:cs typeface="Maleo" panose="02000006070000000000" pitchFamily="2" charset="0"/>
              </a:rPr>
              <a:t> en Colombia: Un análisis de la literatura. Revista CIES, 16(1), 7-23. https://core.ac.uk/download/pdf/656057983.pdf</a:t>
            </a:r>
          </a:p>
          <a:p>
            <a:pPr marL="285750" indent="-285750">
              <a:buFont typeface="Arial" panose="020B0604020202020204" pitchFamily="34" charset="0"/>
              <a:buChar char="•"/>
            </a:pPr>
            <a:r>
              <a:rPr lang="es-ES" dirty="0" err="1">
                <a:latin typeface="Maleo" panose="02000006070000000000" pitchFamily="2" charset="0"/>
                <a:ea typeface="Maleo" panose="02000006070000000000" pitchFamily="2" charset="0"/>
                <a:cs typeface="Maleo" panose="02000006070000000000" pitchFamily="2" charset="0"/>
              </a:rPr>
              <a:t>ColombiaFintech</a:t>
            </a:r>
            <a:r>
              <a:rPr lang="es-ES" dirty="0">
                <a:latin typeface="Maleo" panose="02000006070000000000" pitchFamily="2" charset="0"/>
                <a:ea typeface="Maleo" panose="02000006070000000000" pitchFamily="2" charset="0"/>
                <a:cs typeface="Maleo" panose="02000006070000000000" pitchFamily="2" charset="0"/>
              </a:rPr>
              <a:t>. (2024). Mapeo nacional de educación económica y financiera 2024. https://colombiafintech.co/2024/11/29/mapeo-nacional-de-educacion-economica-y-financiera-2024/</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Comisión Intersectorial para la Educación Económica y Financiera. (2017). Capacidades financieras en Colombia: Resultados de la encuesta nacional sobre comportamientos, actitudes y conocimientos financieros. Banco de la República. https://www.banrep.gov.co/sites/default/files/ciones/archivos/estrategia_nacional_educacion_economica.pdf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Departamento Administrativo Nacional de Estadística. (2025c). Ocupación informal. Trimestre móvil septiembre- noviembre 2025. Gobierno de Colombia. https://www.dane.gov.co/files/operaciones/GEIH/bol-GEIHEISS-sep-nov2025.pdf</a:t>
            </a:r>
          </a:p>
        </p:txBody>
      </p:sp>
    </p:spTree>
    <p:extLst>
      <p:ext uri="{BB962C8B-B14F-4D97-AF65-F5344CB8AC3E}">
        <p14:creationId xmlns:p14="http://schemas.microsoft.com/office/powerpoint/2010/main" val="2236621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2308324"/>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Dirección de Impuestos y Aduanas Nacionales. (2021). Resolución 70 de 2021. https://normograma.dian.gov.co/dian/compilacion/docs/resolución_dian_0070_2021.htm/</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Fernández, J. (2026). Financial literacy: What it is, and why it is so important to teach teens. https://www.investopedia.com/terms/f/financial-literacy.asp</a:t>
            </a:r>
          </a:p>
          <a:p>
            <a:pPr marL="285750" indent="-285750">
              <a:buFont typeface="Arial" panose="020B0604020202020204" pitchFamily="34" charset="0"/>
              <a:buChar char="•"/>
            </a:pPr>
            <a:r>
              <a:rPr lang="it-IT" dirty="0">
                <a:latin typeface="Maleo" panose="02000006070000000000" pitchFamily="2" charset="0"/>
                <a:ea typeface="Maleo" panose="02000006070000000000" pitchFamily="2" charset="0"/>
                <a:cs typeface="Maleo" panose="02000006070000000000" pitchFamily="2" charset="0"/>
              </a:rPr>
              <a:t>Finnovista. (2024). Fintech radar Colombia: VII edición. Finnosummit. https://www.finnovista.com/wp-content/uploads/2024/05/RADAR-COLOMBIA-ESPANOL-3.pdf</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Lusardi, A., &amp; Mitchell, O. S. (2014). The economic importance of financial literacy: Theory and evidence. Journal of Economic Literature, 52(1), 5-44. https://doi.org/10.1257/jel.52.1.5</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Secretaría del Senado. (2008). Ley 1258 de 2008. http://www.secretariasenado.gov.co/senado/basedoc/ley12582008.html</a:t>
            </a:r>
          </a:p>
        </p:txBody>
      </p:sp>
    </p:spTree>
    <p:extLst>
      <p:ext uri="{BB962C8B-B14F-4D97-AF65-F5344CB8AC3E}">
        <p14:creationId xmlns:p14="http://schemas.microsoft.com/office/powerpoint/2010/main" val="37702376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09 AGRADECIMIENTOS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Agradecimientos</a:t>
            </a:r>
          </a:p>
        </p:txBody>
      </p:sp>
      <p:sp>
        <p:nvSpPr>
          <p:cNvPr id="12" name="CuadroTexto 11">
            <a:extLst>
              <a:ext uri="{FF2B5EF4-FFF2-40B4-BE49-F238E27FC236}">
                <a16:creationId xmlns:a16="http://schemas.microsoft.com/office/drawing/2014/main" id="{ACE29CE4-C7E6-4BE5-A380-EFB3E4FA51FE}"/>
              </a:ext>
            </a:extLst>
          </p:cNvPr>
          <p:cNvSpPr txBox="1"/>
          <p:nvPr/>
        </p:nvSpPr>
        <p:spPr>
          <a:xfrm>
            <a:off x="1126435" y="2390314"/>
            <a:ext cx="10417938" cy="1938992"/>
          </a:xfrm>
          <a:prstGeom prst="rect">
            <a:avLst/>
          </a:prstGeom>
          <a:noFill/>
        </p:spPr>
        <p:txBody>
          <a:bodyPr wrap="square" rtlCol="0">
            <a:spAutoFit/>
          </a:bodyPr>
          <a:lstStyle/>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Grupo de Emprendimiento</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Abel Antonio Navarrete</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José David Álvarez Plata</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Docentes y compañeros que nos acompañaron durante el proceso de formación</a:t>
            </a:r>
          </a:p>
        </p:txBody>
      </p:sp>
    </p:spTree>
    <p:extLst>
      <p:ext uri="{BB962C8B-B14F-4D97-AF65-F5344CB8AC3E}">
        <p14:creationId xmlns:p14="http://schemas.microsoft.com/office/powerpoint/2010/main" val="226988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40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5" name="CuadroTexto 14">
            <a:extLst>
              <a:ext uri="{FF2B5EF4-FFF2-40B4-BE49-F238E27FC236}">
                <a16:creationId xmlns:a16="http://schemas.microsoft.com/office/drawing/2014/main" id="{6C037889-2CB9-4ECD-9D84-70F1BC95B31B}"/>
              </a:ext>
            </a:extLst>
          </p:cNvPr>
          <p:cNvSpPr txBox="1"/>
          <p:nvPr/>
        </p:nvSpPr>
        <p:spPr>
          <a:xfrm>
            <a:off x="1502506" y="1461890"/>
            <a:ext cx="9186988" cy="1862048"/>
          </a:xfrm>
          <a:prstGeom prst="rect">
            <a:avLst/>
          </a:prstGeom>
          <a:noFill/>
        </p:spPr>
        <p:txBody>
          <a:bodyPr wrap="square" rtlCol="0">
            <a:spAutoFit/>
          </a:bodyPr>
          <a:lstStyle/>
          <a:p>
            <a:pPr algn="ctr"/>
            <a:r>
              <a:rPr lang="es-ES" sz="11500" dirty="0">
                <a:solidFill>
                  <a:srgbClr val="8D2F3C"/>
                </a:solidFill>
                <a:latin typeface="Maleo" panose="02000006070000000000" pitchFamily="2" charset="0"/>
                <a:ea typeface="Maleo" panose="02000006070000000000" pitchFamily="2" charset="0"/>
                <a:cs typeface="Maleo" panose="02000006070000000000" pitchFamily="2" charset="0"/>
              </a:rPr>
              <a:t>Gracias</a:t>
            </a:r>
          </a:p>
        </p:txBody>
      </p:sp>
      <p:sp>
        <p:nvSpPr>
          <p:cNvPr id="9" name="CuadroTexto 8">
            <a:extLst>
              <a:ext uri="{FF2B5EF4-FFF2-40B4-BE49-F238E27FC236}">
                <a16:creationId xmlns:a16="http://schemas.microsoft.com/office/drawing/2014/main" id="{82ECE2CC-1206-4056-90AC-D895DDE533AF}"/>
              </a:ext>
            </a:extLst>
          </p:cNvPr>
          <p:cNvSpPr txBox="1"/>
          <p:nvPr/>
        </p:nvSpPr>
        <p:spPr>
          <a:xfrm>
            <a:off x="501650" y="5405302"/>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Ray </a:t>
            </a:r>
            <a:r>
              <a:rPr lang="es-ES" sz="3200" dirty="0" err="1">
                <a:solidFill>
                  <a:srgbClr val="8D2F3C"/>
                </a:solidFill>
                <a:latin typeface="Maleo" panose="02000006070000000000" pitchFamily="2" charset="0"/>
                <a:ea typeface="Maleo" panose="02000006070000000000" pitchFamily="2" charset="0"/>
                <a:cs typeface="Maleo" panose="02000006070000000000" pitchFamily="2" charset="0"/>
              </a:rPr>
              <a:t>Dalio</a:t>
            </a:r>
            <a:endParaRPr lang="es-ES" sz="32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0" name="CuadroTexto 9">
            <a:extLst>
              <a:ext uri="{FF2B5EF4-FFF2-40B4-BE49-F238E27FC236}">
                <a16:creationId xmlns:a16="http://schemas.microsoft.com/office/drawing/2014/main" id="{E41EE431-E6DA-43FD-8DEE-609725CE6E54}"/>
              </a:ext>
            </a:extLst>
          </p:cNvPr>
          <p:cNvSpPr txBox="1"/>
          <p:nvPr/>
        </p:nvSpPr>
        <p:spPr>
          <a:xfrm>
            <a:off x="501650" y="3290790"/>
            <a:ext cx="11188700" cy="2123658"/>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r>
              <a:rPr lang="es-ES" sz="4400" dirty="0">
                <a:latin typeface="Maleo" panose="02000006070000000000" pitchFamily="2" charset="0"/>
                <a:ea typeface="Maleo" panose="02000006070000000000" pitchFamily="2" charset="0"/>
                <a:cs typeface="Maleo" panose="02000006070000000000" pitchFamily="2" charset="0"/>
              </a:rPr>
              <a:t>La economía funciona como una máquina simple, pero mucha gente no la entiende o no se pone de acuerdo sobre cómo funciona, y esto ha provocado mucho sufrimiento económico innecesario</a:t>
            </a: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p>
        </p:txBody>
      </p:sp>
    </p:spTree>
    <p:extLst>
      <p:ext uri="{BB962C8B-B14F-4D97-AF65-F5344CB8AC3E}">
        <p14:creationId xmlns:p14="http://schemas.microsoft.com/office/powerpoint/2010/main" val="5203015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863</TotalTime>
  <Words>2413</Words>
  <Application>Microsoft Office PowerPoint</Application>
  <PresentationFormat>Panorámica</PresentationFormat>
  <Paragraphs>433</Paragraphs>
  <Slides>41</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41</vt:i4>
      </vt:variant>
    </vt:vector>
  </HeadingPairs>
  <TitlesOfParts>
    <vt:vector size="51" baseType="lpstr">
      <vt:lpstr>Arial</vt:lpstr>
      <vt:lpstr>BalboaW01-Bold</vt:lpstr>
      <vt:lpstr>Calibri</vt:lpstr>
      <vt:lpstr>Calibri Light</vt:lpstr>
      <vt:lpstr>Impact</vt:lpstr>
      <vt:lpstr>Iosevka</vt:lpstr>
      <vt:lpstr>Maleo</vt:lpstr>
      <vt:lpstr>Maleo Trials</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David Leonardo Rincon Ovalle</dc:creator>
  <cp:lastModifiedBy>Leidy Morales</cp:lastModifiedBy>
  <cp:revision>52</cp:revision>
  <dcterms:created xsi:type="dcterms:W3CDTF">2026-07-06T18:52:48Z</dcterms:created>
  <dcterms:modified xsi:type="dcterms:W3CDTF">2026-08-17T20:26:59Z</dcterms:modified>
</cp:coreProperties>
</file>