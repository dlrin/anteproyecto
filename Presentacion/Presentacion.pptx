
<file path=[Content_Types].xml><?xml version="1.0" encoding="utf-8"?>
<Types xmlns="http://schemas.openxmlformats.org/package/2006/content-types">
  <Default Extension="jfif" ContentType="image/jpeg"/>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7" r:id="rId8"/>
    <p:sldId id="262" r:id="rId9"/>
    <p:sldId id="263" r:id="rId10"/>
    <p:sldId id="265" r:id="rId11"/>
    <p:sldId id="266" r:id="rId12"/>
    <p:sldId id="268" r:id="rId13"/>
    <p:sldId id="269" r:id="rId14"/>
    <p:sldId id="271" r:id="rId15"/>
    <p:sldId id="278" r:id="rId16"/>
    <p:sldId id="272" r:id="rId17"/>
    <p:sldId id="270" r:id="rId18"/>
    <p:sldId id="273" r:id="rId19"/>
    <p:sldId id="274" r:id="rId20"/>
    <p:sldId id="275" r:id="rId21"/>
    <p:sldId id="297" r:id="rId22"/>
    <p:sldId id="276" r:id="rId23"/>
    <p:sldId id="277" r:id="rId24"/>
    <p:sldId id="279" r:id="rId25"/>
    <p:sldId id="289" r:id="rId26"/>
    <p:sldId id="280" r:id="rId27"/>
    <p:sldId id="282" r:id="rId28"/>
    <p:sldId id="283" r:id="rId29"/>
    <p:sldId id="284" r:id="rId30"/>
    <p:sldId id="286" r:id="rId31"/>
    <p:sldId id="285" r:id="rId32"/>
    <p:sldId id="287" r:id="rId33"/>
    <p:sldId id="288" r:id="rId34"/>
    <p:sldId id="290" r:id="rId35"/>
    <p:sldId id="291" r:id="rId36"/>
    <p:sldId id="292" r:id="rId37"/>
    <p:sldId id="293" r:id="rId38"/>
    <p:sldId id="296" r:id="rId39"/>
    <p:sldId id="294" r:id="rId40"/>
    <p:sldId id="295" r:id="rId41"/>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D2F3C"/>
    <a:srgbClr val="800000"/>
    <a:srgbClr val="FFFFFF"/>
    <a:srgbClr val="8DF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180" autoAdjust="0"/>
    <p:restoredTop sz="94542" autoAdjust="0"/>
  </p:normalViewPr>
  <p:slideViewPr>
    <p:cSldViewPr snapToGrid="0">
      <p:cViewPr varScale="1">
        <p:scale>
          <a:sx n="70" d="100"/>
          <a:sy n="70" d="100"/>
        </p:scale>
        <p:origin x="96" y="9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EE4494-83EF-45AA-A5FA-4D9BFC6D540B}"/>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9FCF8396-6439-4056-A927-D884515DB98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E8A80E34-BA82-4B71-9F21-5CD59FEB5B1D}"/>
              </a:ext>
            </a:extLst>
          </p:cNvPr>
          <p:cNvSpPr>
            <a:spLocks noGrp="1"/>
          </p:cNvSpPr>
          <p:nvPr>
            <p:ph type="dt" sz="half" idx="10"/>
          </p:nvPr>
        </p:nvSpPr>
        <p:spPr/>
        <p:txBody>
          <a:bodyPr/>
          <a:lstStyle/>
          <a:p>
            <a:fld id="{0CB1CD98-E1E1-447B-94EB-7CB62D4ECEDF}" type="datetimeFigureOut">
              <a:rPr lang="es-CO" smtClean="0"/>
              <a:t>8/07/2026</a:t>
            </a:fld>
            <a:endParaRPr lang="es-CO"/>
          </a:p>
        </p:txBody>
      </p:sp>
      <p:sp>
        <p:nvSpPr>
          <p:cNvPr id="5" name="Marcador de pie de página 4">
            <a:extLst>
              <a:ext uri="{FF2B5EF4-FFF2-40B4-BE49-F238E27FC236}">
                <a16:creationId xmlns:a16="http://schemas.microsoft.com/office/drawing/2014/main" id="{B7D6AE46-864A-4291-A122-167EB818E08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6C22D63-66E9-4257-A35E-8B95851E00C4}"/>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41382954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97D7DF9-D573-46BA-A5CF-FC07FC79B1A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0529ECF5-3EB1-4EC3-97DE-F2B1E949B841}"/>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29C823E-85F5-4D99-83D1-B3D5E5F800F8}"/>
              </a:ext>
            </a:extLst>
          </p:cNvPr>
          <p:cNvSpPr>
            <a:spLocks noGrp="1"/>
          </p:cNvSpPr>
          <p:nvPr>
            <p:ph type="dt" sz="half" idx="10"/>
          </p:nvPr>
        </p:nvSpPr>
        <p:spPr/>
        <p:txBody>
          <a:bodyPr/>
          <a:lstStyle/>
          <a:p>
            <a:fld id="{0CB1CD98-E1E1-447B-94EB-7CB62D4ECEDF}" type="datetimeFigureOut">
              <a:rPr lang="es-CO" smtClean="0"/>
              <a:t>8/07/2026</a:t>
            </a:fld>
            <a:endParaRPr lang="es-CO"/>
          </a:p>
        </p:txBody>
      </p:sp>
      <p:sp>
        <p:nvSpPr>
          <p:cNvPr id="5" name="Marcador de pie de página 4">
            <a:extLst>
              <a:ext uri="{FF2B5EF4-FFF2-40B4-BE49-F238E27FC236}">
                <a16:creationId xmlns:a16="http://schemas.microsoft.com/office/drawing/2014/main" id="{399F4C00-450A-44D9-B6EC-893861F0682A}"/>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784DDB9-F9A9-4264-9832-9221CDBC95E8}"/>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792447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F52CF89-E3DA-4536-9CF0-203D87A6A1E7}"/>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8E9AD620-7508-4863-A794-B759D62A468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AA9E2F0E-62E2-4A26-A444-8F6F68EDC8EE}"/>
              </a:ext>
            </a:extLst>
          </p:cNvPr>
          <p:cNvSpPr>
            <a:spLocks noGrp="1"/>
          </p:cNvSpPr>
          <p:nvPr>
            <p:ph type="dt" sz="half" idx="10"/>
          </p:nvPr>
        </p:nvSpPr>
        <p:spPr/>
        <p:txBody>
          <a:bodyPr/>
          <a:lstStyle/>
          <a:p>
            <a:fld id="{0CB1CD98-E1E1-447B-94EB-7CB62D4ECEDF}" type="datetimeFigureOut">
              <a:rPr lang="es-CO" smtClean="0"/>
              <a:t>8/07/2026</a:t>
            </a:fld>
            <a:endParaRPr lang="es-CO"/>
          </a:p>
        </p:txBody>
      </p:sp>
      <p:sp>
        <p:nvSpPr>
          <p:cNvPr id="5" name="Marcador de pie de página 4">
            <a:extLst>
              <a:ext uri="{FF2B5EF4-FFF2-40B4-BE49-F238E27FC236}">
                <a16:creationId xmlns:a16="http://schemas.microsoft.com/office/drawing/2014/main" id="{D6552E37-01CC-43AB-B9A7-E3B25994DF4D}"/>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20A7B1E-FD8F-4EE7-9F41-67E1464A01EC}"/>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3903727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D326C7-5AE4-438B-B39E-EA7A60DDE7D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F2806DB9-D182-4387-AE4F-A10277D447D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E28AD407-BC4D-46FF-B8B5-5A5887F59AC7}"/>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9C497602-5E19-4701-83AF-7AF5023F4197}"/>
              </a:ext>
            </a:extLst>
          </p:cNvPr>
          <p:cNvSpPr>
            <a:spLocks noGrp="1"/>
          </p:cNvSpPr>
          <p:nvPr>
            <p:ph type="dt" sz="half" idx="10"/>
          </p:nvPr>
        </p:nvSpPr>
        <p:spPr/>
        <p:txBody>
          <a:bodyPr/>
          <a:lstStyle/>
          <a:p>
            <a:fld id="{0CB1CD98-E1E1-447B-94EB-7CB62D4ECEDF}" type="datetimeFigureOut">
              <a:rPr lang="es-CO" smtClean="0"/>
              <a:t>8/07/2026</a:t>
            </a:fld>
            <a:endParaRPr lang="es-CO"/>
          </a:p>
        </p:txBody>
      </p:sp>
      <p:sp>
        <p:nvSpPr>
          <p:cNvPr id="6" name="Marcador de pie de página 5">
            <a:extLst>
              <a:ext uri="{FF2B5EF4-FFF2-40B4-BE49-F238E27FC236}">
                <a16:creationId xmlns:a16="http://schemas.microsoft.com/office/drawing/2014/main" id="{DCBF0AA4-25C1-4452-BE94-7615E65725B7}"/>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F4D996CA-E4B5-4386-9331-2D2F66B9D642}"/>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24193863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9F5265-1E60-40B2-A3D5-362A9E77C1D6}"/>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5201D827-0AEC-4281-AC43-8C73B564EC6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79F2744F-FBC8-4F22-B911-A0AC2CDC7B6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77795157-C7D6-45B1-A2D1-C64EC193C7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20D80E77-DBAF-44CF-932F-617D590FF08D}"/>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D3BD64F1-06E3-4C35-B726-F90245D8EFF4}"/>
              </a:ext>
            </a:extLst>
          </p:cNvPr>
          <p:cNvSpPr>
            <a:spLocks noGrp="1"/>
          </p:cNvSpPr>
          <p:nvPr>
            <p:ph type="dt" sz="half" idx="10"/>
          </p:nvPr>
        </p:nvSpPr>
        <p:spPr/>
        <p:txBody>
          <a:bodyPr/>
          <a:lstStyle/>
          <a:p>
            <a:fld id="{0CB1CD98-E1E1-447B-94EB-7CB62D4ECEDF}" type="datetimeFigureOut">
              <a:rPr lang="es-CO" smtClean="0"/>
              <a:t>8/07/2026</a:t>
            </a:fld>
            <a:endParaRPr lang="es-CO"/>
          </a:p>
        </p:txBody>
      </p:sp>
      <p:sp>
        <p:nvSpPr>
          <p:cNvPr id="8" name="Marcador de pie de página 7">
            <a:extLst>
              <a:ext uri="{FF2B5EF4-FFF2-40B4-BE49-F238E27FC236}">
                <a16:creationId xmlns:a16="http://schemas.microsoft.com/office/drawing/2014/main" id="{07A268E4-5A5E-4F9A-BB94-9A9037A2034B}"/>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63BD01A0-8FA1-4E86-BA22-0B094540C595}"/>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5800085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33E505C-63B1-4493-9D73-53B305FB83D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67A2CECE-55F9-4337-856A-7A89240CE68B}"/>
              </a:ext>
            </a:extLst>
          </p:cNvPr>
          <p:cNvSpPr>
            <a:spLocks noGrp="1"/>
          </p:cNvSpPr>
          <p:nvPr>
            <p:ph type="dt" sz="half" idx="10"/>
          </p:nvPr>
        </p:nvSpPr>
        <p:spPr/>
        <p:txBody>
          <a:bodyPr/>
          <a:lstStyle/>
          <a:p>
            <a:fld id="{0CB1CD98-E1E1-447B-94EB-7CB62D4ECEDF}" type="datetimeFigureOut">
              <a:rPr lang="es-CO" smtClean="0"/>
              <a:t>8/07/2026</a:t>
            </a:fld>
            <a:endParaRPr lang="es-CO"/>
          </a:p>
        </p:txBody>
      </p:sp>
      <p:sp>
        <p:nvSpPr>
          <p:cNvPr id="4" name="Marcador de pie de página 3">
            <a:extLst>
              <a:ext uri="{FF2B5EF4-FFF2-40B4-BE49-F238E27FC236}">
                <a16:creationId xmlns:a16="http://schemas.microsoft.com/office/drawing/2014/main" id="{137581E0-F342-4876-9974-49B169ABD2D7}"/>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14369F71-A86A-42E9-9548-1B469D8FEE29}"/>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24365326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8A6A74DB-92AA-4742-9D2C-981773BD1A49}"/>
              </a:ext>
            </a:extLst>
          </p:cNvPr>
          <p:cNvSpPr>
            <a:spLocks noGrp="1"/>
          </p:cNvSpPr>
          <p:nvPr>
            <p:ph type="dt" sz="half" idx="10"/>
          </p:nvPr>
        </p:nvSpPr>
        <p:spPr/>
        <p:txBody>
          <a:bodyPr/>
          <a:lstStyle/>
          <a:p>
            <a:fld id="{0CB1CD98-E1E1-447B-94EB-7CB62D4ECEDF}" type="datetimeFigureOut">
              <a:rPr lang="es-CO" smtClean="0"/>
              <a:t>8/07/2026</a:t>
            </a:fld>
            <a:endParaRPr lang="es-CO"/>
          </a:p>
        </p:txBody>
      </p:sp>
      <p:sp>
        <p:nvSpPr>
          <p:cNvPr id="3" name="Marcador de pie de página 2">
            <a:extLst>
              <a:ext uri="{FF2B5EF4-FFF2-40B4-BE49-F238E27FC236}">
                <a16:creationId xmlns:a16="http://schemas.microsoft.com/office/drawing/2014/main" id="{9EC7E8C1-D2F2-447F-A33A-7B401E3FDB29}"/>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F0034762-28C0-49FF-AB65-A45AB4C944C9}"/>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1079061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C2E193-8936-446B-B327-C8DCD89C4BA5}"/>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CA1B73D-0D87-41EA-A8DC-0FA5A63096C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73A881C2-7A4F-4D5E-AA73-C1C38B983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55C96B6-8F1B-4537-9507-5F848E1B86AA}"/>
              </a:ext>
            </a:extLst>
          </p:cNvPr>
          <p:cNvSpPr>
            <a:spLocks noGrp="1"/>
          </p:cNvSpPr>
          <p:nvPr>
            <p:ph type="dt" sz="half" idx="10"/>
          </p:nvPr>
        </p:nvSpPr>
        <p:spPr/>
        <p:txBody>
          <a:bodyPr/>
          <a:lstStyle/>
          <a:p>
            <a:fld id="{0CB1CD98-E1E1-447B-94EB-7CB62D4ECEDF}" type="datetimeFigureOut">
              <a:rPr lang="es-CO" smtClean="0"/>
              <a:t>8/07/2026</a:t>
            </a:fld>
            <a:endParaRPr lang="es-CO"/>
          </a:p>
        </p:txBody>
      </p:sp>
      <p:sp>
        <p:nvSpPr>
          <p:cNvPr id="6" name="Marcador de pie de página 5">
            <a:extLst>
              <a:ext uri="{FF2B5EF4-FFF2-40B4-BE49-F238E27FC236}">
                <a16:creationId xmlns:a16="http://schemas.microsoft.com/office/drawing/2014/main" id="{AEF83158-B883-473D-A115-CD1DB102919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9AD95800-E83B-4626-BA66-7149E672FB82}"/>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8253872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9AF0A-6AD7-4365-92B9-0CABFBD5FB2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AF6ABC7B-B3A8-411E-9987-DCF153E7564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E4ADFB18-BB23-4211-B427-8ACE6D3BC6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8614A1E4-1119-4FE8-9164-49500D8A520F}"/>
              </a:ext>
            </a:extLst>
          </p:cNvPr>
          <p:cNvSpPr>
            <a:spLocks noGrp="1"/>
          </p:cNvSpPr>
          <p:nvPr>
            <p:ph type="dt" sz="half" idx="10"/>
          </p:nvPr>
        </p:nvSpPr>
        <p:spPr/>
        <p:txBody>
          <a:bodyPr/>
          <a:lstStyle/>
          <a:p>
            <a:fld id="{0CB1CD98-E1E1-447B-94EB-7CB62D4ECEDF}" type="datetimeFigureOut">
              <a:rPr lang="es-CO" smtClean="0"/>
              <a:t>8/07/2026</a:t>
            </a:fld>
            <a:endParaRPr lang="es-CO"/>
          </a:p>
        </p:txBody>
      </p:sp>
      <p:sp>
        <p:nvSpPr>
          <p:cNvPr id="6" name="Marcador de pie de página 5">
            <a:extLst>
              <a:ext uri="{FF2B5EF4-FFF2-40B4-BE49-F238E27FC236}">
                <a16:creationId xmlns:a16="http://schemas.microsoft.com/office/drawing/2014/main" id="{63E0F0BC-09FE-47C2-B123-93CB6D3DB752}"/>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70B93CB0-FD38-4FF6-9DF2-A56137478400}"/>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911046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25A6C6-094E-48FD-8A72-A733AFA737F1}"/>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C031DD89-03B6-4EF7-8795-E1B662C3DA4A}"/>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28E4491-8301-48AA-AB2C-8B62B77CC276}"/>
              </a:ext>
            </a:extLst>
          </p:cNvPr>
          <p:cNvSpPr>
            <a:spLocks noGrp="1"/>
          </p:cNvSpPr>
          <p:nvPr>
            <p:ph type="dt" sz="half" idx="10"/>
          </p:nvPr>
        </p:nvSpPr>
        <p:spPr/>
        <p:txBody>
          <a:bodyPr/>
          <a:lstStyle/>
          <a:p>
            <a:fld id="{0CB1CD98-E1E1-447B-94EB-7CB62D4ECEDF}" type="datetimeFigureOut">
              <a:rPr lang="es-CO" smtClean="0"/>
              <a:t>8/07/2026</a:t>
            </a:fld>
            <a:endParaRPr lang="es-CO"/>
          </a:p>
        </p:txBody>
      </p:sp>
      <p:sp>
        <p:nvSpPr>
          <p:cNvPr id="5" name="Marcador de pie de página 4">
            <a:extLst>
              <a:ext uri="{FF2B5EF4-FFF2-40B4-BE49-F238E27FC236}">
                <a16:creationId xmlns:a16="http://schemas.microsoft.com/office/drawing/2014/main" id="{D941A9CF-D46A-4166-8CED-E30EC6BA966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BABCAB2-947A-457E-9127-FF6DD2D03890}"/>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885151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4E131D6-3ACE-46CD-ADE4-E8163FA760A0}"/>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5675F7E0-4E24-4953-90D0-62226AE04273}"/>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DDD872B7-9B0A-41F9-8D8A-0DAF9BB2EA7D}"/>
              </a:ext>
            </a:extLst>
          </p:cNvPr>
          <p:cNvSpPr>
            <a:spLocks noGrp="1"/>
          </p:cNvSpPr>
          <p:nvPr>
            <p:ph type="dt" sz="half" idx="10"/>
          </p:nvPr>
        </p:nvSpPr>
        <p:spPr/>
        <p:txBody>
          <a:bodyPr/>
          <a:lstStyle/>
          <a:p>
            <a:fld id="{0CB1CD98-E1E1-447B-94EB-7CB62D4ECEDF}" type="datetimeFigureOut">
              <a:rPr lang="es-CO" smtClean="0"/>
              <a:t>8/07/2026</a:t>
            </a:fld>
            <a:endParaRPr lang="es-CO"/>
          </a:p>
        </p:txBody>
      </p:sp>
      <p:sp>
        <p:nvSpPr>
          <p:cNvPr id="5" name="Marcador de pie de página 4">
            <a:extLst>
              <a:ext uri="{FF2B5EF4-FFF2-40B4-BE49-F238E27FC236}">
                <a16:creationId xmlns:a16="http://schemas.microsoft.com/office/drawing/2014/main" id="{40DF9252-A5E5-46C4-B415-22A28907C81E}"/>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C5045FC0-0E4E-42E9-AD37-825F531701BA}"/>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7242872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0AC5AF3E-1AE6-46F5-B7E8-FD8532510DB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7C141CB7-F557-4260-AFAB-AA1F6C0F90D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7C736BC-CF1E-49E0-81D3-8E03E7AF05F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CB1CD98-E1E1-447B-94EB-7CB62D4ECEDF}" type="datetimeFigureOut">
              <a:rPr lang="es-CO" smtClean="0"/>
              <a:t>8/07/2026</a:t>
            </a:fld>
            <a:endParaRPr lang="es-CO"/>
          </a:p>
        </p:txBody>
      </p:sp>
      <p:sp>
        <p:nvSpPr>
          <p:cNvPr id="5" name="Marcador de pie de página 4">
            <a:extLst>
              <a:ext uri="{FF2B5EF4-FFF2-40B4-BE49-F238E27FC236}">
                <a16:creationId xmlns:a16="http://schemas.microsoft.com/office/drawing/2014/main" id="{4B7B28BE-AC75-4DCA-8ADB-5CB8463833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B8704D9F-FAF3-4D28-BC29-2801484D198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89FC309-C041-434C-9C05-3FACAF077AF9}" type="slidenum">
              <a:rPr lang="es-CO" smtClean="0"/>
              <a:t>‹Nº›</a:t>
            </a:fld>
            <a:endParaRPr lang="es-CO"/>
          </a:p>
        </p:txBody>
      </p:sp>
    </p:spTree>
    <p:extLst>
      <p:ext uri="{BB962C8B-B14F-4D97-AF65-F5344CB8AC3E}">
        <p14:creationId xmlns:p14="http://schemas.microsoft.com/office/powerpoint/2010/main" val="39293583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jfif"/><Relationship Id="rId2" Type="http://schemas.openxmlformats.org/officeDocument/2006/relationships/image" Target="../media/image1.jfif"/><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fif"/><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sp>
        <p:nvSpPr>
          <p:cNvPr id="7" name="CuadroTexto 6">
            <a:extLst>
              <a:ext uri="{FF2B5EF4-FFF2-40B4-BE49-F238E27FC236}">
                <a16:creationId xmlns:a16="http://schemas.microsoft.com/office/drawing/2014/main" id="{C8E03B1C-38F7-4C25-A806-1B211250D147}"/>
              </a:ext>
            </a:extLst>
          </p:cNvPr>
          <p:cNvSpPr txBox="1"/>
          <p:nvPr/>
        </p:nvSpPr>
        <p:spPr>
          <a:xfrm>
            <a:off x="501650" y="1448592"/>
            <a:ext cx="11188700" cy="1446550"/>
          </a:xfrm>
          <a:prstGeom prst="rect">
            <a:avLst/>
          </a:prstGeom>
          <a:noFill/>
        </p:spPr>
        <p:txBody>
          <a:bodyPr wrap="square" rtlCol="0">
            <a:spAutoFit/>
          </a:bodyPr>
          <a:lstStyle/>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Plan de negocios para Plataforma Educativa Financiera para</a:t>
            </a:r>
          </a:p>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Usuarios Inexpertos con Machine </a:t>
            </a:r>
            <a:r>
              <a:rPr lang="es-ES" sz="4400" dirty="0" err="1">
                <a:solidFill>
                  <a:srgbClr val="8D2F3C"/>
                </a:solidFill>
                <a:latin typeface="Maleo Trials" panose="02000006070000000000" pitchFamily="50" charset="0"/>
                <a:ea typeface="Maleo Trials" panose="02000006070000000000" pitchFamily="50" charset="0"/>
                <a:cs typeface="Maleo Trials" panose="02000006070000000000" pitchFamily="50" charset="0"/>
              </a:rPr>
              <a:t>Learning</a:t>
            </a:r>
            <a:endPar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endParaRPr>
          </a:p>
        </p:txBody>
      </p: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2" name="CuadroTexto 11">
            <a:extLst>
              <a:ext uri="{FF2B5EF4-FFF2-40B4-BE49-F238E27FC236}">
                <a16:creationId xmlns:a16="http://schemas.microsoft.com/office/drawing/2014/main" id="{93EE4815-E8D0-4806-AA61-D4854E2D82DD}"/>
              </a:ext>
            </a:extLst>
          </p:cNvPr>
          <p:cNvSpPr txBox="1"/>
          <p:nvPr/>
        </p:nvSpPr>
        <p:spPr>
          <a:xfrm>
            <a:off x="501650" y="2952589"/>
            <a:ext cx="11188700" cy="584775"/>
          </a:xfrm>
          <a:prstGeom prst="rect">
            <a:avLst/>
          </a:prstGeom>
          <a:noFill/>
        </p:spPr>
        <p:txBody>
          <a:bodyPr wrap="square" rtlCol="0">
            <a:spAutoFit/>
          </a:bodyPr>
          <a:lstStyle/>
          <a:p>
            <a:pPr algn="ctr"/>
            <a:r>
              <a:rPr lang="es-ES" sz="3200" dirty="0">
                <a:solidFill>
                  <a:srgbClr val="8D2F3C"/>
                </a:solidFill>
                <a:latin typeface="Maleo" panose="02000006070000000000" pitchFamily="2" charset="0"/>
                <a:ea typeface="Maleo" panose="02000006070000000000" pitchFamily="2" charset="0"/>
                <a:cs typeface="Maleo" panose="02000006070000000000" pitchFamily="2" charset="0"/>
              </a:rPr>
              <a:t>CASO DE ESTUDIO: Nómadas Digitales</a:t>
            </a:r>
          </a:p>
        </p:txBody>
      </p:sp>
      <p:sp>
        <p:nvSpPr>
          <p:cNvPr id="13" name="CuadroTexto 12">
            <a:extLst>
              <a:ext uri="{FF2B5EF4-FFF2-40B4-BE49-F238E27FC236}">
                <a16:creationId xmlns:a16="http://schemas.microsoft.com/office/drawing/2014/main" id="{2E15050D-DA0E-464C-B485-2D4DCC77B9E8}"/>
              </a:ext>
            </a:extLst>
          </p:cNvPr>
          <p:cNvSpPr txBox="1"/>
          <p:nvPr/>
        </p:nvSpPr>
        <p:spPr>
          <a:xfrm>
            <a:off x="501650" y="3663574"/>
            <a:ext cx="11188700" cy="400110"/>
          </a:xfrm>
          <a:prstGeom prst="rect">
            <a:avLst/>
          </a:prstGeom>
          <a:noFill/>
        </p:spPr>
        <p:txBody>
          <a:bodyPr wrap="square" rtlCol="0">
            <a:spAutoFit/>
          </a:bodyPr>
          <a:lstStyle/>
          <a:p>
            <a:pPr algn="ct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Autores:</a:t>
            </a:r>
          </a:p>
        </p:txBody>
      </p:sp>
      <p:sp>
        <p:nvSpPr>
          <p:cNvPr id="15" name="CuadroTexto 14">
            <a:extLst>
              <a:ext uri="{FF2B5EF4-FFF2-40B4-BE49-F238E27FC236}">
                <a16:creationId xmlns:a16="http://schemas.microsoft.com/office/drawing/2014/main" id="{BEDA7D46-6A0C-4586-831F-B8F5BEEF7E28}"/>
              </a:ext>
            </a:extLst>
          </p:cNvPr>
          <p:cNvSpPr txBox="1"/>
          <p:nvPr/>
        </p:nvSpPr>
        <p:spPr>
          <a:xfrm>
            <a:off x="501650" y="4023928"/>
            <a:ext cx="11188700" cy="707886"/>
          </a:xfrm>
          <a:prstGeom prst="rect">
            <a:avLst/>
          </a:prstGeom>
          <a:noFill/>
        </p:spPr>
        <p:txBody>
          <a:bodyPr wrap="square" rtlCol="0">
            <a:spAutoFit/>
          </a:bodyPr>
          <a:lstStyle/>
          <a:p>
            <a:pPr algn="ctr"/>
            <a:r>
              <a:rPr lang="es-ES" sz="2000" dirty="0">
                <a:latin typeface="Maleo" panose="02000006070000000000" pitchFamily="2" charset="0"/>
                <a:ea typeface="Maleo" panose="02000006070000000000" pitchFamily="2" charset="0"/>
                <a:cs typeface="Maleo" panose="02000006070000000000" pitchFamily="2" charset="0"/>
              </a:rPr>
              <a:t>David Leonardo Rincón Ovalle (20201020075)</a:t>
            </a:r>
          </a:p>
          <a:p>
            <a:pPr algn="ctr"/>
            <a:r>
              <a:rPr lang="es-ES" sz="2000" dirty="0">
                <a:latin typeface="Maleo" panose="02000006070000000000" pitchFamily="2" charset="0"/>
                <a:ea typeface="Maleo" panose="02000006070000000000" pitchFamily="2" charset="0"/>
                <a:cs typeface="Maleo" panose="02000006070000000000" pitchFamily="2" charset="0"/>
              </a:rPr>
              <a:t>Leidy Marcela Morales Segura (20112020052)</a:t>
            </a:r>
          </a:p>
        </p:txBody>
      </p:sp>
      <p:sp>
        <p:nvSpPr>
          <p:cNvPr id="16" name="CuadroTexto 15">
            <a:extLst>
              <a:ext uri="{FF2B5EF4-FFF2-40B4-BE49-F238E27FC236}">
                <a16:creationId xmlns:a16="http://schemas.microsoft.com/office/drawing/2014/main" id="{958312DC-2C9C-4A85-A69E-D5F56E4A2682}"/>
              </a:ext>
            </a:extLst>
          </p:cNvPr>
          <p:cNvSpPr txBox="1"/>
          <p:nvPr/>
        </p:nvSpPr>
        <p:spPr>
          <a:xfrm>
            <a:off x="501650" y="5001828"/>
            <a:ext cx="11188700" cy="1200329"/>
          </a:xfrm>
          <a:prstGeom prst="rect">
            <a:avLst/>
          </a:prstGeom>
          <a:noFill/>
        </p:spPr>
        <p:txBody>
          <a:bodyPr wrap="square" rtlCol="0">
            <a:spAutoFit/>
          </a:bodyPr>
          <a:lstStyle/>
          <a:p>
            <a:pPr algn="ctr"/>
            <a:r>
              <a:rPr lang="es-ES" sz="2400" dirty="0">
                <a:latin typeface="Maleo" panose="02000006070000000000" pitchFamily="2" charset="0"/>
                <a:ea typeface="Maleo" panose="02000006070000000000" pitchFamily="2" charset="0"/>
                <a:cs typeface="Maleo" panose="02000006070000000000" pitchFamily="2" charset="0"/>
              </a:rPr>
              <a:t>Ingeniero Abel Antonio Navarrete López</a:t>
            </a:r>
          </a:p>
          <a:p>
            <a:pPr algn="ctr"/>
            <a:r>
              <a:rPr lang="es-ES" sz="2400" dirty="0">
                <a:latin typeface="Maleo" panose="02000006070000000000" pitchFamily="2" charset="0"/>
                <a:ea typeface="Maleo" panose="02000006070000000000" pitchFamily="2" charset="0"/>
                <a:cs typeface="Maleo" panose="02000006070000000000" pitchFamily="2" charset="0"/>
              </a:rPr>
              <a:t>Director del trabajo de grado</a:t>
            </a:r>
          </a:p>
          <a:p>
            <a:pPr algn="ctr"/>
            <a:r>
              <a:rPr lang="es-ES" sz="2400" dirty="0">
                <a:latin typeface="Maleo" panose="02000006070000000000" pitchFamily="2" charset="0"/>
                <a:ea typeface="Maleo" panose="02000006070000000000" pitchFamily="2" charset="0"/>
                <a:cs typeface="Maleo" panose="02000006070000000000" pitchFamily="2" charset="0"/>
              </a:rPr>
              <a:t>2026</a:t>
            </a: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Tree>
    <p:extLst>
      <p:ext uri="{BB962C8B-B14F-4D97-AF65-F5344CB8AC3E}">
        <p14:creationId xmlns:p14="http://schemas.microsoft.com/office/powerpoint/2010/main" val="15120805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8" name="CuadroTexto 17">
            <a:extLst>
              <a:ext uri="{FF2B5EF4-FFF2-40B4-BE49-F238E27FC236}">
                <a16:creationId xmlns:a16="http://schemas.microsoft.com/office/drawing/2014/main" id="{7FAA8449-A570-42AD-8C2F-D981935E6810}"/>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8" name="Rectángulo 7">
            <a:extLst>
              <a:ext uri="{FF2B5EF4-FFF2-40B4-BE49-F238E27FC236}">
                <a16:creationId xmlns:a16="http://schemas.microsoft.com/office/drawing/2014/main" id="{F7EC561B-3B8E-405B-A524-17A0A3E46A40}"/>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4" name="Imagen 13">
            <a:extLst>
              <a:ext uri="{FF2B5EF4-FFF2-40B4-BE49-F238E27FC236}">
                <a16:creationId xmlns:a16="http://schemas.microsoft.com/office/drawing/2014/main" id="{D2C1097E-EE83-4B0A-98CB-6EC9F9236A70}"/>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7" name="CuadroTexto 6">
            <a:extLst>
              <a:ext uri="{FF2B5EF4-FFF2-40B4-BE49-F238E27FC236}">
                <a16:creationId xmlns:a16="http://schemas.microsoft.com/office/drawing/2014/main" id="{F61E4C4E-13DF-494D-953B-A9CED7B89A25}"/>
              </a:ext>
            </a:extLst>
          </p:cNvPr>
          <p:cNvSpPr txBox="1"/>
          <p:nvPr/>
        </p:nvSpPr>
        <p:spPr>
          <a:xfrm>
            <a:off x="1603513" y="2928730"/>
            <a:ext cx="2032159" cy="369332"/>
          </a:xfrm>
          <a:prstGeom prst="rect">
            <a:avLst/>
          </a:prstGeom>
          <a:noFill/>
        </p:spPr>
        <p:txBody>
          <a:bodyPr wrap="none" rtlCol="0">
            <a:spAutoFit/>
          </a:bodyPr>
          <a:lstStyle/>
          <a:p>
            <a:r>
              <a:rPr lang="es-ES" dirty="0"/>
              <a:t>Cita de autor va acá</a:t>
            </a:r>
            <a:endParaRPr lang="es-CO" dirty="0"/>
          </a:p>
        </p:txBody>
      </p:sp>
    </p:spTree>
    <p:extLst>
      <p:ext uri="{BB962C8B-B14F-4D97-AF65-F5344CB8AC3E}">
        <p14:creationId xmlns:p14="http://schemas.microsoft.com/office/powerpoint/2010/main" val="9675994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9" name="CuadroTexto 18">
            <a:extLst>
              <a:ext uri="{FF2B5EF4-FFF2-40B4-BE49-F238E27FC236}">
                <a16:creationId xmlns:a16="http://schemas.microsoft.com/office/drawing/2014/main" id="{1A17BD2D-2122-4D42-A2D3-B0728B584AEE}"/>
              </a:ext>
            </a:extLst>
          </p:cNvPr>
          <p:cNvSpPr txBox="1"/>
          <p:nvPr/>
        </p:nvSpPr>
        <p:spPr>
          <a:xfrm>
            <a:off x="1245704" y="1448592"/>
            <a:ext cx="9657836"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Agenda</a:t>
            </a:r>
          </a:p>
        </p:txBody>
      </p:sp>
      <p:sp>
        <p:nvSpPr>
          <p:cNvPr id="20" name="CuadroTexto 19">
            <a:extLst>
              <a:ext uri="{FF2B5EF4-FFF2-40B4-BE49-F238E27FC236}">
                <a16:creationId xmlns:a16="http://schemas.microsoft.com/office/drawing/2014/main" id="{49E16D74-28D3-4D5C-896B-9D7514BC63FE}"/>
              </a:ext>
            </a:extLst>
          </p:cNvPr>
          <p:cNvSpPr txBox="1"/>
          <p:nvPr/>
        </p:nvSpPr>
        <p:spPr>
          <a:xfrm>
            <a:off x="1716552" y="2457199"/>
            <a:ext cx="4379448" cy="2246769"/>
          </a:xfrm>
          <a:prstGeom prst="rect">
            <a:avLst/>
          </a:prstGeom>
          <a:noFill/>
        </p:spPr>
        <p:txBody>
          <a:bodyPr wrap="square" rtlCol="0">
            <a:spAutoFit/>
          </a:bodyPr>
          <a:lstStyle/>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Problema</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Propuesta</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Estudio de mercado</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Modelo de negocio</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Estados financieros</a:t>
            </a:r>
          </a:p>
        </p:txBody>
      </p:sp>
      <p:sp>
        <p:nvSpPr>
          <p:cNvPr id="21" name="CuadroTexto 20">
            <a:extLst>
              <a:ext uri="{FF2B5EF4-FFF2-40B4-BE49-F238E27FC236}">
                <a16:creationId xmlns:a16="http://schemas.microsoft.com/office/drawing/2014/main" id="{543EFA96-7749-4E6E-9679-70626198223C}"/>
              </a:ext>
            </a:extLst>
          </p:cNvPr>
          <p:cNvSpPr txBox="1"/>
          <p:nvPr/>
        </p:nvSpPr>
        <p:spPr>
          <a:xfrm>
            <a:off x="6415661" y="2457198"/>
            <a:ext cx="4379448" cy="1815882"/>
          </a:xfrm>
          <a:prstGeom prst="rect">
            <a:avLst/>
          </a:prstGeom>
          <a:noFill/>
        </p:spPr>
        <p:txBody>
          <a:bodyPr wrap="square" rtlCol="0">
            <a:spAutoFit/>
          </a:bodyPr>
          <a:lstStyle/>
          <a:p>
            <a:pPr marL="514350" indent="-514350">
              <a:buFont typeface="+mj-lt"/>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Análisis financiero</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Conclusiones</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Bibliografía</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Agradecimientos</a:t>
            </a:r>
          </a:p>
        </p:txBody>
      </p:sp>
    </p:spTree>
    <p:extLst>
      <p:ext uri="{BB962C8B-B14F-4D97-AF65-F5344CB8AC3E}">
        <p14:creationId xmlns:p14="http://schemas.microsoft.com/office/powerpoint/2010/main" val="4151442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7409620" y="3605670"/>
            <a:ext cx="3124200"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Problema</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01</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7" name="Imagen 6">
            <a:extLst>
              <a:ext uri="{FF2B5EF4-FFF2-40B4-BE49-F238E27FC236}">
                <a16:creationId xmlns:a16="http://schemas.microsoft.com/office/drawing/2014/main" id="{0181DB30-34A7-472C-8357-5EAA224F2786}"/>
              </a:ext>
            </a:extLst>
          </p:cNvPr>
          <p:cNvPicPr>
            <a:picLocks noChangeAspect="1"/>
          </p:cNvPicPr>
          <p:nvPr/>
        </p:nvPicPr>
        <p:blipFill rotWithShape="1">
          <a:blip r:embed="rId3">
            <a:extLst>
              <a:ext uri="{28A0092B-C50C-407E-A947-70E740481C1C}">
                <a14:useLocalDpi xmlns:a14="http://schemas.microsoft.com/office/drawing/2010/main" val="0"/>
              </a:ext>
            </a:extLst>
          </a:blip>
          <a:srcRect t="8742" r="8420" b="9541"/>
          <a:stretch/>
        </p:blipFill>
        <p:spPr>
          <a:xfrm>
            <a:off x="1282562" y="1237998"/>
            <a:ext cx="5105675" cy="4555765"/>
          </a:xfrm>
          <a:prstGeom prst="rect">
            <a:avLst/>
          </a:prstGeom>
        </p:spPr>
      </p:pic>
      <p:sp>
        <p:nvSpPr>
          <p:cNvPr id="15" name="CuadroTexto 14">
            <a:extLst>
              <a:ext uri="{FF2B5EF4-FFF2-40B4-BE49-F238E27FC236}">
                <a16:creationId xmlns:a16="http://schemas.microsoft.com/office/drawing/2014/main" id="{49419FEE-E3B1-427D-B245-6FB3A2306DC3}"/>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6655165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01 PROBLEMA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Pregunta</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2400657"/>
          </a:xfrm>
          <a:prstGeom prst="rect">
            <a:avLst/>
          </a:prstGeom>
          <a:noFill/>
        </p:spPr>
        <p:txBody>
          <a:bodyPr wrap="square" rtlCol="0">
            <a:spAutoFit/>
          </a:bodyPr>
          <a:lstStyle/>
          <a:p>
            <a:pPr algn="just"/>
            <a:r>
              <a:rPr lang="es-ES" sz="3000" dirty="0">
                <a:latin typeface="Maleo" panose="02000006070000000000" pitchFamily="2" charset="0"/>
                <a:ea typeface="Maleo" panose="02000006070000000000" pitchFamily="2" charset="0"/>
                <a:cs typeface="Maleo" panose="02000006070000000000" pitchFamily="2" charset="0"/>
              </a:rPr>
              <a:t>¿Cómo puede una plataforma digital de asesoramiento financiero ayudar a diferentes usuarios a mejorar sus hábitos financieros mediante orientación personalizada, accesible y confiable, mientras mantiene un impacto social y un modelo de negocio sostenible?</a:t>
            </a:r>
          </a:p>
        </p:txBody>
      </p:sp>
      <p:pic>
        <p:nvPicPr>
          <p:cNvPr id="7" name="Imagen 6">
            <a:extLst>
              <a:ext uri="{FF2B5EF4-FFF2-40B4-BE49-F238E27FC236}">
                <a16:creationId xmlns:a16="http://schemas.microsoft.com/office/drawing/2014/main" id="{2C92DD39-822B-4B48-B6D3-B9531A7C9AF3}"/>
              </a:ext>
            </a:extLst>
          </p:cNvPr>
          <p:cNvPicPr>
            <a:picLocks noChangeAspect="1"/>
          </p:cNvPicPr>
          <p:nvPr/>
        </p:nvPicPr>
        <p:blipFill rotWithShape="1">
          <a:blip r:embed="rId3">
            <a:extLst>
              <a:ext uri="{28A0092B-C50C-407E-A947-70E740481C1C}">
                <a14:useLocalDpi xmlns:a14="http://schemas.microsoft.com/office/drawing/2010/main" val="0"/>
              </a:ext>
            </a:extLst>
          </a:blip>
          <a:srcRect b="2950"/>
          <a:stretch/>
        </p:blipFill>
        <p:spPr>
          <a:xfrm>
            <a:off x="7628559" y="1583638"/>
            <a:ext cx="4061791" cy="3941970"/>
          </a:xfrm>
          <a:prstGeom prst="rect">
            <a:avLst/>
          </a:prstGeom>
        </p:spPr>
      </p:pic>
      <p:sp>
        <p:nvSpPr>
          <p:cNvPr id="19" name="CuadroTexto 18">
            <a:extLst>
              <a:ext uri="{FF2B5EF4-FFF2-40B4-BE49-F238E27FC236}">
                <a16:creationId xmlns:a16="http://schemas.microsoft.com/office/drawing/2014/main" id="{52DD0B70-44BB-4D15-BA49-6C58AB648883}"/>
              </a:ext>
            </a:extLst>
          </p:cNvPr>
          <p:cNvSpPr txBox="1"/>
          <p:nvPr/>
        </p:nvSpPr>
        <p:spPr>
          <a:xfrm>
            <a:off x="7862569" y="4907914"/>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3050124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01 PROBLEMA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Objetivo General</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3323987"/>
          </a:xfrm>
          <a:prstGeom prst="rect">
            <a:avLst/>
          </a:prstGeom>
          <a:noFill/>
        </p:spPr>
        <p:txBody>
          <a:bodyPr wrap="square" rtlCol="0">
            <a:spAutoFit/>
          </a:bodyPr>
          <a:lstStyle/>
          <a:p>
            <a:pPr algn="just"/>
            <a:r>
              <a:rPr lang="es-ES" sz="3000" dirty="0">
                <a:latin typeface="Maleo" panose="02000006070000000000" pitchFamily="2" charset="0"/>
                <a:ea typeface="Maleo" panose="02000006070000000000" pitchFamily="2" charset="0"/>
                <a:cs typeface="Maleo" panose="02000006070000000000" pitchFamily="2" charset="0"/>
              </a:rPr>
              <a:t>Diseñar un plan de negocios y un prototipo de una plataforma digital de planificación financiera para jóvenes, trabajadores independientes y nómadas digitales en Bogotá, basada en una arquitectura de microservicios y algoritmos de personalización (Machine </a:t>
            </a:r>
            <a:r>
              <a:rPr lang="es-ES" sz="3000" dirty="0" err="1">
                <a:latin typeface="Maleo" panose="02000006070000000000" pitchFamily="2" charset="0"/>
                <a:ea typeface="Maleo" panose="02000006070000000000" pitchFamily="2" charset="0"/>
                <a:cs typeface="Maleo" panose="02000006070000000000" pitchFamily="2" charset="0"/>
              </a:rPr>
              <a:t>Learning</a:t>
            </a:r>
            <a:r>
              <a:rPr lang="es-ES" sz="3000" dirty="0">
                <a:latin typeface="Maleo" panose="02000006070000000000" pitchFamily="2" charset="0"/>
                <a:ea typeface="Maleo" panose="02000006070000000000" pitchFamily="2" charset="0"/>
                <a:cs typeface="Maleo" panose="02000006070000000000" pitchFamily="2" charset="0"/>
              </a:rPr>
              <a:t>), que facilite la toma de decisiones económicas y mejore el bienestar financiero de sus usuarios.</a:t>
            </a:r>
          </a:p>
        </p:txBody>
      </p:sp>
      <p:pic>
        <p:nvPicPr>
          <p:cNvPr id="6" name="Imagen 5">
            <a:extLst>
              <a:ext uri="{FF2B5EF4-FFF2-40B4-BE49-F238E27FC236}">
                <a16:creationId xmlns:a16="http://schemas.microsoft.com/office/drawing/2014/main" id="{97389079-2FC3-4907-946D-A35CDF9652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94092" y="1831898"/>
            <a:ext cx="3823409" cy="3823409"/>
          </a:xfrm>
          <a:prstGeom prst="rect">
            <a:avLst/>
          </a:prstGeom>
        </p:spPr>
      </p:pic>
      <p:sp>
        <p:nvSpPr>
          <p:cNvPr id="19" name="CuadroTexto 18">
            <a:extLst>
              <a:ext uri="{FF2B5EF4-FFF2-40B4-BE49-F238E27FC236}">
                <a16:creationId xmlns:a16="http://schemas.microsoft.com/office/drawing/2014/main" id="{B2AF417D-8444-4CE4-8BCF-ED6A1A1F0B1D}"/>
              </a:ext>
            </a:extLst>
          </p:cNvPr>
          <p:cNvSpPr txBox="1"/>
          <p:nvPr/>
        </p:nvSpPr>
        <p:spPr>
          <a:xfrm>
            <a:off x="7945311" y="542186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4071587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970643" y="3605670"/>
            <a:ext cx="3563177"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Propuesta</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02</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8" name="Imagen 7">
            <a:extLst>
              <a:ext uri="{FF2B5EF4-FFF2-40B4-BE49-F238E27FC236}">
                <a16:creationId xmlns:a16="http://schemas.microsoft.com/office/drawing/2014/main" id="{15E9461F-CCEA-433A-8977-71F5BE993D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58180" y="1519368"/>
            <a:ext cx="4348503" cy="4348503"/>
          </a:xfrm>
          <a:prstGeom prst="rect">
            <a:avLst/>
          </a:prstGeom>
        </p:spPr>
      </p:pic>
      <p:sp>
        <p:nvSpPr>
          <p:cNvPr id="13" name="CuadroTexto 12">
            <a:extLst>
              <a:ext uri="{FF2B5EF4-FFF2-40B4-BE49-F238E27FC236}">
                <a16:creationId xmlns:a16="http://schemas.microsoft.com/office/drawing/2014/main" id="{6B7185EA-5617-4827-8406-A8C8D7E2493E}"/>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42337288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41358"/>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Características</a:t>
            </a:r>
          </a:p>
        </p:txBody>
      </p:sp>
      <p:pic>
        <p:nvPicPr>
          <p:cNvPr id="7" name="Imagen 6">
            <a:extLst>
              <a:ext uri="{FF2B5EF4-FFF2-40B4-BE49-F238E27FC236}">
                <a16:creationId xmlns:a16="http://schemas.microsoft.com/office/drawing/2014/main" id="{D7A8EC08-5495-4964-B242-DC6DDF62E38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9991" y="2367029"/>
            <a:ext cx="2073965" cy="2073965"/>
          </a:xfrm>
          <a:prstGeom prst="rect">
            <a:avLst/>
          </a:prstGeom>
        </p:spPr>
      </p:pic>
      <p:sp>
        <p:nvSpPr>
          <p:cNvPr id="19" name="CuadroTexto 18">
            <a:extLst>
              <a:ext uri="{FF2B5EF4-FFF2-40B4-BE49-F238E27FC236}">
                <a16:creationId xmlns:a16="http://schemas.microsoft.com/office/drawing/2014/main" id="{8D7A7E61-9115-44A8-836C-045E7C9E335A}"/>
              </a:ext>
            </a:extLst>
          </p:cNvPr>
          <p:cNvSpPr txBox="1"/>
          <p:nvPr/>
        </p:nvSpPr>
        <p:spPr>
          <a:xfrm>
            <a:off x="1089990" y="4350432"/>
            <a:ext cx="2073965" cy="646331"/>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Gamificación</a:t>
            </a:r>
          </a:p>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Ligera</a:t>
            </a:r>
          </a:p>
        </p:txBody>
      </p:sp>
      <p:pic>
        <p:nvPicPr>
          <p:cNvPr id="9" name="Imagen 8">
            <a:extLst>
              <a:ext uri="{FF2B5EF4-FFF2-40B4-BE49-F238E27FC236}">
                <a16:creationId xmlns:a16="http://schemas.microsoft.com/office/drawing/2014/main" id="{BA9566DB-7BA1-4C4C-A3C9-FF81498FE2B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95646" y="2533040"/>
            <a:ext cx="1973187" cy="1973187"/>
          </a:xfrm>
          <a:prstGeom prst="rect">
            <a:avLst/>
          </a:prstGeom>
        </p:spPr>
      </p:pic>
      <p:sp>
        <p:nvSpPr>
          <p:cNvPr id="20" name="CuadroTexto 19">
            <a:extLst>
              <a:ext uri="{FF2B5EF4-FFF2-40B4-BE49-F238E27FC236}">
                <a16:creationId xmlns:a16="http://schemas.microsoft.com/office/drawing/2014/main" id="{C8E59627-9A0A-44D0-9D04-BBED61F700AE}"/>
              </a:ext>
            </a:extLst>
          </p:cNvPr>
          <p:cNvSpPr txBox="1"/>
          <p:nvPr/>
        </p:nvSpPr>
        <p:spPr>
          <a:xfrm>
            <a:off x="3736014" y="4350432"/>
            <a:ext cx="2073965" cy="646331"/>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Interfaz</a:t>
            </a:r>
          </a:p>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Intuitiva</a:t>
            </a:r>
          </a:p>
        </p:txBody>
      </p:sp>
      <p:pic>
        <p:nvPicPr>
          <p:cNvPr id="21" name="Imagen 20">
            <a:extLst>
              <a:ext uri="{FF2B5EF4-FFF2-40B4-BE49-F238E27FC236}">
                <a16:creationId xmlns:a16="http://schemas.microsoft.com/office/drawing/2014/main" id="{34F6CACA-BDBA-4E97-9BDC-95F0A17AF21A}"/>
              </a:ext>
            </a:extLst>
          </p:cNvPr>
          <p:cNvPicPr>
            <a:picLocks noChangeAspect="1"/>
          </p:cNvPicPr>
          <p:nvPr/>
        </p:nvPicPr>
        <p:blipFill rotWithShape="1">
          <a:blip r:embed="rId5">
            <a:extLst>
              <a:ext uri="{28A0092B-C50C-407E-A947-70E740481C1C}">
                <a14:useLocalDpi xmlns:a14="http://schemas.microsoft.com/office/drawing/2010/main" val="0"/>
              </a:ext>
            </a:extLst>
          </a:blip>
          <a:srcRect l="1345" t="17895" r="3182" b="20840"/>
          <a:stretch/>
        </p:blipFill>
        <p:spPr>
          <a:xfrm>
            <a:off x="6111265" y="2535537"/>
            <a:ext cx="2919497" cy="1873440"/>
          </a:xfrm>
          <a:prstGeom prst="rect">
            <a:avLst/>
          </a:prstGeom>
        </p:spPr>
      </p:pic>
      <p:sp>
        <p:nvSpPr>
          <p:cNvPr id="22" name="CuadroTexto 21">
            <a:extLst>
              <a:ext uri="{FF2B5EF4-FFF2-40B4-BE49-F238E27FC236}">
                <a16:creationId xmlns:a16="http://schemas.microsoft.com/office/drawing/2014/main" id="{AFF082EC-7911-4F99-AD70-5127506066E6}"/>
              </a:ext>
            </a:extLst>
          </p:cNvPr>
          <p:cNvSpPr txBox="1"/>
          <p:nvPr/>
        </p:nvSpPr>
        <p:spPr>
          <a:xfrm>
            <a:off x="6501496" y="4346026"/>
            <a:ext cx="2073965" cy="923330"/>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Lecciones para Aprendizaje Financiero</a:t>
            </a:r>
          </a:p>
        </p:txBody>
      </p:sp>
      <p:pic>
        <p:nvPicPr>
          <p:cNvPr id="24" name="Imagen 23">
            <a:extLst>
              <a:ext uri="{FF2B5EF4-FFF2-40B4-BE49-F238E27FC236}">
                <a16:creationId xmlns:a16="http://schemas.microsoft.com/office/drawing/2014/main" id="{0C70120B-C9EC-4E41-9C5B-AA0EFEDDCD8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47521" y="2343886"/>
            <a:ext cx="2207024" cy="2207024"/>
          </a:xfrm>
          <a:prstGeom prst="rect">
            <a:avLst/>
          </a:prstGeom>
        </p:spPr>
      </p:pic>
      <p:sp>
        <p:nvSpPr>
          <p:cNvPr id="25" name="CuadroTexto 24">
            <a:extLst>
              <a:ext uri="{FF2B5EF4-FFF2-40B4-BE49-F238E27FC236}">
                <a16:creationId xmlns:a16="http://schemas.microsoft.com/office/drawing/2014/main" id="{609DFB9B-F7F6-48DE-8E7B-3ADB8E9DB58F}"/>
              </a:ext>
            </a:extLst>
          </p:cNvPr>
          <p:cNvSpPr txBox="1"/>
          <p:nvPr/>
        </p:nvSpPr>
        <p:spPr>
          <a:xfrm>
            <a:off x="9280580" y="4335766"/>
            <a:ext cx="2073965" cy="923330"/>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Costo cero con Suscripción Opcional</a:t>
            </a:r>
          </a:p>
        </p:txBody>
      </p:sp>
      <p:sp>
        <p:nvSpPr>
          <p:cNvPr id="23" name="CuadroTexto 22">
            <a:extLst>
              <a:ext uri="{FF2B5EF4-FFF2-40B4-BE49-F238E27FC236}">
                <a16:creationId xmlns:a16="http://schemas.microsoft.com/office/drawing/2014/main" id="{DEF38978-D537-4076-89D8-9A091D130D54}"/>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6964254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445229"/>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Producto</a:t>
            </a:r>
          </a:p>
        </p:txBody>
      </p:sp>
      <p:sp>
        <p:nvSpPr>
          <p:cNvPr id="2" name="CuadroTexto 1">
            <a:extLst>
              <a:ext uri="{FF2B5EF4-FFF2-40B4-BE49-F238E27FC236}">
                <a16:creationId xmlns:a16="http://schemas.microsoft.com/office/drawing/2014/main" id="{99EA20AF-46F8-4D17-B681-32DF8C918F17}"/>
              </a:ext>
            </a:extLst>
          </p:cNvPr>
          <p:cNvSpPr txBox="1"/>
          <p:nvPr/>
        </p:nvSpPr>
        <p:spPr>
          <a:xfrm>
            <a:off x="1603513" y="2928730"/>
            <a:ext cx="8142357" cy="369332"/>
          </a:xfrm>
          <a:prstGeom prst="rect">
            <a:avLst/>
          </a:prstGeom>
          <a:noFill/>
        </p:spPr>
        <p:txBody>
          <a:bodyPr wrap="none" rtlCol="0">
            <a:spAutoFit/>
          </a:bodyPr>
          <a:lstStyle/>
          <a:p>
            <a:r>
              <a:rPr lang="es-ES" dirty="0"/>
              <a:t>Video de </a:t>
            </a:r>
            <a:r>
              <a:rPr lang="es-ES" dirty="0" err="1"/>
              <a:t>youtube</a:t>
            </a:r>
            <a:r>
              <a:rPr lang="es-ES" dirty="0"/>
              <a:t> va aca </a:t>
            </a:r>
            <a:r>
              <a:rPr lang="es-ES" dirty="0" err="1"/>
              <a:t>monstrando</a:t>
            </a:r>
            <a:r>
              <a:rPr lang="es-ES" dirty="0"/>
              <a:t> el prototipo o imágenes o presentación en vivo</a:t>
            </a:r>
            <a:endParaRPr lang="es-CO" dirty="0"/>
          </a:p>
        </p:txBody>
      </p:sp>
    </p:spTree>
    <p:extLst>
      <p:ext uri="{BB962C8B-B14F-4D97-AF65-F5344CB8AC3E}">
        <p14:creationId xmlns:p14="http://schemas.microsoft.com/office/powerpoint/2010/main" val="16029314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14854"/>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Herramientas Tecnológicas:</a:t>
            </a:r>
          </a:p>
        </p:txBody>
      </p:sp>
      <p:pic>
        <p:nvPicPr>
          <p:cNvPr id="6" name="Imagen 5">
            <a:extLst>
              <a:ext uri="{FF2B5EF4-FFF2-40B4-BE49-F238E27FC236}">
                <a16:creationId xmlns:a16="http://schemas.microsoft.com/office/drawing/2014/main" id="{90559C7B-22AB-421B-B261-BEEC3BC0F061}"/>
              </a:ext>
            </a:extLst>
          </p:cNvPr>
          <p:cNvPicPr>
            <a:picLocks noChangeAspect="1"/>
          </p:cNvPicPr>
          <p:nvPr/>
        </p:nvPicPr>
        <p:blipFill rotWithShape="1">
          <a:blip r:embed="rId3">
            <a:extLst>
              <a:ext uri="{28A0092B-C50C-407E-A947-70E740481C1C}">
                <a14:useLocalDpi xmlns:a14="http://schemas.microsoft.com/office/drawing/2010/main" val="0"/>
              </a:ext>
            </a:extLst>
          </a:blip>
          <a:srcRect l="13713" t="10257" r="12227" b="12578"/>
          <a:stretch/>
        </p:blipFill>
        <p:spPr>
          <a:xfrm>
            <a:off x="938711" y="2589092"/>
            <a:ext cx="2001079" cy="2084985"/>
          </a:xfrm>
          <a:prstGeom prst="rect">
            <a:avLst/>
          </a:prstGeom>
        </p:spPr>
      </p:pic>
      <p:pic>
        <p:nvPicPr>
          <p:cNvPr id="8" name="Imagen 7">
            <a:extLst>
              <a:ext uri="{FF2B5EF4-FFF2-40B4-BE49-F238E27FC236}">
                <a16:creationId xmlns:a16="http://schemas.microsoft.com/office/drawing/2014/main" id="{ACBFBEA9-3A83-4DF4-83F8-9BFAB07F39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96728" y="2717831"/>
            <a:ext cx="3175724" cy="1956246"/>
          </a:xfrm>
          <a:prstGeom prst="rect">
            <a:avLst/>
          </a:prstGeom>
        </p:spPr>
      </p:pic>
      <p:pic>
        <p:nvPicPr>
          <p:cNvPr id="12" name="Imagen 11">
            <a:extLst>
              <a:ext uri="{FF2B5EF4-FFF2-40B4-BE49-F238E27FC236}">
                <a16:creationId xmlns:a16="http://schemas.microsoft.com/office/drawing/2014/main" id="{3D149849-2A1C-40E4-9724-ED720A75131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07411" y="2732348"/>
            <a:ext cx="1956246" cy="1956246"/>
          </a:xfrm>
          <a:prstGeom prst="rect">
            <a:avLst/>
          </a:prstGeom>
        </p:spPr>
      </p:pic>
      <p:pic>
        <p:nvPicPr>
          <p:cNvPr id="19" name="Imagen 18">
            <a:extLst>
              <a:ext uri="{FF2B5EF4-FFF2-40B4-BE49-F238E27FC236}">
                <a16:creationId xmlns:a16="http://schemas.microsoft.com/office/drawing/2014/main" id="{2EC0C547-1EAA-49B0-BA5B-41A0652C141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230469" y="2469611"/>
            <a:ext cx="2390031" cy="2390031"/>
          </a:xfrm>
          <a:prstGeom prst="rect">
            <a:avLst/>
          </a:prstGeom>
        </p:spPr>
      </p:pic>
      <p:sp>
        <p:nvSpPr>
          <p:cNvPr id="16" name="CuadroTexto 15">
            <a:extLst>
              <a:ext uri="{FF2B5EF4-FFF2-40B4-BE49-F238E27FC236}">
                <a16:creationId xmlns:a16="http://schemas.microsoft.com/office/drawing/2014/main" id="{11B8132B-52B5-4492-BB88-A3DFEFC429CE}"/>
              </a:ext>
            </a:extLst>
          </p:cNvPr>
          <p:cNvSpPr txBox="1"/>
          <p:nvPr/>
        </p:nvSpPr>
        <p:spPr>
          <a:xfrm>
            <a:off x="0" y="6060909"/>
            <a:ext cx="12191999"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Wikipedia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Commons</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https://commons.wikimedia.org/wiki/</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42640455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10</a:t>
            </a:r>
            <a:endParaRPr lang="es-CO" sz="2400" dirty="0">
              <a:latin typeface="Maleo" panose="02000006070000000000" pitchFamily="2" charset="0"/>
              <a:ea typeface="Maleo" panose="02000006070000000000" pitchFamily="2" charset="0"/>
              <a:cs typeface="Maleo" panose="02000006070000000000" pitchFamily="2" charset="0"/>
            </a:endParaRPr>
          </a:p>
        </p:txBody>
      </p:sp>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Arquitectura</a:t>
            </a:r>
          </a:p>
        </p:txBody>
      </p:sp>
      <p:pic>
        <p:nvPicPr>
          <p:cNvPr id="16" name="Imagen 15">
            <a:extLst>
              <a:ext uri="{FF2B5EF4-FFF2-40B4-BE49-F238E27FC236}">
                <a16:creationId xmlns:a16="http://schemas.microsoft.com/office/drawing/2014/main" id="{BFD73A03-7BDF-4F01-A684-05037E5A58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3084" y="2458702"/>
            <a:ext cx="4714875" cy="3143250"/>
          </a:xfrm>
          <a:prstGeom prst="rect">
            <a:avLst/>
          </a:prstGeom>
        </p:spPr>
      </p:pic>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3">
            <a:duotone>
              <a:srgbClr val="A5A5A5">
                <a:shade val="45000"/>
                <a:satMod val="135000"/>
              </a:srgb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pic>
        <p:nvPicPr>
          <p:cNvPr id="7" name="Imagen 6">
            <a:extLst>
              <a:ext uri="{FF2B5EF4-FFF2-40B4-BE49-F238E27FC236}">
                <a16:creationId xmlns:a16="http://schemas.microsoft.com/office/drawing/2014/main" id="{F8E2AC79-B3F8-4A77-8271-3ECA6BCE5C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10402" y="1879557"/>
            <a:ext cx="5558514" cy="3943301"/>
          </a:xfrm>
          <a:prstGeom prst="rect">
            <a:avLst/>
          </a:prstGeom>
        </p:spPr>
      </p:pic>
      <p:sp>
        <p:nvSpPr>
          <p:cNvPr id="19" name="CuadroTexto 18">
            <a:extLst>
              <a:ext uri="{FF2B5EF4-FFF2-40B4-BE49-F238E27FC236}">
                <a16:creationId xmlns:a16="http://schemas.microsoft.com/office/drawing/2014/main" id="{07912B02-AD56-447C-9AF8-DE57542E301D}"/>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1229622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9"/>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Estudio de Mercado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03</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8" name="Imagen 7">
            <a:extLst>
              <a:ext uri="{FF2B5EF4-FFF2-40B4-BE49-F238E27FC236}">
                <a16:creationId xmlns:a16="http://schemas.microsoft.com/office/drawing/2014/main" id="{68A79749-7559-45DD-99FF-7C464C105F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48522" y="1302604"/>
            <a:ext cx="4960203" cy="4960203"/>
          </a:xfrm>
          <a:prstGeom prst="rect">
            <a:avLst/>
          </a:prstGeom>
        </p:spPr>
      </p:pic>
      <p:sp>
        <p:nvSpPr>
          <p:cNvPr id="13" name="CuadroTexto 12">
            <a:extLst>
              <a:ext uri="{FF2B5EF4-FFF2-40B4-BE49-F238E27FC236}">
                <a16:creationId xmlns:a16="http://schemas.microsoft.com/office/drawing/2014/main" id="{780B02E3-8987-48D0-869A-0C7B19C207C6}"/>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19209966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03 ESTUDIO DE MERCADO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Competencia</a:t>
            </a:r>
          </a:p>
        </p:txBody>
      </p:sp>
      <p:pic>
        <p:nvPicPr>
          <p:cNvPr id="6" name="Imagen 5">
            <a:extLst>
              <a:ext uri="{FF2B5EF4-FFF2-40B4-BE49-F238E27FC236}">
                <a16:creationId xmlns:a16="http://schemas.microsoft.com/office/drawing/2014/main" id="{DF9C93E4-284A-43E5-BA96-14974DAB9C17}"/>
              </a:ext>
            </a:extLst>
          </p:cNvPr>
          <p:cNvPicPr>
            <a:picLocks noChangeAspect="1"/>
          </p:cNvPicPr>
          <p:nvPr/>
        </p:nvPicPr>
        <p:blipFill rotWithShape="1">
          <a:blip r:embed="rId3">
            <a:extLst>
              <a:ext uri="{28A0092B-C50C-407E-A947-70E740481C1C}">
                <a14:useLocalDpi xmlns:a14="http://schemas.microsoft.com/office/drawing/2010/main" val="0"/>
              </a:ext>
            </a:extLst>
          </a:blip>
          <a:srcRect l="11432" r="40925"/>
          <a:stretch/>
        </p:blipFill>
        <p:spPr>
          <a:xfrm>
            <a:off x="1590260" y="2410560"/>
            <a:ext cx="2955236" cy="1827900"/>
          </a:xfrm>
          <a:prstGeom prst="rect">
            <a:avLst/>
          </a:prstGeom>
        </p:spPr>
      </p:pic>
      <p:pic>
        <p:nvPicPr>
          <p:cNvPr id="9" name="Imagen 8">
            <a:extLst>
              <a:ext uri="{FF2B5EF4-FFF2-40B4-BE49-F238E27FC236}">
                <a16:creationId xmlns:a16="http://schemas.microsoft.com/office/drawing/2014/main" id="{373F27D9-EA49-479C-B57C-32738DFEEA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95987" y="3558157"/>
            <a:ext cx="3235732" cy="1812010"/>
          </a:xfrm>
          <a:prstGeom prst="rect">
            <a:avLst/>
          </a:prstGeom>
        </p:spPr>
      </p:pic>
      <p:pic>
        <p:nvPicPr>
          <p:cNvPr id="19" name="Imagen 18">
            <a:extLst>
              <a:ext uri="{FF2B5EF4-FFF2-40B4-BE49-F238E27FC236}">
                <a16:creationId xmlns:a16="http://schemas.microsoft.com/office/drawing/2014/main" id="{226C1705-EF40-4FCF-82B6-25F64E179A5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882211" y="2410560"/>
            <a:ext cx="3235732" cy="1820099"/>
          </a:xfrm>
          <a:prstGeom prst="rect">
            <a:avLst/>
          </a:prstGeom>
        </p:spPr>
      </p:pic>
      <p:sp>
        <p:nvSpPr>
          <p:cNvPr id="16" name="CuadroTexto 15">
            <a:extLst>
              <a:ext uri="{FF2B5EF4-FFF2-40B4-BE49-F238E27FC236}">
                <a16:creationId xmlns:a16="http://schemas.microsoft.com/office/drawing/2014/main" id="{927A3D74-B421-4DBB-A711-2B796F935EB1}"/>
              </a:ext>
            </a:extLst>
          </p:cNvPr>
          <p:cNvSpPr txBox="1"/>
          <p:nvPr/>
        </p:nvSpPr>
        <p:spPr>
          <a:xfrm>
            <a:off x="1387615" y="4337500"/>
            <a:ext cx="3327640" cy="830997"/>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Entre nosotros, BBVA, 2024, Origen:</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https://view.ceros.com/avalon/bbva-entre-nosotros-13/p/4</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0E7FB5C1-ECAB-447C-B665-F18103CFD80E}"/>
              </a:ext>
            </a:extLst>
          </p:cNvPr>
          <p:cNvSpPr txBox="1"/>
          <p:nvPr/>
        </p:nvSpPr>
        <p:spPr>
          <a:xfrm>
            <a:off x="7616304" y="4298779"/>
            <a:ext cx="3981282" cy="1354217"/>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Nequi</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renueva su imagen: cuenta con más de 17,5 millones de clientes en Colombia, Neira J. G., Valora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Analitik</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2023, Recuperado de: https://www.valoraanalitik.com/nequi-renueva-su-imagen-cuenta-con-mas-de-17-5-millones-de</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clientes-en-</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colombia</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1" name="CuadroTexto 20">
            <a:extLst>
              <a:ext uri="{FF2B5EF4-FFF2-40B4-BE49-F238E27FC236}">
                <a16:creationId xmlns:a16="http://schemas.microsoft.com/office/drawing/2014/main" id="{20ADE094-E39D-4975-8BA0-68FFAC5E121A}"/>
              </a:ext>
            </a:extLst>
          </p:cNvPr>
          <p:cNvSpPr txBox="1"/>
          <p:nvPr/>
        </p:nvSpPr>
        <p:spPr>
          <a:xfrm>
            <a:off x="3167270" y="5504040"/>
            <a:ext cx="5751443" cy="1107996"/>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Qué es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Fintonic</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y cómo nos puede ayudar en el</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control financiero, Ruiz R., 2019, Recuperado de: https://eiposgrados.com/blog-direccion-financiera/que-es-fintonic-y-como-nos-puede-ayudar-en-el-control-financiero/</a:t>
            </a:r>
          </a:p>
          <a:p>
            <a:pPr algn="ct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7105998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03 ESTUDIO DE MERCADO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637040" y="1115416"/>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Las 5 Fuerzas de Porter</a:t>
            </a:r>
          </a:p>
        </p:txBody>
      </p:sp>
      <p:pic>
        <p:nvPicPr>
          <p:cNvPr id="6" name="Imagen 5">
            <a:extLst>
              <a:ext uri="{FF2B5EF4-FFF2-40B4-BE49-F238E27FC236}">
                <a16:creationId xmlns:a16="http://schemas.microsoft.com/office/drawing/2014/main" id="{D2360408-F8BC-40D5-AAC7-E2464BFA34D5}"/>
              </a:ext>
            </a:extLst>
          </p:cNvPr>
          <p:cNvPicPr>
            <a:picLocks noChangeAspect="1"/>
          </p:cNvPicPr>
          <p:nvPr/>
        </p:nvPicPr>
        <p:blipFill rotWithShape="1">
          <a:blip r:embed="rId3">
            <a:extLst>
              <a:ext uri="{28A0092B-C50C-407E-A947-70E740481C1C}">
                <a14:useLocalDpi xmlns:a14="http://schemas.microsoft.com/office/drawing/2010/main" val="0"/>
              </a:ext>
            </a:extLst>
          </a:blip>
          <a:srcRect t="28083" b="10415"/>
          <a:stretch/>
        </p:blipFill>
        <p:spPr>
          <a:xfrm>
            <a:off x="122018" y="2723161"/>
            <a:ext cx="5457148" cy="1514962"/>
          </a:xfrm>
          <a:prstGeom prst="rect">
            <a:avLst/>
          </a:prstGeom>
        </p:spPr>
      </p:pic>
      <p:sp>
        <p:nvSpPr>
          <p:cNvPr id="16" name="CuadroTexto 15">
            <a:extLst>
              <a:ext uri="{FF2B5EF4-FFF2-40B4-BE49-F238E27FC236}">
                <a16:creationId xmlns:a16="http://schemas.microsoft.com/office/drawing/2014/main" id="{A9B4A806-31EA-496A-8444-DCB429C9987C}"/>
              </a:ext>
            </a:extLst>
          </p:cNvPr>
          <p:cNvSpPr txBox="1"/>
          <p:nvPr/>
        </p:nvSpPr>
        <p:spPr>
          <a:xfrm>
            <a:off x="5486400" y="1995891"/>
            <a:ext cx="6440556" cy="3477875"/>
          </a:xfrm>
          <a:prstGeom prst="rect">
            <a:avLst/>
          </a:prstGeom>
          <a:noFill/>
        </p:spPr>
        <p:txBody>
          <a:bodyPr wrap="square" rtlCol="0">
            <a:spAutoFit/>
          </a:bodyPr>
          <a:lstStyle/>
          <a:p>
            <a:pPr marL="457200" indent="-457200" algn="just">
              <a:buAutoNum type="arabicParenR"/>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Poder del cliente (Baja)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Los usuarios pueden escoger una gama amplia de opciones.</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La plataforma se concentra en opciones personalizadas, además de atraer público mediante su modelo </a:t>
            </a:r>
            <a:r>
              <a:rPr lang="es-ES" sz="2000" dirty="0" err="1">
                <a:latin typeface="Maleo" panose="02000006070000000000" pitchFamily="2" charset="0"/>
                <a:ea typeface="Maleo" panose="02000006070000000000" pitchFamily="2" charset="0"/>
                <a:cs typeface="Maleo" panose="02000006070000000000" pitchFamily="2" charset="0"/>
              </a:rPr>
              <a:t>freemium</a:t>
            </a:r>
            <a:r>
              <a:rPr lang="es-ES" sz="2000" dirty="0">
                <a:latin typeface="Maleo" panose="02000006070000000000" pitchFamily="2" charset="0"/>
                <a:ea typeface="Maleo" panose="02000006070000000000" pitchFamily="2" charset="0"/>
                <a:cs typeface="Maleo" panose="02000006070000000000" pitchFamily="2" charset="0"/>
              </a:rPr>
              <a:t>.</a:t>
            </a:r>
          </a:p>
          <a:p>
            <a:pPr marL="457200" indent="-457200" algn="just">
              <a:buFont typeface="+mj-lt"/>
              <a:buAutoNum type="arabicParenR" startAt="2"/>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Poder del proveedor (Alta)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Se busca promover la plataforma mediante plataformas como Google </a:t>
            </a:r>
            <a:r>
              <a:rPr lang="es-ES" sz="2000" dirty="0" err="1">
                <a:latin typeface="Maleo" panose="02000006070000000000" pitchFamily="2" charset="0"/>
                <a:ea typeface="Maleo" panose="02000006070000000000" pitchFamily="2" charset="0"/>
                <a:cs typeface="Maleo" panose="02000006070000000000" pitchFamily="2" charset="0"/>
              </a:rPr>
              <a:t>Ads</a:t>
            </a:r>
            <a:r>
              <a:rPr lang="es-ES" sz="2000" dirty="0">
                <a:latin typeface="Maleo" panose="02000006070000000000" pitchFamily="2" charset="0"/>
                <a:ea typeface="Maleo" panose="02000006070000000000" pitchFamily="2" charset="0"/>
                <a:cs typeface="Maleo" panose="02000006070000000000" pitchFamily="2" charset="0"/>
              </a:rPr>
              <a:t>.</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Junto a ello, se busca desarrollar alianzas con universidades y con sectores públicos.</a:t>
            </a: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a:p>
            <a:pPr marL="457200" indent="-457200" algn="just">
              <a:buFont typeface="+mj-lt"/>
              <a:buAutoNum type="arabicParenR" startAt="3"/>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Nuevos competidores entrantes (Moderada)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Crear una app similar o con alternativas es posible.</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Se busca mitigar buscando crear confianza, una reputación estable, y cumpliendo las normativas vigentes.</a:t>
            </a: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7C5D1148-E23E-4C13-9F8C-F10E627FB931}"/>
              </a:ext>
            </a:extLst>
          </p:cNvPr>
          <p:cNvSpPr txBox="1"/>
          <p:nvPr/>
        </p:nvSpPr>
        <p:spPr>
          <a:xfrm>
            <a:off x="265043" y="4316288"/>
            <a:ext cx="5192105" cy="584775"/>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5 fuerzas de Porter: análisis de las fuerzas competitivas de una empresa, 2025, Recuperado de: https://thepower.education/blog/business/las-5-fuerzas-de-porter</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25211623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03 ESTUDIO DE MERCADO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637040" y="1115416"/>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Las 5 Fuerzas de Porter</a:t>
            </a:r>
          </a:p>
        </p:txBody>
      </p:sp>
      <p:pic>
        <p:nvPicPr>
          <p:cNvPr id="6" name="Imagen 5">
            <a:extLst>
              <a:ext uri="{FF2B5EF4-FFF2-40B4-BE49-F238E27FC236}">
                <a16:creationId xmlns:a16="http://schemas.microsoft.com/office/drawing/2014/main" id="{D2360408-F8BC-40D5-AAC7-E2464BFA34D5}"/>
              </a:ext>
            </a:extLst>
          </p:cNvPr>
          <p:cNvPicPr>
            <a:picLocks noChangeAspect="1"/>
          </p:cNvPicPr>
          <p:nvPr/>
        </p:nvPicPr>
        <p:blipFill rotWithShape="1">
          <a:blip r:embed="rId3">
            <a:extLst>
              <a:ext uri="{28A0092B-C50C-407E-A947-70E740481C1C}">
                <a14:useLocalDpi xmlns:a14="http://schemas.microsoft.com/office/drawing/2010/main" val="0"/>
              </a:ext>
            </a:extLst>
          </a:blip>
          <a:srcRect t="28083" b="10415"/>
          <a:stretch/>
        </p:blipFill>
        <p:spPr>
          <a:xfrm>
            <a:off x="122018" y="2723161"/>
            <a:ext cx="5457148" cy="1514962"/>
          </a:xfrm>
          <a:prstGeom prst="rect">
            <a:avLst/>
          </a:prstGeom>
        </p:spPr>
      </p:pic>
      <p:sp>
        <p:nvSpPr>
          <p:cNvPr id="16" name="CuadroTexto 15">
            <a:extLst>
              <a:ext uri="{FF2B5EF4-FFF2-40B4-BE49-F238E27FC236}">
                <a16:creationId xmlns:a16="http://schemas.microsoft.com/office/drawing/2014/main" id="{A9B4A806-31EA-496A-8444-DCB429C9987C}"/>
              </a:ext>
            </a:extLst>
          </p:cNvPr>
          <p:cNvSpPr txBox="1"/>
          <p:nvPr/>
        </p:nvSpPr>
        <p:spPr>
          <a:xfrm>
            <a:off x="5486400" y="1974485"/>
            <a:ext cx="6440556" cy="3170099"/>
          </a:xfrm>
          <a:prstGeom prst="rect">
            <a:avLst/>
          </a:prstGeom>
          <a:noFill/>
        </p:spPr>
        <p:txBody>
          <a:bodyPr wrap="square" rtlCol="0">
            <a:spAutoFit/>
          </a:bodyPr>
          <a:lstStyle/>
          <a:p>
            <a:pPr marL="457200" indent="-457200" algn="just">
              <a:buFont typeface="+mj-lt"/>
              <a:buAutoNum type="arabicParenR" startAt="4"/>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Amenazas de sustitutivos (Moderada)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Amenaza de contenido gratuito por </a:t>
            </a:r>
            <a:r>
              <a:rPr lang="es-ES" sz="2000" dirty="0" err="1">
                <a:latin typeface="Maleo" panose="02000006070000000000" pitchFamily="2" charset="0"/>
                <a:ea typeface="Maleo" panose="02000006070000000000" pitchFamily="2" charset="0"/>
                <a:cs typeface="Maleo" panose="02000006070000000000" pitchFamily="2" charset="0"/>
              </a:rPr>
              <a:t>finfluencers</a:t>
            </a:r>
            <a:r>
              <a:rPr lang="es-ES" sz="2000" dirty="0">
                <a:latin typeface="Maleo" panose="02000006070000000000" pitchFamily="2" charset="0"/>
                <a:ea typeface="Maleo" panose="02000006070000000000" pitchFamily="2" charset="0"/>
                <a:cs typeface="Maleo" panose="02000006070000000000" pitchFamily="2" charset="0"/>
              </a:rPr>
              <a:t> y modelos básicos de aprendizaje.</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La plataforma debe diferenciarse por su autoridad técnica, adaptabilidad pedagógica y veracidad.</a:t>
            </a: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a:p>
            <a:pPr marL="457200" indent="-457200" algn="just">
              <a:buFont typeface="+mj-lt"/>
              <a:buAutoNum type="arabicParenR" startAt="5"/>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Naturaleza de rivalidad (Moderada)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Existen opciones parecidas por la banca tradicional, dadas por plataformas existentes como </a:t>
            </a:r>
            <a:r>
              <a:rPr lang="es-ES" sz="2000" dirty="0" err="1">
                <a:latin typeface="Maleo" panose="02000006070000000000" pitchFamily="2" charset="0"/>
                <a:ea typeface="Maleo" panose="02000006070000000000" pitchFamily="2" charset="0"/>
                <a:cs typeface="Maleo" panose="02000006070000000000" pitchFamily="2" charset="0"/>
              </a:rPr>
              <a:t>Nequi</a:t>
            </a:r>
            <a:r>
              <a:rPr lang="es-ES" sz="2000" dirty="0">
                <a:latin typeface="Maleo" panose="02000006070000000000" pitchFamily="2" charset="0"/>
                <a:ea typeface="Maleo" panose="02000006070000000000" pitchFamily="2" charset="0"/>
                <a:cs typeface="Maleo" panose="02000006070000000000" pitchFamily="2" charset="0"/>
              </a:rPr>
              <a:t>, </a:t>
            </a:r>
            <a:r>
              <a:rPr lang="es-ES" sz="2000" dirty="0" err="1">
                <a:latin typeface="Maleo" panose="02000006070000000000" pitchFamily="2" charset="0"/>
                <a:ea typeface="Maleo" panose="02000006070000000000" pitchFamily="2" charset="0"/>
                <a:cs typeface="Maleo" panose="02000006070000000000" pitchFamily="2" charset="0"/>
              </a:rPr>
              <a:t>Fintonic</a:t>
            </a:r>
            <a:r>
              <a:rPr lang="es-ES" sz="2000" dirty="0">
                <a:latin typeface="Maleo" panose="02000006070000000000" pitchFamily="2" charset="0"/>
                <a:ea typeface="Maleo" panose="02000006070000000000" pitchFamily="2" charset="0"/>
                <a:cs typeface="Maleo" panose="02000006070000000000" pitchFamily="2" charset="0"/>
              </a:rPr>
              <a:t>, </a:t>
            </a:r>
            <a:r>
              <a:rPr lang="es-ES" sz="2000" dirty="0" err="1">
                <a:latin typeface="Maleo" panose="02000006070000000000" pitchFamily="2" charset="0"/>
                <a:ea typeface="Maleo" panose="02000006070000000000" pitchFamily="2" charset="0"/>
                <a:cs typeface="Maleo" panose="02000006070000000000" pitchFamily="2" charset="0"/>
              </a:rPr>
              <a:t>Bconomy</a:t>
            </a:r>
            <a:r>
              <a:rPr lang="es-ES" sz="2000" dirty="0">
                <a:latin typeface="Maleo" panose="02000006070000000000" pitchFamily="2" charset="0"/>
                <a:ea typeface="Maleo" panose="02000006070000000000" pitchFamily="2" charset="0"/>
                <a:cs typeface="Maleo" panose="02000006070000000000" pitchFamily="2" charset="0"/>
              </a:rPr>
              <a:t>, etc.</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La plataforma debe diferenciarse por su enfoque exclusivo al </a:t>
            </a:r>
            <a:r>
              <a:rPr lang="es-ES" sz="2000" dirty="0" err="1">
                <a:latin typeface="Maleo" panose="02000006070000000000" pitchFamily="2" charset="0"/>
                <a:ea typeface="Maleo" panose="02000006070000000000" pitchFamily="2" charset="0"/>
                <a:cs typeface="Maleo" panose="02000006070000000000" pitchFamily="2" charset="0"/>
              </a:rPr>
              <a:t>edtech</a:t>
            </a:r>
            <a:r>
              <a:rPr lang="es-ES" sz="2000" dirty="0">
                <a:latin typeface="Maleo" panose="02000006070000000000" pitchFamily="2" charset="0"/>
                <a:ea typeface="Maleo" panose="02000006070000000000" pitchFamily="2" charset="0"/>
                <a:cs typeface="Maleo" panose="02000006070000000000" pitchFamily="2" charset="0"/>
              </a:rPr>
              <a:t> en vez de gestionar transacciones y de monitoreo.</a:t>
            </a: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a:p>
            <a:pPr marL="457200" indent="-457200" algn="just">
              <a:buAutoNum type="arabicParenR"/>
            </a:pP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9" name="CuadroTexto 18">
            <a:extLst>
              <a:ext uri="{FF2B5EF4-FFF2-40B4-BE49-F238E27FC236}">
                <a16:creationId xmlns:a16="http://schemas.microsoft.com/office/drawing/2014/main" id="{54DA38AB-1911-4C15-B547-C1D7C1D4137B}"/>
              </a:ext>
            </a:extLst>
          </p:cNvPr>
          <p:cNvSpPr txBox="1"/>
          <p:nvPr/>
        </p:nvSpPr>
        <p:spPr>
          <a:xfrm>
            <a:off x="265043" y="4316288"/>
            <a:ext cx="5192105" cy="584775"/>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5 fuerzas de Porter: análisis de las fuerzas competitivas de una empresa, 2025, Recuperado de: https://thepower.education/blog/business/las-5-fuerzas-de-porter</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4826881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Modelo de Negocio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04</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6306F7AD-9F8A-43FD-A5FC-B7D23300FBBC}"/>
              </a:ext>
            </a:extLst>
          </p:cNvPr>
          <p:cNvPicPr>
            <a:picLocks noChangeAspect="1"/>
          </p:cNvPicPr>
          <p:nvPr/>
        </p:nvPicPr>
        <p:blipFill rotWithShape="1">
          <a:blip r:embed="rId3">
            <a:extLst>
              <a:ext uri="{28A0092B-C50C-407E-A947-70E740481C1C}">
                <a14:useLocalDpi xmlns:a14="http://schemas.microsoft.com/office/drawing/2010/main" val="0"/>
              </a:ext>
            </a:extLst>
          </a:blip>
          <a:srcRect t="21073" b="17581"/>
          <a:stretch/>
        </p:blipFill>
        <p:spPr>
          <a:xfrm>
            <a:off x="1109621" y="1804491"/>
            <a:ext cx="5764340" cy="3536131"/>
          </a:xfrm>
          <a:prstGeom prst="rect">
            <a:avLst/>
          </a:prstGeom>
        </p:spPr>
      </p:pic>
    </p:spTree>
    <p:extLst>
      <p:ext uri="{BB962C8B-B14F-4D97-AF65-F5344CB8AC3E}">
        <p14:creationId xmlns:p14="http://schemas.microsoft.com/office/powerpoint/2010/main" val="28593999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0" y="1115416"/>
            <a:ext cx="12192000"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Modelo </a:t>
            </a:r>
            <a:r>
              <a:rPr lang="es-ES" sz="4400" dirty="0" err="1">
                <a:solidFill>
                  <a:srgbClr val="8D2F3C"/>
                </a:solidFill>
                <a:latin typeface="Iosevka" panose="02000509030000000004" pitchFamily="49" charset="0"/>
                <a:ea typeface="Iosevka" panose="02000509030000000004" pitchFamily="49" charset="0"/>
                <a:cs typeface="Iosevka" panose="02000509030000000004" pitchFamily="49" charset="0"/>
              </a:rPr>
              <a:t>Canvas</a:t>
            </a:r>
            <a:endPar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pic>
        <p:nvPicPr>
          <p:cNvPr id="7" name="Imagen 6">
            <a:extLst>
              <a:ext uri="{FF2B5EF4-FFF2-40B4-BE49-F238E27FC236}">
                <a16:creationId xmlns:a16="http://schemas.microsoft.com/office/drawing/2014/main" id="{828F54BC-09FD-499B-BA40-2DEDB1609B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51312" y="1818597"/>
            <a:ext cx="6052931" cy="4250477"/>
          </a:xfrm>
          <a:prstGeom prst="rect">
            <a:avLst/>
          </a:prstGeom>
        </p:spPr>
      </p:pic>
      <p:sp>
        <p:nvSpPr>
          <p:cNvPr id="16" name="CuadroTexto 15">
            <a:extLst>
              <a:ext uri="{FF2B5EF4-FFF2-40B4-BE49-F238E27FC236}">
                <a16:creationId xmlns:a16="http://schemas.microsoft.com/office/drawing/2014/main" id="{5B053B76-1B6C-442A-BDFA-3C4ACF9B4733}"/>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12936957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Características del Modelo de Negocio</a:t>
            </a:r>
          </a:p>
        </p:txBody>
      </p:sp>
      <p:sp>
        <p:nvSpPr>
          <p:cNvPr id="12" name="CuadroTexto 11">
            <a:extLst>
              <a:ext uri="{FF2B5EF4-FFF2-40B4-BE49-F238E27FC236}">
                <a16:creationId xmlns:a16="http://schemas.microsoft.com/office/drawing/2014/main" id="{7748A24D-0A2D-4262-AB86-37FBF30FDF46}"/>
              </a:ext>
            </a:extLst>
          </p:cNvPr>
          <p:cNvSpPr txBox="1"/>
          <p:nvPr/>
        </p:nvSpPr>
        <p:spPr>
          <a:xfrm>
            <a:off x="869276" y="2714547"/>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01</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6" name="CuadroTexto 15">
            <a:extLst>
              <a:ext uri="{FF2B5EF4-FFF2-40B4-BE49-F238E27FC236}">
                <a16:creationId xmlns:a16="http://schemas.microsoft.com/office/drawing/2014/main" id="{6BCCD204-6785-4C4E-86C5-3500C846390E}"/>
              </a:ext>
            </a:extLst>
          </p:cNvPr>
          <p:cNvSpPr txBox="1"/>
          <p:nvPr/>
        </p:nvSpPr>
        <p:spPr>
          <a:xfrm>
            <a:off x="869276" y="4613744"/>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02</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9" name="CuadroTexto 18">
            <a:extLst>
              <a:ext uri="{FF2B5EF4-FFF2-40B4-BE49-F238E27FC236}">
                <a16:creationId xmlns:a16="http://schemas.microsoft.com/office/drawing/2014/main" id="{00D2631A-8E4C-44E4-9649-F46301566DCB}"/>
              </a:ext>
            </a:extLst>
          </p:cNvPr>
          <p:cNvSpPr txBox="1"/>
          <p:nvPr/>
        </p:nvSpPr>
        <p:spPr>
          <a:xfrm>
            <a:off x="6289712" y="2714547"/>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03</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20" name="CuadroTexto 19">
            <a:extLst>
              <a:ext uri="{FF2B5EF4-FFF2-40B4-BE49-F238E27FC236}">
                <a16:creationId xmlns:a16="http://schemas.microsoft.com/office/drawing/2014/main" id="{75D2E2E0-844C-4007-A842-5A23562853A4}"/>
              </a:ext>
            </a:extLst>
          </p:cNvPr>
          <p:cNvSpPr txBox="1"/>
          <p:nvPr/>
        </p:nvSpPr>
        <p:spPr>
          <a:xfrm>
            <a:off x="6289712" y="4613744"/>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04</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21" name="CuadroTexto 20">
            <a:extLst>
              <a:ext uri="{FF2B5EF4-FFF2-40B4-BE49-F238E27FC236}">
                <a16:creationId xmlns:a16="http://schemas.microsoft.com/office/drawing/2014/main" id="{D807682A-4B79-4150-BDBA-78B64B7D706F}"/>
              </a:ext>
            </a:extLst>
          </p:cNvPr>
          <p:cNvSpPr txBox="1"/>
          <p:nvPr/>
        </p:nvSpPr>
        <p:spPr>
          <a:xfrm>
            <a:off x="1716552" y="2576047"/>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Accesibilidad</a:t>
            </a:r>
          </a:p>
          <a:p>
            <a:pPr algn="just"/>
            <a:r>
              <a:rPr lang="es-ES" sz="2000" dirty="0">
                <a:latin typeface="Maleo" panose="02000006070000000000" pitchFamily="2" charset="0"/>
                <a:ea typeface="Maleo" panose="02000006070000000000" pitchFamily="2" charset="0"/>
                <a:cs typeface="Maleo" panose="02000006070000000000" pitchFamily="2" charset="0"/>
              </a:rPr>
              <a:t>Garantizar el acceso a la plataforma al público objetivo mediante cualquier navegador con conexión a internet, facilitando su uso sin barreras técnicas.</a:t>
            </a:r>
          </a:p>
        </p:txBody>
      </p:sp>
      <p:sp>
        <p:nvSpPr>
          <p:cNvPr id="22" name="CuadroTexto 21">
            <a:extLst>
              <a:ext uri="{FF2B5EF4-FFF2-40B4-BE49-F238E27FC236}">
                <a16:creationId xmlns:a16="http://schemas.microsoft.com/office/drawing/2014/main" id="{D6BAEED8-B7B9-45FF-BDA6-566EAB188AEC}"/>
              </a:ext>
            </a:extLst>
          </p:cNvPr>
          <p:cNvSpPr txBox="1"/>
          <p:nvPr/>
        </p:nvSpPr>
        <p:spPr>
          <a:xfrm>
            <a:off x="1716552" y="4510402"/>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Escalabilidad</a:t>
            </a:r>
          </a:p>
          <a:p>
            <a:pPr algn="just"/>
            <a:r>
              <a:rPr lang="es-ES" sz="2000" dirty="0">
                <a:latin typeface="Maleo" panose="02000006070000000000" pitchFamily="2" charset="0"/>
                <a:ea typeface="Maleo" panose="02000006070000000000" pitchFamily="2" charset="0"/>
                <a:cs typeface="Maleo" panose="02000006070000000000" pitchFamily="2" charset="0"/>
              </a:rPr>
              <a:t>Innovación contante del producto con el objetivo de ofrecer nuevas capacidades y servicios. Sin perder calidad en el servicios ni en el rendimiento del sistema.</a:t>
            </a:r>
          </a:p>
        </p:txBody>
      </p:sp>
      <p:sp>
        <p:nvSpPr>
          <p:cNvPr id="23" name="CuadroTexto 22">
            <a:extLst>
              <a:ext uri="{FF2B5EF4-FFF2-40B4-BE49-F238E27FC236}">
                <a16:creationId xmlns:a16="http://schemas.microsoft.com/office/drawing/2014/main" id="{0A8A16F0-3BEE-4C72-8162-F69048F3B8BB}"/>
              </a:ext>
            </a:extLst>
          </p:cNvPr>
          <p:cNvSpPr txBox="1"/>
          <p:nvPr/>
        </p:nvSpPr>
        <p:spPr>
          <a:xfrm>
            <a:off x="7213756" y="2576047"/>
            <a:ext cx="4379448" cy="1138773"/>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Personalización</a:t>
            </a:r>
          </a:p>
          <a:p>
            <a:pPr algn="just"/>
            <a:r>
              <a:rPr lang="es-ES" sz="2000" dirty="0">
                <a:latin typeface="Maleo" panose="02000006070000000000" pitchFamily="2" charset="0"/>
                <a:ea typeface="Maleo" panose="02000006070000000000" pitchFamily="2" charset="0"/>
                <a:cs typeface="Maleo" panose="02000006070000000000" pitchFamily="2" charset="0"/>
              </a:rPr>
              <a:t>Adaptar el contenido, recomendaciones y rutas de aprendizaje en base al perfil de cada usuario.</a:t>
            </a:r>
          </a:p>
        </p:txBody>
      </p:sp>
      <p:sp>
        <p:nvSpPr>
          <p:cNvPr id="24" name="CuadroTexto 23">
            <a:extLst>
              <a:ext uri="{FF2B5EF4-FFF2-40B4-BE49-F238E27FC236}">
                <a16:creationId xmlns:a16="http://schemas.microsoft.com/office/drawing/2014/main" id="{1685B384-0821-4ED0-B3D7-B9F784468DEB}"/>
              </a:ext>
            </a:extLst>
          </p:cNvPr>
          <p:cNvSpPr txBox="1"/>
          <p:nvPr/>
        </p:nvSpPr>
        <p:spPr>
          <a:xfrm>
            <a:off x="7213756" y="4471931"/>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Interactividad</a:t>
            </a:r>
          </a:p>
          <a:p>
            <a:pPr algn="just"/>
            <a:r>
              <a:rPr lang="es-ES" sz="2000" dirty="0">
                <a:latin typeface="Maleo" panose="02000006070000000000" pitchFamily="2" charset="0"/>
                <a:ea typeface="Maleo" panose="02000006070000000000" pitchFamily="2" charset="0"/>
                <a:cs typeface="Maleo" panose="02000006070000000000" pitchFamily="2" charset="0"/>
              </a:rPr>
              <a:t>Ofrecimiento de contenidos prácticos, simulaciones y herramientas dinámicas que permitan al usuario comprender sobre finanzas de forma sencilla y aplicada.</a:t>
            </a:r>
          </a:p>
        </p:txBody>
      </p:sp>
    </p:spTree>
    <p:extLst>
      <p:ext uri="{BB962C8B-B14F-4D97-AF65-F5344CB8AC3E}">
        <p14:creationId xmlns:p14="http://schemas.microsoft.com/office/powerpoint/2010/main" val="3734233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Misión</a:t>
            </a:r>
          </a:p>
        </p:txBody>
      </p:sp>
      <p:sp>
        <p:nvSpPr>
          <p:cNvPr id="12" name="CuadroTexto 11">
            <a:extLst>
              <a:ext uri="{FF2B5EF4-FFF2-40B4-BE49-F238E27FC236}">
                <a16:creationId xmlns:a16="http://schemas.microsoft.com/office/drawing/2014/main" id="{F5351F6D-B3EA-4C5E-B4AD-7F74AC5AB695}"/>
              </a:ext>
            </a:extLst>
          </p:cNvPr>
          <p:cNvSpPr txBox="1"/>
          <p:nvPr/>
        </p:nvSpPr>
        <p:spPr>
          <a:xfrm>
            <a:off x="1126435" y="2390314"/>
            <a:ext cx="6440556" cy="2677656"/>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Empoderar a jóvenes, trabajadores informales y nómadas digitales en Bogotá mediante un eco sistema tecnológico de planificación financiera personalizado y accesible. A través de algoritmos de análisis de datos y herramientas interactivas, transformamos conceptos financieros complejos en estrategias prácticas de ahorro, inversión y gestión de seguridad social, promoviendo la resiliencia económica y la bancarización efectiva en un entorno laboral digital y dinámico.</a:t>
            </a:r>
          </a:p>
        </p:txBody>
      </p:sp>
      <p:pic>
        <p:nvPicPr>
          <p:cNvPr id="6" name="Imagen 5">
            <a:extLst>
              <a:ext uri="{FF2B5EF4-FFF2-40B4-BE49-F238E27FC236}">
                <a16:creationId xmlns:a16="http://schemas.microsoft.com/office/drawing/2014/main" id="{9A6EB319-C153-4152-9E45-0A2EC138EF60}"/>
              </a:ext>
            </a:extLst>
          </p:cNvPr>
          <p:cNvPicPr>
            <a:picLocks noChangeAspect="1"/>
          </p:cNvPicPr>
          <p:nvPr/>
        </p:nvPicPr>
        <p:blipFill rotWithShape="1">
          <a:blip r:embed="rId3">
            <a:extLst>
              <a:ext uri="{28A0092B-C50C-407E-A947-70E740481C1C}">
                <a14:useLocalDpi xmlns:a14="http://schemas.microsoft.com/office/drawing/2010/main" val="0"/>
              </a:ext>
            </a:extLst>
          </a:blip>
          <a:srcRect l="5279" t="10482" r="11711" b="8659"/>
          <a:stretch/>
        </p:blipFill>
        <p:spPr>
          <a:xfrm>
            <a:off x="7566991" y="1637270"/>
            <a:ext cx="3763618" cy="3666120"/>
          </a:xfrm>
          <a:prstGeom prst="rect">
            <a:avLst/>
          </a:prstGeom>
        </p:spPr>
      </p:pic>
      <p:sp>
        <p:nvSpPr>
          <p:cNvPr id="7" name="CuadroTexto 6">
            <a:extLst>
              <a:ext uri="{FF2B5EF4-FFF2-40B4-BE49-F238E27FC236}">
                <a16:creationId xmlns:a16="http://schemas.microsoft.com/office/drawing/2014/main" id="{EBF5A8B3-13ED-43A5-8A67-85222394FD90}"/>
              </a:ext>
            </a:extLst>
          </p:cNvPr>
          <p:cNvSpPr txBox="1"/>
          <p:nvPr/>
        </p:nvSpPr>
        <p:spPr>
          <a:xfrm>
            <a:off x="7795044" y="5012107"/>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63683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Visión</a:t>
            </a:r>
          </a:p>
        </p:txBody>
      </p:sp>
      <p:sp>
        <p:nvSpPr>
          <p:cNvPr id="12" name="CuadroTexto 11">
            <a:extLst>
              <a:ext uri="{FF2B5EF4-FFF2-40B4-BE49-F238E27FC236}">
                <a16:creationId xmlns:a16="http://schemas.microsoft.com/office/drawing/2014/main" id="{F5351F6D-B3EA-4C5E-B4AD-7F74AC5AB695}"/>
              </a:ext>
            </a:extLst>
          </p:cNvPr>
          <p:cNvSpPr txBox="1"/>
          <p:nvPr/>
        </p:nvSpPr>
        <p:spPr>
          <a:xfrm>
            <a:off x="1126435" y="2390314"/>
            <a:ext cx="5314122" cy="2677656"/>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Para el año 2030, consolidarnos como la plataforma tecnológica líder en la ciudad de Bogotá para la gestión financiera inteligente de trabajadores independientes, reconocida por nuestra capacidad de integrar la realidad del mercado laboral digital con soluciones de analítica avanzada que garanticen la seguridad socioeconómica de nuestros usuarios.</a:t>
            </a:r>
          </a:p>
        </p:txBody>
      </p:sp>
      <p:sp>
        <p:nvSpPr>
          <p:cNvPr id="7" name="CuadroTexto 6">
            <a:extLst>
              <a:ext uri="{FF2B5EF4-FFF2-40B4-BE49-F238E27FC236}">
                <a16:creationId xmlns:a16="http://schemas.microsoft.com/office/drawing/2014/main" id="{EBF5A8B3-13ED-43A5-8A67-85222394FD90}"/>
              </a:ext>
            </a:extLst>
          </p:cNvPr>
          <p:cNvSpPr txBox="1"/>
          <p:nvPr/>
        </p:nvSpPr>
        <p:spPr>
          <a:xfrm>
            <a:off x="7795044" y="5012107"/>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86AD596D-45DC-4DA5-A2AF-6A84594B7E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10414" y="1335069"/>
            <a:ext cx="3968321" cy="3968321"/>
          </a:xfrm>
          <a:prstGeom prst="rect">
            <a:avLst/>
          </a:prstGeom>
        </p:spPr>
      </p:pic>
    </p:spTree>
    <p:extLst>
      <p:ext uri="{BB962C8B-B14F-4D97-AF65-F5344CB8AC3E}">
        <p14:creationId xmlns:p14="http://schemas.microsoft.com/office/powerpoint/2010/main" val="28208280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803400" y="1555799"/>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Equipo</a:t>
            </a:r>
          </a:p>
        </p:txBody>
      </p:sp>
      <p:pic>
        <p:nvPicPr>
          <p:cNvPr id="6" name="Imagen 5">
            <a:extLst>
              <a:ext uri="{FF2B5EF4-FFF2-40B4-BE49-F238E27FC236}">
                <a16:creationId xmlns:a16="http://schemas.microsoft.com/office/drawing/2014/main" id="{88CEB84E-B5D2-4034-8280-2E23752F7A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05964" y="2394361"/>
            <a:ext cx="2458871" cy="2536056"/>
          </a:xfrm>
          <a:prstGeom prst="rect">
            <a:avLst/>
          </a:prstGeom>
          <a:ln w="38100">
            <a:solidFill>
              <a:srgbClr val="8D2F3C"/>
            </a:solidFill>
          </a:ln>
        </p:spPr>
      </p:pic>
      <p:sp>
        <p:nvSpPr>
          <p:cNvPr id="19" name="CuadroTexto 18">
            <a:extLst>
              <a:ext uri="{FF2B5EF4-FFF2-40B4-BE49-F238E27FC236}">
                <a16:creationId xmlns:a16="http://schemas.microsoft.com/office/drawing/2014/main" id="{E4C97890-18F8-43D7-AA41-94AA66B05265}"/>
              </a:ext>
            </a:extLst>
          </p:cNvPr>
          <p:cNvSpPr txBox="1"/>
          <p:nvPr/>
        </p:nvSpPr>
        <p:spPr>
          <a:xfrm>
            <a:off x="2279176" y="5097259"/>
            <a:ext cx="3084394" cy="1077218"/>
          </a:xfrm>
          <a:prstGeom prst="rect">
            <a:avLst/>
          </a:prstGeom>
          <a:noFill/>
        </p:spPr>
        <p:txBody>
          <a:bodyPr wrap="square" rtlCol="0">
            <a:spAutoFit/>
          </a:bodyPr>
          <a:lstStyle/>
          <a:p>
            <a:pPr algn="ct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David Leonardo Rincón Ovalle</a:t>
            </a:r>
          </a:p>
          <a:p>
            <a:pPr algn="ctr"/>
            <a:r>
              <a:rPr lang="es-ES" sz="2000" dirty="0">
                <a:latin typeface="Maleo" panose="02000006070000000000" pitchFamily="2" charset="0"/>
                <a:ea typeface="Maleo" panose="02000006070000000000" pitchFamily="2" charset="0"/>
                <a:cs typeface="Maleo" panose="02000006070000000000" pitchFamily="2" charset="0"/>
              </a:rPr>
              <a:t>Gerente general</a:t>
            </a:r>
          </a:p>
          <a:p>
            <a:pPr marL="457200" indent="-457200" algn="ctr">
              <a:buAutoNum type="arabicParenR"/>
            </a:pP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89EDACD4-0F80-41A9-BDC4-89D8B3B370E6}"/>
              </a:ext>
            </a:extLst>
          </p:cNvPr>
          <p:cNvSpPr txBox="1"/>
          <p:nvPr/>
        </p:nvSpPr>
        <p:spPr>
          <a:xfrm>
            <a:off x="7017223" y="5100639"/>
            <a:ext cx="3084394" cy="1077218"/>
          </a:xfrm>
          <a:prstGeom prst="rect">
            <a:avLst/>
          </a:prstGeom>
          <a:noFill/>
        </p:spPr>
        <p:txBody>
          <a:bodyPr wrap="square" rtlCol="0">
            <a:spAutoFit/>
          </a:bodyPr>
          <a:lstStyle/>
          <a:p>
            <a:pPr algn="ct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Leidy Marcela Morales Segura</a:t>
            </a:r>
          </a:p>
          <a:p>
            <a:pPr algn="ctr"/>
            <a:r>
              <a:rPr lang="es-ES" sz="2000" dirty="0">
                <a:latin typeface="Maleo" panose="02000006070000000000" pitchFamily="2" charset="0"/>
                <a:ea typeface="Maleo" panose="02000006070000000000" pitchFamily="2" charset="0"/>
                <a:cs typeface="Maleo" panose="02000006070000000000" pitchFamily="2" charset="0"/>
              </a:rPr>
              <a:t>Director del departamento de I+D+I</a:t>
            </a:r>
          </a:p>
          <a:p>
            <a:pPr marL="457200" indent="-457200" algn="ctr">
              <a:buAutoNum type="arabicParenR"/>
            </a:pP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9" name="CuadroTexto 8">
            <a:extLst>
              <a:ext uri="{FF2B5EF4-FFF2-40B4-BE49-F238E27FC236}">
                <a16:creationId xmlns:a16="http://schemas.microsoft.com/office/drawing/2014/main" id="{7C716853-C0F6-4AB1-A08F-4EE7735A54B1}"/>
              </a:ext>
            </a:extLst>
          </p:cNvPr>
          <p:cNvSpPr txBox="1"/>
          <p:nvPr/>
        </p:nvSpPr>
        <p:spPr>
          <a:xfrm>
            <a:off x="7410734" y="3116376"/>
            <a:ext cx="2003241" cy="369332"/>
          </a:xfrm>
          <a:prstGeom prst="rect">
            <a:avLst/>
          </a:prstGeom>
          <a:noFill/>
        </p:spPr>
        <p:txBody>
          <a:bodyPr wrap="none" rtlCol="0">
            <a:spAutoFit/>
          </a:bodyPr>
          <a:lstStyle/>
          <a:p>
            <a:r>
              <a:rPr lang="es-ES" dirty="0"/>
              <a:t>Pon una foto acá </a:t>
            </a:r>
            <a:r>
              <a:rPr lang="es-ES" dirty="0">
                <a:sym typeface="Wingdings" panose="05000000000000000000" pitchFamily="2" charset="2"/>
              </a:rPr>
              <a:t></a:t>
            </a:r>
            <a:endParaRPr lang="es-CO" dirty="0"/>
          </a:p>
        </p:txBody>
      </p:sp>
    </p:spTree>
    <p:extLst>
      <p:ext uri="{BB962C8B-B14F-4D97-AF65-F5344CB8AC3E}">
        <p14:creationId xmlns:p14="http://schemas.microsoft.com/office/powerpoint/2010/main" val="42506641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Estados Financieros</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05</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AAA66D0E-2791-4F43-BF93-957DDB893721}"/>
              </a:ext>
            </a:extLst>
          </p:cNvPr>
          <p:cNvPicPr>
            <a:picLocks noChangeAspect="1"/>
          </p:cNvPicPr>
          <p:nvPr/>
        </p:nvPicPr>
        <p:blipFill rotWithShape="1">
          <a:blip r:embed="rId3">
            <a:extLst>
              <a:ext uri="{28A0092B-C50C-407E-A947-70E740481C1C}">
                <a14:useLocalDpi xmlns:a14="http://schemas.microsoft.com/office/drawing/2010/main" val="0"/>
              </a:ext>
            </a:extLst>
          </a:blip>
          <a:srcRect t="17130" b="20723"/>
          <a:stretch/>
        </p:blipFill>
        <p:spPr>
          <a:xfrm>
            <a:off x="1573561" y="2023894"/>
            <a:ext cx="4814676" cy="2992162"/>
          </a:xfrm>
          <a:prstGeom prst="rect">
            <a:avLst/>
          </a:prstGeom>
        </p:spPr>
      </p:pic>
    </p:spTree>
    <p:extLst>
      <p:ext uri="{BB962C8B-B14F-4D97-AF65-F5344CB8AC3E}">
        <p14:creationId xmlns:p14="http://schemas.microsoft.com/office/powerpoint/2010/main" val="21476020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Constitución de la empresa</a:t>
            </a:r>
          </a:p>
        </p:txBody>
      </p:sp>
      <p:pic>
        <p:nvPicPr>
          <p:cNvPr id="7" name="Imagen 6">
            <a:extLst>
              <a:ext uri="{FF2B5EF4-FFF2-40B4-BE49-F238E27FC236}">
                <a16:creationId xmlns:a16="http://schemas.microsoft.com/office/drawing/2014/main" id="{C5FE88CA-8239-4525-BEF1-986ED5577C38}"/>
              </a:ext>
            </a:extLst>
          </p:cNvPr>
          <p:cNvPicPr>
            <a:picLocks noChangeAspect="1"/>
          </p:cNvPicPr>
          <p:nvPr/>
        </p:nvPicPr>
        <p:blipFill rotWithShape="1">
          <a:blip r:embed="rId3">
            <a:extLst>
              <a:ext uri="{28A0092B-C50C-407E-A947-70E740481C1C}">
                <a14:useLocalDpi xmlns:a14="http://schemas.microsoft.com/office/drawing/2010/main" val="0"/>
              </a:ext>
            </a:extLst>
          </a:blip>
          <a:srcRect l="6045" t="10338" r="9519" b="11206"/>
          <a:stretch/>
        </p:blipFill>
        <p:spPr>
          <a:xfrm>
            <a:off x="801511" y="2221349"/>
            <a:ext cx="4188178" cy="3891573"/>
          </a:xfrm>
          <a:prstGeom prst="rect">
            <a:avLst/>
          </a:prstGeom>
        </p:spPr>
      </p:pic>
      <p:sp>
        <p:nvSpPr>
          <p:cNvPr id="22" name="CuadroTexto 21">
            <a:extLst>
              <a:ext uri="{FF2B5EF4-FFF2-40B4-BE49-F238E27FC236}">
                <a16:creationId xmlns:a16="http://schemas.microsoft.com/office/drawing/2014/main" id="{A5948186-A40D-47FA-BFEA-1D52283511A8}"/>
              </a:ext>
            </a:extLst>
          </p:cNvPr>
          <p:cNvSpPr txBox="1"/>
          <p:nvPr/>
        </p:nvSpPr>
        <p:spPr>
          <a:xfrm>
            <a:off x="1182220" y="590950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a:off x="5020040" y="2123401"/>
            <a:ext cx="28410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Capital Inicial</a:t>
            </a:r>
          </a:p>
        </p:txBody>
      </p:sp>
      <p:sp>
        <p:nvSpPr>
          <p:cNvPr id="25" name="CuadroTexto 24">
            <a:extLst>
              <a:ext uri="{FF2B5EF4-FFF2-40B4-BE49-F238E27FC236}">
                <a16:creationId xmlns:a16="http://schemas.microsoft.com/office/drawing/2014/main" id="{8CA36D2F-B260-4BE7-B80D-86E45FD81CD1}"/>
              </a:ext>
            </a:extLst>
          </p:cNvPr>
          <p:cNvSpPr txBox="1"/>
          <p:nvPr/>
        </p:nvSpPr>
        <p:spPr>
          <a:xfrm>
            <a:off x="5289553" y="2843142"/>
            <a:ext cx="5314122" cy="1938992"/>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Se estima un total de $33’640.000 COP para capital inicial, dividido entre:</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Capital de trabajo.</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Preoperativos.</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Equipos de trabajo.</a:t>
            </a:r>
          </a:p>
        </p:txBody>
      </p:sp>
      <p:sp>
        <p:nvSpPr>
          <p:cNvPr id="26" name="CuadroTexto 25">
            <a:extLst>
              <a:ext uri="{FF2B5EF4-FFF2-40B4-BE49-F238E27FC236}">
                <a16:creationId xmlns:a16="http://schemas.microsoft.com/office/drawing/2014/main" id="{564726A1-9A1E-4BA6-920E-6F5DF0CD4C87}"/>
              </a:ext>
            </a:extLst>
          </p:cNvPr>
          <p:cNvSpPr txBox="1"/>
          <p:nvPr/>
        </p:nvSpPr>
        <p:spPr>
          <a:xfrm>
            <a:off x="5020040" y="4734600"/>
            <a:ext cx="28410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Pasivos</a:t>
            </a:r>
          </a:p>
        </p:txBody>
      </p:sp>
      <p:sp>
        <p:nvSpPr>
          <p:cNvPr id="27" name="CuadroTexto 26">
            <a:extLst>
              <a:ext uri="{FF2B5EF4-FFF2-40B4-BE49-F238E27FC236}">
                <a16:creationId xmlns:a16="http://schemas.microsoft.com/office/drawing/2014/main" id="{337D63BF-C47D-40DE-A87C-221862EC5769}"/>
              </a:ext>
            </a:extLst>
          </p:cNvPr>
          <p:cNvSpPr txBox="1"/>
          <p:nvPr/>
        </p:nvSpPr>
        <p:spPr>
          <a:xfrm>
            <a:off x="5282932" y="5435048"/>
            <a:ext cx="5314122" cy="461665"/>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La empresa tendrá $15’790.950 COP en pasivos.</a:t>
            </a:r>
          </a:p>
        </p:txBody>
      </p:sp>
    </p:spTree>
    <p:extLst>
      <p:ext uri="{BB962C8B-B14F-4D97-AF65-F5344CB8AC3E}">
        <p14:creationId xmlns:p14="http://schemas.microsoft.com/office/powerpoint/2010/main" val="33119184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002964" y="3734204"/>
            <a:ext cx="460282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Proyección de Ventas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C7E70618-AD73-4193-AE29-982C2DB51F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6517" y="2881907"/>
            <a:ext cx="9078592" cy="1514686"/>
          </a:xfrm>
          <a:prstGeom prst="rect">
            <a:avLst/>
          </a:prstGeom>
        </p:spPr>
      </p:pic>
    </p:spTree>
    <p:extLst>
      <p:ext uri="{BB962C8B-B14F-4D97-AF65-F5344CB8AC3E}">
        <p14:creationId xmlns:p14="http://schemas.microsoft.com/office/powerpoint/2010/main" val="15512060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722505" y="3014663"/>
            <a:ext cx="6041910"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Proyección Incremento de Ventas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9" name="Imagen 8">
            <a:extLst>
              <a:ext uri="{FF2B5EF4-FFF2-40B4-BE49-F238E27FC236}">
                <a16:creationId xmlns:a16="http://schemas.microsoft.com/office/drawing/2014/main" id="{56DA8706-CEBB-4B1F-8439-B6BFC1E936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03400" y="2867089"/>
            <a:ext cx="9218231" cy="1423550"/>
          </a:xfrm>
          <a:prstGeom prst="rect">
            <a:avLst/>
          </a:prstGeom>
        </p:spPr>
      </p:pic>
    </p:spTree>
    <p:extLst>
      <p:ext uri="{BB962C8B-B14F-4D97-AF65-F5344CB8AC3E}">
        <p14:creationId xmlns:p14="http://schemas.microsoft.com/office/powerpoint/2010/main" val="35324273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002964" y="3734204"/>
            <a:ext cx="460282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Balance General</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97523D34-38B0-4B3E-82E6-BA2420F5F8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46834" y="1522343"/>
            <a:ext cx="5498332" cy="4584106"/>
          </a:xfrm>
          <a:prstGeom prst="rect">
            <a:avLst/>
          </a:prstGeom>
        </p:spPr>
      </p:pic>
    </p:spTree>
    <p:extLst>
      <p:ext uri="{BB962C8B-B14F-4D97-AF65-F5344CB8AC3E}">
        <p14:creationId xmlns:p14="http://schemas.microsoft.com/office/powerpoint/2010/main" val="41942720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1466741" y="4270426"/>
            <a:ext cx="353038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Estado de Resultados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8C287B1D-CD2D-4D11-A72C-A9E0D7D80E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2260" y="1521679"/>
            <a:ext cx="8727480" cy="4452467"/>
          </a:xfrm>
          <a:prstGeom prst="rect">
            <a:avLst/>
          </a:prstGeom>
        </p:spPr>
      </p:pic>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25919186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1466741" y="4270426"/>
            <a:ext cx="353038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Flujo de Caja</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7" name="Imagen 6">
            <a:extLst>
              <a:ext uri="{FF2B5EF4-FFF2-40B4-BE49-F238E27FC236}">
                <a16:creationId xmlns:a16="http://schemas.microsoft.com/office/drawing/2014/main" id="{EF7D76DA-366E-44CF-B395-FEA7DCB02D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93714" y="1479037"/>
            <a:ext cx="7404572" cy="4549706"/>
          </a:xfrm>
          <a:prstGeom prst="rect">
            <a:avLst/>
          </a:prstGeom>
        </p:spPr>
      </p:pic>
    </p:spTree>
    <p:extLst>
      <p:ext uri="{BB962C8B-B14F-4D97-AF65-F5344CB8AC3E}">
        <p14:creationId xmlns:p14="http://schemas.microsoft.com/office/powerpoint/2010/main" val="36531586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Estimaciones de 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a:extLst>
              <a:ext uri="{FF2B5EF4-FFF2-40B4-BE49-F238E27FC236}">
                <a16:creationId xmlns:a16="http://schemas.microsoft.com/office/drawing/2014/main" id="{71B4E341-A9EA-41A1-A939-2FA0246642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7315" y="2505566"/>
            <a:ext cx="7317370" cy="2474218"/>
          </a:xfrm>
          <a:prstGeom prst="rect">
            <a:avLst/>
          </a:prstGeom>
        </p:spPr>
      </p:pic>
    </p:spTree>
    <p:extLst>
      <p:ext uri="{BB962C8B-B14F-4D97-AF65-F5344CB8AC3E}">
        <p14:creationId xmlns:p14="http://schemas.microsoft.com/office/powerpoint/2010/main" val="17986007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Estimaciones de 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7" name="Imagen 6">
            <a:extLst>
              <a:ext uri="{FF2B5EF4-FFF2-40B4-BE49-F238E27FC236}">
                <a16:creationId xmlns:a16="http://schemas.microsoft.com/office/drawing/2014/main" id="{17431FE3-FED0-444B-AE56-DAC4451553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05103" y="2767726"/>
            <a:ext cx="4439270" cy="1600423"/>
          </a:xfrm>
          <a:prstGeom prst="rect">
            <a:avLst/>
          </a:prstGeom>
        </p:spPr>
      </p:pic>
      <p:pic>
        <p:nvPicPr>
          <p:cNvPr id="12" name="Imagen 11">
            <a:extLst>
              <a:ext uri="{FF2B5EF4-FFF2-40B4-BE49-F238E27FC236}">
                <a16:creationId xmlns:a16="http://schemas.microsoft.com/office/drawing/2014/main" id="{35969F76-CB53-49E9-8FFA-F5671ECF1AF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8335" y="2205684"/>
            <a:ext cx="5926509" cy="2998461"/>
          </a:xfrm>
          <a:prstGeom prst="rect">
            <a:avLst/>
          </a:prstGeom>
        </p:spPr>
      </p:pic>
    </p:spTree>
    <p:extLst>
      <p:ext uri="{BB962C8B-B14F-4D97-AF65-F5344CB8AC3E}">
        <p14:creationId xmlns:p14="http://schemas.microsoft.com/office/powerpoint/2010/main" val="624211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6" name="Imagen 15">
            <a:extLst>
              <a:ext uri="{FF2B5EF4-FFF2-40B4-BE49-F238E27FC236}">
                <a16:creationId xmlns:a16="http://schemas.microsoft.com/office/drawing/2014/main" id="{73B80161-BD80-4909-B986-0429328E33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45992" y="2910996"/>
            <a:ext cx="6900016" cy="1456507"/>
          </a:xfrm>
          <a:prstGeom prst="rect">
            <a:avLst/>
          </a:prstGeom>
        </p:spPr>
      </p:pic>
    </p:spTree>
    <p:extLst>
      <p:ext uri="{BB962C8B-B14F-4D97-AF65-F5344CB8AC3E}">
        <p14:creationId xmlns:p14="http://schemas.microsoft.com/office/powerpoint/2010/main" val="38464324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Constitución de la empresa</a:t>
            </a:r>
          </a:p>
        </p:txBody>
      </p:sp>
      <p:sp>
        <p:nvSpPr>
          <p:cNvPr id="22" name="CuadroTexto 21">
            <a:extLst>
              <a:ext uri="{FF2B5EF4-FFF2-40B4-BE49-F238E27FC236}">
                <a16:creationId xmlns:a16="http://schemas.microsoft.com/office/drawing/2014/main" id="{A5948186-A40D-47FA-BFEA-1D52283511A8}"/>
              </a:ext>
            </a:extLst>
          </p:cNvPr>
          <p:cNvSpPr txBox="1"/>
          <p:nvPr/>
        </p:nvSpPr>
        <p:spPr>
          <a:xfrm>
            <a:off x="1182220" y="590950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a:off x="5020040" y="2123401"/>
            <a:ext cx="434973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Valor actual neto (VAN)</a:t>
            </a:r>
          </a:p>
        </p:txBody>
      </p:sp>
      <p:sp>
        <p:nvSpPr>
          <p:cNvPr id="25" name="CuadroTexto 24">
            <a:extLst>
              <a:ext uri="{FF2B5EF4-FFF2-40B4-BE49-F238E27FC236}">
                <a16:creationId xmlns:a16="http://schemas.microsoft.com/office/drawing/2014/main" id="{8CA36D2F-B260-4BE7-B80D-86E45FD81CD1}"/>
              </a:ext>
            </a:extLst>
          </p:cNvPr>
          <p:cNvSpPr txBox="1"/>
          <p:nvPr/>
        </p:nvSpPr>
        <p:spPr>
          <a:xfrm>
            <a:off x="5289553" y="2843142"/>
            <a:ext cx="5314122" cy="830997"/>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El valor actual neto presentado por el proyecto es de $219’867.225 COP</a:t>
            </a:r>
          </a:p>
        </p:txBody>
      </p:sp>
      <p:sp>
        <p:nvSpPr>
          <p:cNvPr id="26" name="CuadroTexto 25">
            <a:extLst>
              <a:ext uri="{FF2B5EF4-FFF2-40B4-BE49-F238E27FC236}">
                <a16:creationId xmlns:a16="http://schemas.microsoft.com/office/drawing/2014/main" id="{564726A1-9A1E-4BA6-920E-6F5DF0CD4C87}"/>
              </a:ext>
            </a:extLst>
          </p:cNvPr>
          <p:cNvSpPr txBox="1"/>
          <p:nvPr/>
        </p:nvSpPr>
        <p:spPr>
          <a:xfrm>
            <a:off x="5020040" y="3779224"/>
            <a:ext cx="49622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Tasa interna de retorno (TIR)</a:t>
            </a:r>
          </a:p>
        </p:txBody>
      </p:sp>
      <p:sp>
        <p:nvSpPr>
          <p:cNvPr id="27" name="CuadroTexto 26">
            <a:extLst>
              <a:ext uri="{FF2B5EF4-FFF2-40B4-BE49-F238E27FC236}">
                <a16:creationId xmlns:a16="http://schemas.microsoft.com/office/drawing/2014/main" id="{337D63BF-C47D-40DE-A87C-221862EC5769}"/>
              </a:ext>
            </a:extLst>
          </p:cNvPr>
          <p:cNvSpPr txBox="1"/>
          <p:nvPr/>
        </p:nvSpPr>
        <p:spPr>
          <a:xfrm>
            <a:off x="5289553" y="4649668"/>
            <a:ext cx="5314122" cy="461665"/>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La tasa interna es de 94,95% E.A.</a:t>
            </a:r>
          </a:p>
        </p:txBody>
      </p:sp>
      <p:pic>
        <p:nvPicPr>
          <p:cNvPr id="6" name="Imagen 5">
            <a:extLst>
              <a:ext uri="{FF2B5EF4-FFF2-40B4-BE49-F238E27FC236}">
                <a16:creationId xmlns:a16="http://schemas.microsoft.com/office/drawing/2014/main" id="{966FDDD2-CEEF-492B-ABBA-1D1C9B20E8F9}"/>
              </a:ext>
            </a:extLst>
          </p:cNvPr>
          <p:cNvPicPr>
            <a:picLocks noChangeAspect="1"/>
          </p:cNvPicPr>
          <p:nvPr/>
        </p:nvPicPr>
        <p:blipFill rotWithShape="1">
          <a:blip r:embed="rId3">
            <a:extLst>
              <a:ext uri="{28A0092B-C50C-407E-A947-70E740481C1C}">
                <a14:useLocalDpi xmlns:a14="http://schemas.microsoft.com/office/drawing/2010/main" val="0"/>
              </a:ext>
            </a:extLst>
          </a:blip>
          <a:srcRect l="6204" t="8446" r="4072" b="13830"/>
          <a:stretch/>
        </p:blipFill>
        <p:spPr>
          <a:xfrm>
            <a:off x="748034" y="1928903"/>
            <a:ext cx="4272006" cy="3700641"/>
          </a:xfrm>
          <a:prstGeom prst="rect">
            <a:avLst/>
          </a:prstGeom>
        </p:spPr>
      </p:pic>
    </p:spTree>
    <p:extLst>
      <p:ext uri="{BB962C8B-B14F-4D97-AF65-F5344CB8AC3E}">
        <p14:creationId xmlns:p14="http://schemas.microsoft.com/office/powerpoint/2010/main" val="18586976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Análisis Financiero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06</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DE1E7441-71B7-49FA-A4C1-DF8ECC6414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84308" y="1637525"/>
            <a:ext cx="3783330" cy="3783330"/>
          </a:xfrm>
          <a:prstGeom prst="rect">
            <a:avLst/>
          </a:prstGeom>
        </p:spPr>
      </p:pic>
    </p:spTree>
    <p:extLst>
      <p:ext uri="{BB962C8B-B14F-4D97-AF65-F5344CB8AC3E}">
        <p14:creationId xmlns:p14="http://schemas.microsoft.com/office/powerpoint/2010/main" val="2162313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06 ANÁLISIS FINANCIERO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801511" y="1353960"/>
            <a:ext cx="10634133" cy="769441"/>
          </a:xfrm>
          <a:prstGeom prst="rect">
            <a:avLst/>
          </a:prstGeom>
          <a:noFill/>
        </p:spPr>
        <p:txBody>
          <a:bodyPr wrap="square" rtlCol="0">
            <a:spAutoFit/>
          </a:bodyPr>
          <a:lstStyle/>
          <a:p>
            <a:pPr algn="ctr"/>
            <a:r>
              <a:rPr lang="es-ES" sz="4400" spc="-300" dirty="0">
                <a:solidFill>
                  <a:srgbClr val="8D2F3C"/>
                </a:solidFill>
                <a:latin typeface="Iosevka" panose="02000509030000000004" pitchFamily="49" charset="0"/>
                <a:ea typeface="Iosevka" panose="02000509030000000004" pitchFamily="49" charset="0"/>
                <a:cs typeface="Iosevka" panose="02000509030000000004" pitchFamily="49" charset="0"/>
              </a:rPr>
              <a:t>Indicadores Financieros y Endeudamiento</a:t>
            </a:r>
          </a:p>
        </p:txBody>
      </p:sp>
      <p:sp>
        <p:nvSpPr>
          <p:cNvPr id="19" name="CuadroTexto 18">
            <a:extLst>
              <a:ext uri="{FF2B5EF4-FFF2-40B4-BE49-F238E27FC236}">
                <a16:creationId xmlns:a16="http://schemas.microsoft.com/office/drawing/2014/main" id="{5BDBD48B-4E6C-4203-999C-EE4390A79185}"/>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B1B0A3E3-E00A-4130-9E32-659BDBB933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075" y="2989502"/>
            <a:ext cx="8749850" cy="2075285"/>
          </a:xfrm>
          <a:prstGeom prst="rect">
            <a:avLst/>
          </a:prstGeom>
        </p:spPr>
      </p:pic>
    </p:spTree>
    <p:extLst>
      <p:ext uri="{BB962C8B-B14F-4D97-AF65-F5344CB8AC3E}">
        <p14:creationId xmlns:p14="http://schemas.microsoft.com/office/powerpoint/2010/main" val="307088579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151907" y="3605670"/>
            <a:ext cx="4381914"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Conclusiones</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07</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7088EEF8-4BB7-46CC-81B1-DF2C464FCF76}"/>
              </a:ext>
            </a:extLst>
          </p:cNvPr>
          <p:cNvPicPr>
            <a:picLocks noChangeAspect="1"/>
          </p:cNvPicPr>
          <p:nvPr/>
        </p:nvPicPr>
        <p:blipFill rotWithShape="1">
          <a:blip r:embed="rId3">
            <a:extLst>
              <a:ext uri="{28A0092B-C50C-407E-A947-70E740481C1C}">
                <a14:useLocalDpi xmlns:a14="http://schemas.microsoft.com/office/drawing/2010/main" val="0"/>
              </a:ext>
            </a:extLst>
          </a:blip>
          <a:srcRect l="4629" t="10206" r="7696" b="12921"/>
          <a:stretch/>
        </p:blipFill>
        <p:spPr>
          <a:xfrm>
            <a:off x="1550043" y="1298159"/>
            <a:ext cx="4570714" cy="4007556"/>
          </a:xfrm>
          <a:prstGeom prst="rect">
            <a:avLst/>
          </a:prstGeom>
        </p:spPr>
      </p:pic>
    </p:spTree>
    <p:extLst>
      <p:ext uri="{BB962C8B-B14F-4D97-AF65-F5344CB8AC3E}">
        <p14:creationId xmlns:p14="http://schemas.microsoft.com/office/powerpoint/2010/main" val="41172346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07 CONCLUSIONES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Conclusiones</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1631216"/>
          </a:xfrm>
          <a:prstGeom prst="rect">
            <a:avLst/>
          </a:prstGeom>
          <a:noFill/>
        </p:spPr>
        <p:txBody>
          <a:bodyPr wrap="square" rtlCol="0">
            <a:spAutoFit/>
          </a:bodyPr>
          <a:lstStyle/>
          <a:p>
            <a:pPr marL="342900" indent="-342900" algn="just">
              <a:buFont typeface="Wingdings" panose="05000000000000000000" pitchFamily="2" charset="2"/>
              <a:buChar char="ü"/>
            </a:pPr>
            <a:r>
              <a:rPr lang="es-ES" sz="2000" dirty="0">
                <a:latin typeface="Maleo" panose="02000006070000000000" pitchFamily="2" charset="0"/>
                <a:ea typeface="Maleo" panose="02000006070000000000" pitchFamily="2" charset="0"/>
                <a:cs typeface="Maleo" panose="02000006070000000000" pitchFamily="2" charset="0"/>
              </a:rPr>
              <a:t>El plan de negocio de </a:t>
            </a:r>
            <a:r>
              <a:rPr lang="es-ES" sz="2000" dirty="0" err="1">
                <a:latin typeface="Maleo" panose="02000006070000000000" pitchFamily="2" charset="0"/>
                <a:ea typeface="Maleo" panose="02000006070000000000" pitchFamily="2" charset="0"/>
                <a:cs typeface="Maleo" panose="02000006070000000000" pitchFamily="2" charset="0"/>
              </a:rPr>
              <a:t>EduFinanzas</a:t>
            </a:r>
            <a:r>
              <a:rPr lang="es-ES" sz="2000" dirty="0">
                <a:latin typeface="Maleo" panose="02000006070000000000" pitchFamily="2" charset="0"/>
                <a:ea typeface="Maleo" panose="02000006070000000000" pitchFamily="2" charset="0"/>
                <a:cs typeface="Maleo" panose="02000006070000000000" pitchFamily="2" charset="0"/>
              </a:rPr>
              <a:t> presenta una propuesta sólida para una plataforma de </a:t>
            </a:r>
            <a:r>
              <a:rPr lang="es-ES" sz="2000" dirty="0" err="1">
                <a:latin typeface="Maleo" panose="02000006070000000000" pitchFamily="2" charset="0"/>
                <a:ea typeface="Maleo" panose="02000006070000000000" pitchFamily="2" charset="0"/>
                <a:cs typeface="Maleo" panose="02000006070000000000" pitchFamily="2" charset="0"/>
              </a:rPr>
              <a:t>edtech</a:t>
            </a:r>
            <a:r>
              <a:rPr lang="es-ES" sz="2000" dirty="0">
                <a:latin typeface="Maleo" panose="02000006070000000000" pitchFamily="2" charset="0"/>
                <a:ea typeface="Maleo" panose="02000006070000000000" pitchFamily="2" charset="0"/>
                <a:cs typeface="Maleo" panose="02000006070000000000" pitchFamily="2" charset="0"/>
              </a:rPr>
              <a:t> centrada en el aprendizaje financiero, permitiendo que estudiantes, personas de bajos recursos y nómadas digitales puedan aprender de forma intuitiva y personalizada. El análisis realizado permite reconocer sus oportunidades y riesgos, resultando en una </a:t>
            </a:r>
            <a:r>
              <a:rPr lang="es-ES" sz="2000" dirty="0" err="1">
                <a:latin typeface="Maleo" panose="02000006070000000000" pitchFamily="2" charset="0"/>
                <a:ea typeface="Maleo" panose="02000006070000000000" pitchFamily="2" charset="0"/>
                <a:cs typeface="Maleo" panose="02000006070000000000" pitchFamily="2" charset="0"/>
              </a:rPr>
              <a:t>viablidad</a:t>
            </a:r>
            <a:r>
              <a:rPr lang="es-ES" sz="2000" dirty="0">
                <a:latin typeface="Maleo" panose="02000006070000000000" pitchFamily="2" charset="0"/>
                <a:ea typeface="Maleo" panose="02000006070000000000" pitchFamily="2" charset="0"/>
                <a:cs typeface="Maleo" panose="02000006070000000000" pitchFamily="2" charset="0"/>
              </a:rPr>
              <a:t> del modelo dentro del mercado actual.</a:t>
            </a:r>
          </a:p>
        </p:txBody>
      </p:sp>
      <p:sp>
        <p:nvSpPr>
          <p:cNvPr id="19" name="CuadroTexto 18">
            <a:extLst>
              <a:ext uri="{FF2B5EF4-FFF2-40B4-BE49-F238E27FC236}">
                <a16:creationId xmlns:a16="http://schemas.microsoft.com/office/drawing/2014/main" id="{B2AF417D-8444-4CE4-8BCF-ED6A1A1F0B1D}"/>
              </a:ext>
            </a:extLst>
          </p:cNvPr>
          <p:cNvSpPr txBox="1"/>
          <p:nvPr/>
        </p:nvSpPr>
        <p:spPr>
          <a:xfrm>
            <a:off x="7945311" y="542186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F1D469FA-F8B1-48AE-873F-46B87A4715FA}"/>
              </a:ext>
            </a:extLst>
          </p:cNvPr>
          <p:cNvSpPr txBox="1"/>
          <p:nvPr/>
        </p:nvSpPr>
        <p:spPr>
          <a:xfrm>
            <a:off x="1126435" y="4087793"/>
            <a:ext cx="6440556" cy="1631216"/>
          </a:xfrm>
          <a:prstGeom prst="rect">
            <a:avLst/>
          </a:prstGeom>
          <a:noFill/>
        </p:spPr>
        <p:txBody>
          <a:bodyPr wrap="square" rtlCol="0">
            <a:spAutoFit/>
          </a:bodyPr>
          <a:lstStyle/>
          <a:p>
            <a:pPr marL="342900" indent="-342900" algn="just">
              <a:buFont typeface="Wingdings" panose="05000000000000000000" pitchFamily="2" charset="2"/>
              <a:buChar char="ü"/>
            </a:pPr>
            <a:r>
              <a:rPr lang="es-ES" sz="2000" dirty="0" err="1">
                <a:latin typeface="Maleo" panose="02000006070000000000" pitchFamily="2" charset="0"/>
                <a:ea typeface="Maleo" panose="02000006070000000000" pitchFamily="2" charset="0"/>
                <a:cs typeface="Maleo" panose="02000006070000000000" pitchFamily="2" charset="0"/>
              </a:rPr>
              <a:t>EduFinanzas</a:t>
            </a:r>
            <a:r>
              <a:rPr lang="es-ES" sz="2000" dirty="0">
                <a:latin typeface="Maleo" panose="02000006070000000000" pitchFamily="2" charset="0"/>
                <a:ea typeface="Maleo" panose="02000006070000000000" pitchFamily="2" charset="0"/>
                <a:cs typeface="Maleo" panose="02000006070000000000" pitchFamily="2" charset="0"/>
              </a:rPr>
              <a:t> tiene potencial en mejorar la educación financiera dentro de estas comunidades, ofreciendo una plataforma inclusiva para sus usuarios, tanto con o sin suscripción. Permitiendo a la plataforma estar en la ola de la vanguardia de la transformación digital bancaria, permitiendo que la inteligencia de datos se traduzca en un bienestar financiero tangible para la sociedad.</a:t>
            </a:r>
          </a:p>
        </p:txBody>
      </p:sp>
      <p:pic>
        <p:nvPicPr>
          <p:cNvPr id="7" name="Imagen 6">
            <a:extLst>
              <a:ext uri="{FF2B5EF4-FFF2-40B4-BE49-F238E27FC236}">
                <a16:creationId xmlns:a16="http://schemas.microsoft.com/office/drawing/2014/main" id="{6DFD318E-8A5E-422E-AC96-F6824E3E2541}"/>
              </a:ext>
            </a:extLst>
          </p:cNvPr>
          <p:cNvPicPr>
            <a:picLocks noChangeAspect="1"/>
          </p:cNvPicPr>
          <p:nvPr/>
        </p:nvPicPr>
        <p:blipFill rotWithShape="1">
          <a:blip r:embed="rId3">
            <a:extLst>
              <a:ext uri="{28A0092B-C50C-407E-A947-70E740481C1C}">
                <a14:useLocalDpi xmlns:a14="http://schemas.microsoft.com/office/drawing/2010/main" val="0"/>
              </a:ext>
            </a:extLst>
          </a:blip>
          <a:srcRect l="8077" t="6965" r="4958" b="9452"/>
          <a:stretch/>
        </p:blipFill>
        <p:spPr>
          <a:xfrm>
            <a:off x="7944385" y="1856229"/>
            <a:ext cx="3593100" cy="3453322"/>
          </a:xfrm>
          <a:prstGeom prst="rect">
            <a:avLst/>
          </a:prstGeom>
        </p:spPr>
      </p:pic>
    </p:spTree>
    <p:extLst>
      <p:ext uri="{BB962C8B-B14F-4D97-AF65-F5344CB8AC3E}">
        <p14:creationId xmlns:p14="http://schemas.microsoft.com/office/powerpoint/2010/main" val="225888808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08 BIBLIOGRAFÍA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22594"/>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Bibliografía Relevante</a:t>
            </a:r>
          </a:p>
        </p:txBody>
      </p:sp>
      <p:sp>
        <p:nvSpPr>
          <p:cNvPr id="21" name="CuadroTexto 20">
            <a:extLst>
              <a:ext uri="{FF2B5EF4-FFF2-40B4-BE49-F238E27FC236}">
                <a16:creationId xmlns:a16="http://schemas.microsoft.com/office/drawing/2014/main" id="{723EFBE9-7F11-4CAD-A396-36FA08820C4B}"/>
              </a:ext>
            </a:extLst>
          </p:cNvPr>
          <p:cNvSpPr txBox="1"/>
          <p:nvPr/>
        </p:nvSpPr>
        <p:spPr>
          <a:xfrm>
            <a:off x="1098550" y="2037443"/>
            <a:ext cx="10521950" cy="3416320"/>
          </a:xfrm>
          <a:prstGeom prst="rect">
            <a:avLst/>
          </a:prstGeom>
          <a:noFill/>
        </p:spPr>
        <p:txBody>
          <a:bodyPr wrap="square" rtlCol="0">
            <a:spAutoFit/>
          </a:bodyPr>
          <a:lstStyle/>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Castellanos Rodríguez, L. E., Rodríguez-Pinilla, D., López-Rodríguez, A., &amp; Esguerra-Umaña, M. d. P. (2024). Educación financiera y bienestar financiero: Evidencia de Colombia en un entorno de alta inflación. Departamento Nacional de Planeación. https://colaboracion.dnp.gov.co/CDT/PublishingImages/Planeacion-y-desarrollo/2024/Septiembre/PDF/dnp-educacion-financiera.pdf</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Cifuentes, J. T., &amp; Hernández, J. B. (2025). Innovación y desarrollo de las </a:t>
            </a:r>
            <a:r>
              <a:rPr lang="es-ES" dirty="0" err="1">
                <a:latin typeface="Maleo" panose="02000006070000000000" pitchFamily="2" charset="0"/>
                <a:ea typeface="Maleo" panose="02000006070000000000" pitchFamily="2" charset="0"/>
                <a:cs typeface="Maleo" panose="02000006070000000000" pitchFamily="2" charset="0"/>
              </a:rPr>
              <a:t>fintech</a:t>
            </a:r>
            <a:r>
              <a:rPr lang="es-ES" dirty="0">
                <a:latin typeface="Maleo" panose="02000006070000000000" pitchFamily="2" charset="0"/>
                <a:ea typeface="Maleo" panose="02000006070000000000" pitchFamily="2" charset="0"/>
                <a:cs typeface="Maleo" panose="02000006070000000000" pitchFamily="2" charset="0"/>
              </a:rPr>
              <a:t> en Colombia: Un análisis de la literatura. Revista CIES, 16(1), 7-23. https://core.ac.uk/download/pdf/656057983.pdf</a:t>
            </a:r>
          </a:p>
          <a:p>
            <a:pPr marL="285750" indent="-285750">
              <a:buFont typeface="Arial" panose="020B0604020202020204" pitchFamily="34" charset="0"/>
              <a:buChar char="•"/>
            </a:pPr>
            <a:r>
              <a:rPr lang="es-ES" dirty="0" err="1">
                <a:latin typeface="Maleo" panose="02000006070000000000" pitchFamily="2" charset="0"/>
                <a:ea typeface="Maleo" panose="02000006070000000000" pitchFamily="2" charset="0"/>
                <a:cs typeface="Maleo" panose="02000006070000000000" pitchFamily="2" charset="0"/>
              </a:rPr>
              <a:t>ColombiaFintech</a:t>
            </a:r>
            <a:r>
              <a:rPr lang="es-ES" dirty="0">
                <a:latin typeface="Maleo" panose="02000006070000000000" pitchFamily="2" charset="0"/>
                <a:ea typeface="Maleo" panose="02000006070000000000" pitchFamily="2" charset="0"/>
                <a:cs typeface="Maleo" panose="02000006070000000000" pitchFamily="2" charset="0"/>
              </a:rPr>
              <a:t>. (2024). Mapeo nacional de educación económica y financiera 2024. https://colombiafintech.co/2024/11/29/mapeo-nacional-de-educacion-economica-y-financiera-2024/</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Comisión Intersectorial para la Educación Económica y Financiera. (2017). Capacidades financieras en Colombia: Resultados de la encuesta nacional sobre comportamientos, actitudes y conocimientos financieros. Banco de la República. https://www.banrep.gov.co/sites/default/files/ciones/archivos/estrategia_nacional_educacion_economica.pdf</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Departamento Administrativo Nacional de Estadística. (2025c). Ocupación informal. Trimestre móvil septiembre- noviembre 2025. Gobierno de Colombia. https://www.dane.gov.co/files/operaciones/GEIH/bol-GEIHEISS-sep-nov2025.pdf</a:t>
            </a:r>
          </a:p>
        </p:txBody>
      </p:sp>
    </p:spTree>
    <p:extLst>
      <p:ext uri="{BB962C8B-B14F-4D97-AF65-F5344CB8AC3E}">
        <p14:creationId xmlns:p14="http://schemas.microsoft.com/office/powerpoint/2010/main" val="2236621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08 BIBLIOGRAFÍA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22594"/>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Bibliografía Relevante</a:t>
            </a:r>
          </a:p>
        </p:txBody>
      </p:sp>
      <p:sp>
        <p:nvSpPr>
          <p:cNvPr id="21" name="CuadroTexto 20">
            <a:extLst>
              <a:ext uri="{FF2B5EF4-FFF2-40B4-BE49-F238E27FC236}">
                <a16:creationId xmlns:a16="http://schemas.microsoft.com/office/drawing/2014/main" id="{723EFBE9-7F11-4CAD-A396-36FA08820C4B}"/>
              </a:ext>
            </a:extLst>
          </p:cNvPr>
          <p:cNvSpPr txBox="1"/>
          <p:nvPr/>
        </p:nvSpPr>
        <p:spPr>
          <a:xfrm>
            <a:off x="1098550" y="2037443"/>
            <a:ext cx="10521950" cy="2308324"/>
          </a:xfrm>
          <a:prstGeom prst="rect">
            <a:avLst/>
          </a:prstGeom>
          <a:noFill/>
        </p:spPr>
        <p:txBody>
          <a:bodyPr wrap="square" rtlCol="0">
            <a:spAutoFit/>
          </a:bodyPr>
          <a:lstStyle/>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Dirección de Impuestos y Aduanas Nacionales. (2021). Resolución 70 de 2021. https://normograma.dian.gov.co/dian/compilacion/docs/resolución_dian_0070_2021.htm/</a:t>
            </a:r>
          </a:p>
          <a:p>
            <a:pPr marL="285750" indent="-285750">
              <a:buFont typeface="Arial" panose="020B0604020202020204" pitchFamily="34" charset="0"/>
              <a:buChar char="•"/>
            </a:pPr>
            <a:r>
              <a:rPr lang="en-US" dirty="0">
                <a:latin typeface="Maleo" panose="02000006070000000000" pitchFamily="2" charset="0"/>
                <a:ea typeface="Maleo" panose="02000006070000000000" pitchFamily="2" charset="0"/>
                <a:cs typeface="Maleo" panose="02000006070000000000" pitchFamily="2" charset="0"/>
              </a:rPr>
              <a:t>Fernández, J. (2026). Financial literacy: What it is, and why it is so important to teach teens. https://www.investopedia.com/terms/f/financial-literacy.asp</a:t>
            </a:r>
          </a:p>
          <a:p>
            <a:pPr marL="285750" indent="-285750">
              <a:buFont typeface="Arial" panose="020B0604020202020204" pitchFamily="34" charset="0"/>
              <a:buChar char="•"/>
            </a:pPr>
            <a:r>
              <a:rPr lang="it-IT" dirty="0">
                <a:latin typeface="Maleo" panose="02000006070000000000" pitchFamily="2" charset="0"/>
                <a:ea typeface="Maleo" panose="02000006070000000000" pitchFamily="2" charset="0"/>
                <a:cs typeface="Maleo" panose="02000006070000000000" pitchFamily="2" charset="0"/>
              </a:rPr>
              <a:t>Finnovista. (2024). Fintech radar Colombia: VII edición. Finnosummit. https://www.finnovista.com/wp-content/uploads/2024/05/RADAR-COLOMBIA-ESPANOL-3.pdf</a:t>
            </a:r>
          </a:p>
          <a:p>
            <a:pPr marL="285750" indent="-285750">
              <a:buFont typeface="Arial" panose="020B0604020202020204" pitchFamily="34" charset="0"/>
              <a:buChar char="•"/>
            </a:pPr>
            <a:r>
              <a:rPr lang="en-US" dirty="0">
                <a:latin typeface="Maleo" panose="02000006070000000000" pitchFamily="2" charset="0"/>
                <a:ea typeface="Maleo" panose="02000006070000000000" pitchFamily="2" charset="0"/>
                <a:cs typeface="Maleo" panose="02000006070000000000" pitchFamily="2" charset="0"/>
              </a:rPr>
              <a:t>Lusardi, A., &amp; Mitchell, O. S. (2014). The economic importance of financial literacy: Theory and evidence. Journal of Economic Literature, 52(1), 5-44. https://doi.org/10.1257/jel.52.1.5</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Secretaría del Senado. (2008). Ley 1258 de 2008. http://www.secretariasenado.gov.co/senado/basedoc/ley12582008.html</a:t>
            </a:r>
          </a:p>
        </p:txBody>
      </p:sp>
    </p:spTree>
    <p:extLst>
      <p:ext uri="{BB962C8B-B14F-4D97-AF65-F5344CB8AC3E}">
        <p14:creationId xmlns:p14="http://schemas.microsoft.com/office/powerpoint/2010/main" val="37702376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09 AGRADECIMIENTOS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Agradecimientos</a:t>
            </a:r>
          </a:p>
        </p:txBody>
      </p:sp>
      <p:sp>
        <p:nvSpPr>
          <p:cNvPr id="12" name="CuadroTexto 11">
            <a:extLst>
              <a:ext uri="{FF2B5EF4-FFF2-40B4-BE49-F238E27FC236}">
                <a16:creationId xmlns:a16="http://schemas.microsoft.com/office/drawing/2014/main" id="{ACE29CE4-C7E6-4BE5-A380-EFB3E4FA51FE}"/>
              </a:ext>
            </a:extLst>
          </p:cNvPr>
          <p:cNvSpPr txBox="1"/>
          <p:nvPr/>
        </p:nvSpPr>
        <p:spPr>
          <a:xfrm>
            <a:off x="1126435" y="2390314"/>
            <a:ext cx="10417938" cy="2400657"/>
          </a:xfrm>
          <a:prstGeom prst="rect">
            <a:avLst/>
          </a:prstGeom>
          <a:noFill/>
        </p:spPr>
        <p:txBody>
          <a:bodyPr wrap="square" rtlCol="0">
            <a:spAutoFit/>
          </a:bodyPr>
          <a:lstStyle/>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Grupo de Emprendimiento</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Ing. Abel Antonio Navarrete</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Ing. José David Álvarez Plata</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Docentes y compañeros que nos acompañaron durante el proceso de formación</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(no se, </a:t>
            </a:r>
            <a:r>
              <a:rPr lang="es-ES" sz="3000" dirty="0" err="1">
                <a:latin typeface="Maleo" panose="02000006070000000000" pitchFamily="2" charset="0"/>
                <a:ea typeface="Maleo" panose="02000006070000000000" pitchFamily="2" charset="0"/>
                <a:cs typeface="Maleo" panose="02000006070000000000" pitchFamily="2" charset="0"/>
              </a:rPr>
              <a:t>pu</a:t>
            </a:r>
            <a:r>
              <a:rPr lang="es-ES" sz="3000" dirty="0">
                <a:latin typeface="Maleo" panose="02000006070000000000" pitchFamily="2" charset="0"/>
                <a:ea typeface="Maleo" panose="02000006070000000000" pitchFamily="2" charset="0"/>
                <a:cs typeface="Maleo" panose="02000006070000000000" pitchFamily="2" charset="0"/>
              </a:rPr>
              <a:t>)</a:t>
            </a:r>
          </a:p>
        </p:txBody>
      </p:sp>
    </p:spTree>
    <p:extLst>
      <p:ext uri="{BB962C8B-B14F-4D97-AF65-F5344CB8AC3E}">
        <p14:creationId xmlns:p14="http://schemas.microsoft.com/office/powerpoint/2010/main" val="22698879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1862048"/>
          </a:xfrm>
          <a:prstGeom prst="rect">
            <a:avLst/>
          </a:prstGeom>
          <a:noFill/>
        </p:spPr>
        <p:txBody>
          <a:bodyPr wrap="square" rtlCol="0">
            <a:spAutoFit/>
          </a:bodyPr>
          <a:lstStyle/>
          <a:p>
            <a:pPr algn="ctr"/>
            <a:r>
              <a:rPr lang="es-ES" sz="11500" dirty="0">
                <a:solidFill>
                  <a:srgbClr val="8D2F3C"/>
                </a:solidFill>
                <a:latin typeface="Maleo" panose="02000006070000000000" pitchFamily="2" charset="0"/>
                <a:ea typeface="Maleo" panose="02000006070000000000" pitchFamily="2" charset="0"/>
                <a:cs typeface="Maleo" panose="02000006070000000000" pitchFamily="2" charset="0"/>
              </a:rPr>
              <a:t>Gracias</a:t>
            </a:r>
          </a:p>
        </p:txBody>
      </p:sp>
      <p:sp>
        <p:nvSpPr>
          <p:cNvPr id="16" name="CuadroTexto 15">
            <a:extLst>
              <a:ext uri="{FF2B5EF4-FFF2-40B4-BE49-F238E27FC236}">
                <a16:creationId xmlns:a16="http://schemas.microsoft.com/office/drawing/2014/main" id="{EE7E930A-BCAD-4838-8402-69EF8BA7D468}"/>
              </a:ext>
            </a:extLst>
          </p:cNvPr>
          <p:cNvSpPr txBox="1"/>
          <p:nvPr/>
        </p:nvSpPr>
        <p:spPr>
          <a:xfrm>
            <a:off x="5293966" y="3453212"/>
            <a:ext cx="2032159" cy="369332"/>
          </a:xfrm>
          <a:prstGeom prst="rect">
            <a:avLst/>
          </a:prstGeom>
          <a:noFill/>
        </p:spPr>
        <p:txBody>
          <a:bodyPr wrap="none" rtlCol="0">
            <a:spAutoFit/>
          </a:bodyPr>
          <a:lstStyle/>
          <a:p>
            <a:r>
              <a:rPr lang="es-ES" dirty="0"/>
              <a:t>Cita de autor va acá</a:t>
            </a:r>
            <a:endParaRPr lang="es-CO" dirty="0"/>
          </a:p>
        </p:txBody>
      </p:sp>
    </p:spTree>
    <p:extLst>
      <p:ext uri="{BB962C8B-B14F-4D97-AF65-F5344CB8AC3E}">
        <p14:creationId xmlns:p14="http://schemas.microsoft.com/office/powerpoint/2010/main" val="52030153"/>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261</TotalTime>
  <Words>2543</Words>
  <Application>Microsoft Office PowerPoint</Application>
  <PresentationFormat>Panorámica</PresentationFormat>
  <Paragraphs>435</Paragraphs>
  <Slides>40</Slides>
  <Notes>0</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40</vt:i4>
      </vt:variant>
    </vt:vector>
  </HeadingPairs>
  <TitlesOfParts>
    <vt:vector size="50" baseType="lpstr">
      <vt:lpstr>Arial</vt:lpstr>
      <vt:lpstr>BalboaW01-Bold</vt:lpstr>
      <vt:lpstr>Calibri</vt:lpstr>
      <vt:lpstr>Calibri Light</vt:lpstr>
      <vt:lpstr>Impact</vt:lpstr>
      <vt:lpstr>Iosevka</vt:lpstr>
      <vt:lpstr>Maleo</vt:lpstr>
      <vt:lpstr>Maleo Trials</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David Leonardo Rincon Ovalle</dc:creator>
  <cp:lastModifiedBy>David Leonardo Rincon Ovalle</cp:lastModifiedBy>
  <cp:revision>31</cp:revision>
  <dcterms:created xsi:type="dcterms:W3CDTF">2026-07-06T18:52:48Z</dcterms:created>
  <dcterms:modified xsi:type="dcterms:W3CDTF">2026-07-08T17:31:20Z</dcterms:modified>
</cp:coreProperties>
</file>