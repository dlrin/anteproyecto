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8" r:id="rId16"/>
    <p:sldId id="272" r:id="rId17"/>
    <p:sldId id="270" r:id="rId18"/>
    <p:sldId id="273" r:id="rId19"/>
    <p:sldId id="274" r:id="rId20"/>
    <p:sldId id="275" r:id="rId21"/>
    <p:sldId id="297" r:id="rId22"/>
    <p:sldId id="276" r:id="rId23"/>
    <p:sldId id="277" r:id="rId24"/>
    <p:sldId id="279" r:id="rId25"/>
    <p:sldId id="289" r:id="rId26"/>
    <p:sldId id="298" r:id="rId27"/>
    <p:sldId id="280" r:id="rId28"/>
    <p:sldId id="282" r:id="rId29"/>
    <p:sldId id="283" r:id="rId30"/>
    <p:sldId id="284" r:id="rId31"/>
    <p:sldId id="300" r:id="rId32"/>
    <p:sldId id="286" r:id="rId33"/>
    <p:sldId id="285" r:id="rId34"/>
    <p:sldId id="287" r:id="rId35"/>
    <p:sldId id="288" r:id="rId36"/>
    <p:sldId id="290" r:id="rId37"/>
    <p:sldId id="291" r:id="rId38"/>
    <p:sldId id="292" r:id="rId39"/>
    <p:sldId id="293" r:id="rId40"/>
    <p:sldId id="296" r:id="rId41"/>
    <p:sldId id="294" r:id="rId42"/>
    <p:sldId id="295" r:id="rId4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72" d="100"/>
          <a:sy n="72" d="100"/>
        </p:scale>
        <p:origin x="13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18/07/2026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diferentes usuarios a mejorar sus hábitos económicos mediante orientación personalizada, accesible y confiable, mientras mantiene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332398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una arquitectura de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
        <p:nvSpPr>
          <p:cNvPr id="2" name="CuadroTexto 1">
            <a:extLst>
              <a:ext uri="{FF2B5EF4-FFF2-40B4-BE49-F238E27FC236}">
                <a16:creationId xmlns:a16="http://schemas.microsoft.com/office/drawing/2014/main" id="{99EA20AF-46F8-4D17-B681-32DF8C918F17}"/>
              </a:ext>
            </a:extLst>
          </p:cNvPr>
          <p:cNvSpPr txBox="1"/>
          <p:nvPr/>
        </p:nvSpPr>
        <p:spPr>
          <a:xfrm>
            <a:off x="1603513" y="2928730"/>
            <a:ext cx="8142357" cy="369332"/>
          </a:xfrm>
          <a:prstGeom prst="rect">
            <a:avLst/>
          </a:prstGeom>
          <a:noFill/>
        </p:spPr>
        <p:txBody>
          <a:bodyPr wrap="none" rtlCol="0">
            <a:spAutoFit/>
          </a:bodyPr>
          <a:lstStyle/>
          <a:p>
            <a:r>
              <a:rPr lang="es-ES" dirty="0"/>
              <a:t>Video de </a:t>
            </a:r>
            <a:r>
              <a:rPr lang="es-ES" dirty="0" err="1"/>
              <a:t>youtube</a:t>
            </a:r>
            <a:r>
              <a:rPr lang="es-ES" dirty="0"/>
              <a:t> va aca </a:t>
            </a:r>
            <a:r>
              <a:rPr lang="es-ES" dirty="0" err="1"/>
              <a:t>monstrando</a:t>
            </a:r>
            <a:r>
              <a:rPr lang="es-ES" dirty="0"/>
              <a:t> el prototipo o imágenes o presentación en vivo</a:t>
            </a:r>
            <a:endParaRPr lang="es-CO" dirty="0"/>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3084" y="2458702"/>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pic>
        <p:nvPicPr>
          <p:cNvPr id="7" name="Imagen 6">
            <a:extLst>
              <a:ext uri="{FF2B5EF4-FFF2-40B4-BE49-F238E27FC236}">
                <a16:creationId xmlns:a16="http://schemas.microsoft.com/office/drawing/2014/main" id="{F8E2AC79-B3F8-4A77-8271-3ECA6BCE5C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0402" y="1879557"/>
            <a:ext cx="5558514" cy="3943301"/>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95891"/>
            <a:ext cx="6440556" cy="3477875"/>
          </a:xfrm>
          <a:prstGeom prst="rect">
            <a:avLst/>
          </a:prstGeom>
          <a:noFill/>
        </p:spPr>
        <p:txBody>
          <a:bodyPr wrap="square" rtlCol="0">
            <a:spAutoFit/>
          </a:bodyPr>
          <a:lstStyle/>
          <a:p>
            <a:pPr marL="457200" indent="-457200" algn="just">
              <a:buAutoNum type="arabicParenR"/>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Los usuarios pueden escoger una gama amplia de opciones.</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se concentra en opciones personalizadas, además de atraer público mediante su modelo </a:t>
            </a:r>
            <a:r>
              <a:rPr lang="es-ES" sz="2000" dirty="0" err="1">
                <a:latin typeface="Maleo" panose="02000006070000000000" pitchFamily="2" charset="0"/>
                <a:ea typeface="Maleo" panose="02000006070000000000" pitchFamily="2" charset="0"/>
                <a:cs typeface="Maleo" panose="02000006070000000000" pitchFamily="2" charset="0"/>
              </a:rPr>
              <a:t>freemium</a:t>
            </a:r>
            <a:r>
              <a:rPr lang="es-ES" sz="2000" dirty="0">
                <a:latin typeface="Maleo" panose="02000006070000000000" pitchFamily="2" charset="0"/>
                <a:ea typeface="Maleo" panose="02000006070000000000" pitchFamily="2" charset="0"/>
                <a:cs typeface="Maleo" panose="02000006070000000000" pitchFamily="2" charset="0"/>
              </a:rPr>
              <a:t>.</a:t>
            </a:r>
          </a:p>
          <a:p>
            <a:pPr marL="457200" indent="-457200" algn="just">
              <a:buFont typeface="+mj-lt"/>
              <a:buAutoNum type="arabicParenR" startAt="2"/>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promover la plataforma mediante plataformas como Google </a:t>
            </a:r>
            <a:r>
              <a:rPr lang="es-ES" sz="2000" dirty="0" err="1">
                <a:latin typeface="Maleo" panose="02000006070000000000" pitchFamily="2" charset="0"/>
                <a:ea typeface="Maleo" panose="02000006070000000000" pitchFamily="2" charset="0"/>
                <a:cs typeface="Maleo" panose="02000006070000000000" pitchFamily="2" charset="0"/>
              </a:rPr>
              <a:t>Ads</a:t>
            </a:r>
            <a:r>
              <a:rPr lang="es-ES" sz="2000" dirty="0">
                <a:latin typeface="Maleo" panose="02000006070000000000" pitchFamily="2" charset="0"/>
                <a:ea typeface="Maleo" panose="02000006070000000000" pitchFamily="2" charset="0"/>
                <a:cs typeface="Maleo" panose="02000006070000000000" pitchFamily="2" charset="0"/>
              </a:rPr>
              <a:t>.</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Junto a ello, se busca desarrollar alianzas con universidades y con sectores públicos.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3"/>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Crear una app similar o con alternativas es posible.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mitigar buscando crear confianza, una reputación estable, y cumpliendo las normativas vigentes.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74485"/>
            <a:ext cx="6440556" cy="3170099"/>
          </a:xfrm>
          <a:prstGeom prst="rect">
            <a:avLst/>
          </a:prstGeom>
          <a:noFill/>
        </p:spPr>
        <p:txBody>
          <a:bodyPr wrap="square" rtlCol="0">
            <a:spAutoFit/>
          </a:bodyPr>
          <a:lstStyle/>
          <a:p>
            <a:pPr marL="457200" indent="-457200" algn="just">
              <a:buFont typeface="+mj-lt"/>
              <a:buAutoNum type="arabicParenR" startAt="4"/>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Amenaza de contenido gratuito por </a:t>
            </a:r>
            <a:r>
              <a:rPr lang="es-ES" sz="2000" dirty="0" err="1">
                <a:latin typeface="Maleo" panose="02000006070000000000" pitchFamily="2" charset="0"/>
                <a:ea typeface="Maleo" panose="02000006070000000000" pitchFamily="2" charset="0"/>
                <a:cs typeface="Maleo" panose="02000006070000000000" pitchFamily="2" charset="0"/>
              </a:rPr>
              <a:t>finfluencers</a:t>
            </a:r>
            <a:r>
              <a:rPr lang="es-ES" sz="2000" dirty="0">
                <a:latin typeface="Maleo" panose="02000006070000000000" pitchFamily="2" charset="0"/>
                <a:ea typeface="Maleo" panose="02000006070000000000" pitchFamily="2" charset="0"/>
                <a:cs typeface="Maleo" panose="02000006070000000000" pitchFamily="2" charset="0"/>
              </a:rPr>
              <a:t> y modelos básicos de aprendizaje.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autoridad técnica, adaptabilidad pedagógica y veracidad.</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5"/>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Existen opciones parecidas por la banca tradicional, dadas por plataformas existentes como </a:t>
            </a:r>
            <a:r>
              <a:rPr lang="es-ES" sz="2000" dirty="0" err="1">
                <a:latin typeface="Maleo" panose="02000006070000000000" pitchFamily="2" charset="0"/>
                <a:ea typeface="Maleo" panose="02000006070000000000" pitchFamily="2" charset="0"/>
                <a:cs typeface="Maleo" panose="02000006070000000000" pitchFamily="2" charset="0"/>
              </a:rPr>
              <a:t>Nequi</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Fintonic</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Bconomy</a:t>
            </a:r>
            <a:r>
              <a:rPr lang="es-ES" sz="2000" dirty="0">
                <a:latin typeface="Maleo" panose="02000006070000000000" pitchFamily="2" charset="0"/>
                <a:ea typeface="Maleo" panose="02000006070000000000" pitchFamily="2" charset="0"/>
                <a:cs typeface="Maleo" panose="02000006070000000000" pitchFamily="2" charset="0"/>
              </a:rPr>
              <a:t>, etc.</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enfoque exclusivo al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en vez de gestionar transacciones y de monitoreo.</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9" name="CuadroTexto 18">
            <a:extLst>
              <a:ext uri="{FF2B5EF4-FFF2-40B4-BE49-F238E27FC236}">
                <a16:creationId xmlns:a16="http://schemas.microsoft.com/office/drawing/2014/main" id="{54DA38AB-1911-4C15-B547-C1D7C1D4137B}"/>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4826881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1312" y="1818597"/>
            <a:ext cx="6052931" cy="425047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transformamos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presenta una propuesta sólida para una plataforma de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el aprendizaje financiero, permitiendo que estudiantes, personas de bajos recursos y nómadas digitales puedan aprender de forma intuitiva y personalizada. El análisis realizado permite reconocer sus oportunidades y riesgos, resultando en una </a:t>
            </a:r>
            <a:r>
              <a:rPr lang="es-ES" sz="2000" dirty="0" err="1">
                <a:latin typeface="Maleo" panose="02000006070000000000" pitchFamily="2" charset="0"/>
                <a:ea typeface="Maleo" panose="02000006070000000000" pitchFamily="2" charset="0"/>
                <a:cs typeface="Maleo" panose="02000006070000000000" pitchFamily="2" charset="0"/>
              </a:rPr>
              <a:t>viablidad</a:t>
            </a:r>
            <a:r>
              <a:rPr lang="es-ES" sz="2000" dirty="0">
                <a:latin typeface="Maleo" panose="02000006070000000000" pitchFamily="2" charset="0"/>
                <a:ea typeface="Maleo" panose="02000006070000000000" pitchFamily="2" charset="0"/>
                <a:cs typeface="Maleo" panose="02000006070000000000" pitchFamily="2" charset="0"/>
              </a:rPr>
              <a:t> del modelo dentro del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en mejorar la educación financiera dentro de estas comunidades, ofreciendo una plataforma inclusiva para sus usuarios, tanto con o sin suscripción. Permitiendo a la plataforma estar en la ola de la vanguardia de la transformación digital bancaria, permitiendo que la inteligencia de datos se traduzca en un bienestar financiero tangible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718</TotalTime>
  <Words>2658</Words>
  <Application>Microsoft Office PowerPoint</Application>
  <PresentationFormat>Panorámica</PresentationFormat>
  <Paragraphs>454</Paragraphs>
  <Slides>42</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42</vt:i4>
      </vt:variant>
    </vt:vector>
  </HeadingPairs>
  <TitlesOfParts>
    <vt:vector size="52"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46</cp:revision>
  <dcterms:created xsi:type="dcterms:W3CDTF">2026-07-06T18:52:48Z</dcterms:created>
  <dcterms:modified xsi:type="dcterms:W3CDTF">2026-07-18T16:58:26Z</dcterms:modified>
</cp:coreProperties>
</file>